
<file path=[Content_Types].xml><?xml version="1.0" encoding="utf-8"?>
<Types xmlns="http://schemas.openxmlformats.org/package/2006/content-types">
  <Default Extension="jpg" ContentType="image/jpeg"/>
  <Default Extension="bin" ContentType="application/vnd.openxmlformats-officedocument.oleObject"/>
  <Default Extension="jpeg" ContentType="image/jpeg"/>
  <Default Extension="rels" ContentType="application/vnd.openxmlformats-package.relationships+xml"/>
  <Default Extension="xml" ContentType="application/xml"/>
  <Default Extension="png" ContentType="image/png"/>
  <Default Extension="wmf" ContentType="image/x-wmf"/>
  <Override PartName="/ppt/presentation.xml" ContentType="application/vnd.openxmlformats-officedocument.presentationml.presentation.main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ppt/notesSlides/notesSlide15.xml" ContentType="application/vnd.openxmlformats-officedocument.presentationml.notesSlide+xml"/>
  <Override PartName="/ppt/slides/slide15.xml" ContentType="application/vnd.openxmlformats-officedocument.presentationml.slide+xml"/>
  <Override PartName="/docProps/app.xml" ContentType="application/vnd.openxmlformats-officedocument.extended-properties+xml"/>
  <Override PartName="/ppt/viewProps.xml" ContentType="application/vnd.openxmlformats-officedocument.presentationml.viewProps+xml"/>
  <Override PartName="/docProps/custom.xml" ContentType="application/vnd.openxmlformats-officedocument.custom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theme/theme2.xml" ContentType="application/vnd.openxmlformats-officedocument.theme+xml"/>
  <Override PartName="/ppt/notesSlides/notesSlide23.xml" ContentType="application/vnd.openxmlformats-officedocument.presentationml.notes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notesSlides/notesSlide18.xml" ContentType="application/vnd.openxmlformats-officedocument.presentationml.notesSlide+xml"/>
  <Override PartName="/ppt/notesSlides/notesSlide1.xml" ContentType="application/vnd.openxmlformats-officedocument.presentationml.notesSlide+xml"/>
  <Override PartName="/ppt/slides/slide18.xml" ContentType="application/vnd.openxmlformats-officedocument.presentationml.slide+xml"/>
  <Override PartName="/ppt/slides/slide1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11.xml" ContentType="application/vnd.openxmlformats-officedocument.presentationml.notesSlide+xml"/>
  <Override PartName="/ppt/notesSlides/notesSlide8.xml" ContentType="application/vnd.openxmlformats-officedocument.presentationml.notes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notesSlides/notesSlide10.xml" ContentType="application/vnd.openxmlformats-officedocument.presentationml.notes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slides/slide9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2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autoCompressPictures="0" saveSubsetFonts="1">
  <p:sldMasterIdLst>
    <p:sldMasterId id="2147483648" r:id="rId1"/>
  </p:sldMasterIdLst>
  <p:notesMasterIdLst>
    <p:notesMasterId r:id="rId3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77" r:id="rId25"/>
    <p:sldId id="278" r:id="rId26"/>
    <p:sldId id="279" r:id="rId27"/>
    <p:sldId id="280" r:id="rId28"/>
    <p:sldId id="281" r:id="rId29"/>
    <p:sldId id="282" r:id="rId30"/>
    <p:sldId id="283" r:id="rId31"/>
    <p:sldId id="284" r:id="rId32"/>
  </p:sldIdLst>
  <p:sldSz cx="9144000" cy="5143500"/>
  <p:notesSz cx="5143500" cy="9144000"/>
  <p:defaultTextStyle>
    <a:lvl1pPr marL="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>
        <p:guide pos="2880"/>
        <p:guide pos="1620" orient="horz"/>
      </p:guideLst>
    </p:cSldViewPr>
  </p:slideViewPr>
  <p:gridSpacing cx="76200" cy="76200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theme" Target="theme/theme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slide" Target="slides/slide16.xml"/><Relationship Id="rId20" Type="http://schemas.openxmlformats.org/officeDocument/2006/relationships/slide" Target="slides/slide17.xml"/><Relationship Id="rId21" Type="http://schemas.openxmlformats.org/officeDocument/2006/relationships/slide" Target="slides/slide18.xml"/><Relationship Id="rId22" Type="http://schemas.openxmlformats.org/officeDocument/2006/relationships/slide" Target="slides/slide19.xml"/><Relationship Id="rId23" Type="http://schemas.openxmlformats.org/officeDocument/2006/relationships/slide" Target="slides/slide20.xml"/><Relationship Id="rId24" Type="http://schemas.openxmlformats.org/officeDocument/2006/relationships/slide" Target="slides/slide21.xml"/><Relationship Id="rId25" Type="http://schemas.openxmlformats.org/officeDocument/2006/relationships/slide" Target="slides/slide22.xml"/><Relationship Id="rId26" Type="http://schemas.openxmlformats.org/officeDocument/2006/relationships/slide" Target="slides/slide23.xml"/><Relationship Id="rId27" Type="http://schemas.openxmlformats.org/officeDocument/2006/relationships/slide" Target="slides/slide24.xml"/><Relationship Id="rId28" Type="http://schemas.openxmlformats.org/officeDocument/2006/relationships/slide" Target="slides/slide25.xml"/><Relationship Id="rId29" Type="http://schemas.openxmlformats.org/officeDocument/2006/relationships/slide" Target="slides/slide26.xml"/><Relationship Id="rId30" Type="http://schemas.openxmlformats.org/officeDocument/2006/relationships/slide" Target="slides/slide27.xml"/><Relationship Id="rId31" Type="http://schemas.openxmlformats.org/officeDocument/2006/relationships/slide" Target="slides/slide28.xml"/><Relationship Id="rId32" Type="http://schemas.openxmlformats.org/officeDocument/2006/relationships/slide" Target="slides/slide29.xml"/><Relationship Id="rId33" Type="http://schemas.openxmlformats.org/officeDocument/2006/relationships/notesMaster" Target="notesMasters/notesMaster1.xml"/><Relationship Id="rId34" Type="http://schemas.openxmlformats.org/officeDocument/2006/relationships/presProps" Target="presProps.xml" /><Relationship Id="rId35" Type="http://schemas.openxmlformats.org/officeDocument/2006/relationships/tableStyles" Target="tableStyles.xml" /><Relationship Id="rId36" Type="http://schemas.openxmlformats.org/officeDocument/2006/relationships/viewProps" Target="viewProps.xml" 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74035560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509616493" name="Date Placeholder 2"/>
          <p:cNvSpPr>
            <a:spLocks noGrp="1"/>
          </p:cNvSpPr>
          <p:nvPr>
            <p:ph type="dt" idx="1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2058036539" name="Slide Image Placeholder 3"/>
          <p:cNvSpPr>
            <a:spLocks noChangeAspect="1" noGrp="1" noRot="1"/>
          </p:cNvSpPr>
          <p:nvPr>
            <p:ph type="sldImg" idx="2"/>
          </p:nvPr>
        </p:nvSpPr>
        <p:spPr bwMode="auto"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p>
            <a:pPr>
              <a:defRPr/>
            </a:pPr>
            <a:endParaRPr lang="en-US"/>
          </a:p>
        </p:txBody>
      </p:sp>
      <p:sp>
        <p:nvSpPr>
          <p:cNvPr id="2114439735" name="Notes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/>
          </a:p>
        </p:txBody>
      </p:sp>
      <p:sp>
        <p:nvSpPr>
          <p:cNvPr id="418754719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182408251" name="Slide Number Placeholder 6"/>
          <p:cNvSpPr>
            <a:spLocks noGrp="1"/>
          </p:cNvSpPr>
          <p:nvPr>
            <p:ph type="sldNum" sz="quarter" idx="5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 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 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 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 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 ?>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 ?>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 ?>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 ?>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 ?>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 ?>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 ?>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 ?>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 ?>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 ?>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 ?>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 ?>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 ?>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 ?>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 ?>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 ?>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 ?>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 ?>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 ?>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 ?>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 ?>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742150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91921325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p>
            <a:pPr>
              <a:defRPr/>
            </a:pPr>
            <a:endParaRPr lang="en-US"/>
          </a:p>
        </p:txBody>
      </p:sp>
      <p:sp>
        <p:nvSpPr>
          <p:cNvPr id="6224559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p>
            <a:pPr>
              <a:defRPr/>
            </a:pPr>
            <a:fld id="{F7021451-1387-4CA6-816F-3879F97B5CBC}" type="slidenum">
              <a:rPr lang="en-US"/>
              <a:t>1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5810622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68622637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p>
            <a:pPr>
              <a:defRPr/>
            </a:pPr>
            <a:endParaRPr lang="en-US"/>
          </a:p>
        </p:txBody>
      </p:sp>
      <p:sp>
        <p:nvSpPr>
          <p:cNvPr id="182437208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p>
            <a:pPr>
              <a:defRPr/>
            </a:pPr>
            <a:fld id="{F7021451-1387-4CA6-816F-3879F97B5CBC}" type="slidenum">
              <a:rPr lang="en-US"/>
              <a:t>2</a:t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9839895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86708802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p>
            <a:pPr>
              <a:defRPr/>
            </a:pPr>
            <a:endParaRPr lang="en-US"/>
          </a:p>
        </p:txBody>
      </p:sp>
      <p:sp>
        <p:nvSpPr>
          <p:cNvPr id="132803248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p>
            <a:pPr>
              <a:defRPr/>
            </a:pPr>
            <a:fld id="{F7021451-1387-4CA6-816F-3879F97B5CBC}" type="slidenum">
              <a:rPr lang="en-US"/>
              <a:t>3</a:t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0764524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98758929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p>
            <a:pPr>
              <a:defRPr/>
            </a:pPr>
            <a:endParaRPr lang="en-US"/>
          </a:p>
        </p:txBody>
      </p:sp>
      <p:sp>
        <p:nvSpPr>
          <p:cNvPr id="101291216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p>
            <a:pPr>
              <a:defRPr/>
            </a:pPr>
            <a:fld id="{F7021451-1387-4CA6-816F-3879F97B5CBC}" type="slidenum">
              <a:rPr lang="en-US"/>
              <a:t>4</a:t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4484018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1054039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p>
            <a:pPr>
              <a:defRPr/>
            </a:pPr>
            <a:endParaRPr lang="en-US"/>
          </a:p>
        </p:txBody>
      </p:sp>
      <p:sp>
        <p:nvSpPr>
          <p:cNvPr id="181615388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p>
            <a:pPr>
              <a:defRPr/>
            </a:pPr>
            <a:fld id="{F7021451-1387-4CA6-816F-3879F97B5CBC}" type="slidenum">
              <a:rPr lang="en-US"/>
              <a:t>5</a:t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9994850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97136299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p>
            <a:pPr>
              <a:defRPr/>
            </a:pPr>
            <a:endParaRPr lang="en-US"/>
          </a:p>
        </p:txBody>
      </p:sp>
      <p:sp>
        <p:nvSpPr>
          <p:cNvPr id="119825580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p>
            <a:pPr>
              <a:defRPr/>
            </a:pPr>
            <a:fld id="{F7021451-1387-4CA6-816F-3879F97B5CBC}" type="slidenum">
              <a:rPr lang="en-US"/>
              <a:t>6</a:t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3467583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69307792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p>
            <a:pPr>
              <a:defRPr/>
            </a:pPr>
            <a:endParaRPr lang="en-US"/>
          </a:p>
        </p:txBody>
      </p:sp>
      <p:sp>
        <p:nvSpPr>
          <p:cNvPr id="81689119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p>
            <a:pPr>
              <a:defRPr/>
            </a:pPr>
            <a:fld id="{F7021451-1387-4CA6-816F-3879F97B5CBC}" type="slidenum">
              <a:rPr lang="en-US"/>
              <a:t>7</a:t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7076742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82118829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p>
            <a:pPr>
              <a:defRPr/>
            </a:pPr>
            <a:endParaRPr lang="en-US"/>
          </a:p>
        </p:txBody>
      </p:sp>
      <p:sp>
        <p:nvSpPr>
          <p:cNvPr id="50906522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p>
            <a:pPr>
              <a:defRPr/>
            </a:pPr>
            <a:fld id="{F7021451-1387-4CA6-816F-3879F97B5CBC}" type="slidenum">
              <a:rPr lang="en-US"/>
              <a:t>8</a:t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994432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61555048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p>
            <a:pPr>
              <a:defRPr/>
            </a:pPr>
            <a:endParaRPr lang="en-US"/>
          </a:p>
        </p:txBody>
      </p:sp>
      <p:sp>
        <p:nvSpPr>
          <p:cNvPr id="118912662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p>
            <a:pPr>
              <a:defRPr/>
            </a:pPr>
            <a:fld id="{F7021451-1387-4CA6-816F-3879F97B5CBC}" type="slidenum">
              <a:rPr lang="en-US"/>
              <a:t>9</a:t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2994027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47434857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p>
            <a:pPr>
              <a:defRPr/>
            </a:pPr>
            <a:endParaRPr lang="en-US"/>
          </a:p>
        </p:txBody>
      </p:sp>
      <p:sp>
        <p:nvSpPr>
          <p:cNvPr id="37597128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p>
            <a:pPr>
              <a:defRPr/>
            </a:pPr>
            <a:fld id="{F7021451-1387-4CA6-816F-3879F97B5CBC}" type="slidenum">
              <a:rPr lang="en-US"/>
              <a:t>10</a:t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3132449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29699094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p>
            <a:pPr>
              <a:defRPr/>
            </a:pPr>
            <a:endParaRPr lang="en-US"/>
          </a:p>
        </p:txBody>
      </p:sp>
      <p:sp>
        <p:nvSpPr>
          <p:cNvPr id="99132735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p>
            <a:pPr>
              <a:defRPr/>
            </a:pPr>
            <a:fld id="{F7021451-1387-4CA6-816F-3879F97B5CBC}" type="slidenum">
              <a:rPr lang="en-US"/>
              <a:t>11</a:t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4360433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40506148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p>
            <a:pPr>
              <a:defRPr/>
            </a:pPr>
            <a:endParaRPr lang="en-US"/>
          </a:p>
        </p:txBody>
      </p:sp>
      <p:sp>
        <p:nvSpPr>
          <p:cNvPr id="83056028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p>
            <a:pPr>
              <a:defRPr/>
            </a:pPr>
            <a:fld id="{F7021451-1387-4CA6-816F-3879F97B5CBC}" type="slidenum">
              <a:rPr lang="en-US"/>
              <a:t>12</a:t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3476289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40441231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p>
            <a:pPr>
              <a:defRPr/>
            </a:pPr>
            <a:endParaRPr lang="en-US"/>
          </a:p>
        </p:txBody>
      </p:sp>
      <p:sp>
        <p:nvSpPr>
          <p:cNvPr id="89705558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p>
            <a:pPr>
              <a:defRPr/>
            </a:pPr>
            <a:fld id="{F7021451-1387-4CA6-816F-3879F97B5CBC}" type="slidenum">
              <a:rPr lang="en-US"/>
              <a:t>1</a:t>
            </a:fld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8487317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98930763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p>
            <a:pPr>
              <a:defRPr/>
            </a:pPr>
            <a:endParaRPr lang="en-US"/>
          </a:p>
        </p:txBody>
      </p:sp>
      <p:sp>
        <p:nvSpPr>
          <p:cNvPr id="191390714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p>
            <a:pPr>
              <a:defRPr/>
            </a:pPr>
            <a:fld id="{F7021451-1387-4CA6-816F-3879F97B5CBC}" type="slidenum">
              <a:rPr lang="en-US"/>
              <a:t>2</a:t>
            </a:fld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9748835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08285353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p>
            <a:pPr>
              <a:defRPr/>
            </a:pPr>
            <a:endParaRPr lang="en-US"/>
          </a:p>
        </p:txBody>
      </p:sp>
      <p:sp>
        <p:nvSpPr>
          <p:cNvPr id="94595455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p>
            <a:pPr>
              <a:defRPr/>
            </a:pPr>
            <a:fld id="{F7021451-1387-4CA6-816F-3879F97B5CBC}" type="slidenum">
              <a:rPr lang="en-US"/>
              <a:t>3</a:t>
            </a:fld>
            <a:endParaRPr 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3031295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64745396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p>
            <a:pPr>
              <a:defRPr/>
            </a:pPr>
            <a:endParaRPr lang="en-US"/>
          </a:p>
        </p:txBody>
      </p:sp>
      <p:sp>
        <p:nvSpPr>
          <p:cNvPr id="198040838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p>
            <a:pPr>
              <a:defRPr/>
            </a:pPr>
            <a:fld id="{F7021451-1387-4CA6-816F-3879F97B5CBC}" type="slidenum">
              <a:rPr lang="en-US"/>
              <a:t>4</a:t>
            </a:fld>
            <a:endParaRPr 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4326252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662054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p>
            <a:pPr>
              <a:defRPr/>
            </a:pPr>
            <a:endParaRPr lang="en-US"/>
          </a:p>
        </p:txBody>
      </p:sp>
      <p:sp>
        <p:nvSpPr>
          <p:cNvPr id="197244353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p>
            <a:pPr>
              <a:defRPr/>
            </a:pPr>
            <a:fld id="{F7021451-1387-4CA6-816F-3879F97B5CBC}" type="slidenum">
              <a:rPr lang="en-US"/>
              <a:t>5</a:t>
            </a:fld>
            <a:endParaRPr 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1057264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65343276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p>
            <a:pPr>
              <a:defRPr/>
            </a:pPr>
            <a:endParaRPr lang="en-US"/>
          </a:p>
        </p:txBody>
      </p:sp>
      <p:sp>
        <p:nvSpPr>
          <p:cNvPr id="5556827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p>
            <a:pPr>
              <a:defRPr/>
            </a:pPr>
            <a:fld id="{F7021451-1387-4CA6-816F-3879F97B5CBC}" type="slidenum">
              <a:rPr lang="en-US"/>
              <a:t>6</a:t>
            </a:fld>
            <a:endParaRPr 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0780237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6112768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p>
            <a:pPr>
              <a:defRPr/>
            </a:pPr>
            <a:endParaRPr lang="en-US"/>
          </a:p>
        </p:txBody>
      </p:sp>
      <p:sp>
        <p:nvSpPr>
          <p:cNvPr id="29476046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p>
            <a:pPr>
              <a:defRPr/>
            </a:pPr>
            <a:fld id="{F7021451-1387-4CA6-816F-3879F97B5CBC}" type="slidenum">
              <a:rPr lang="en-US"/>
              <a:t>7</a:t>
            </a:fld>
            <a:endParaRPr 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4206054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95718258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p>
            <a:pPr>
              <a:defRPr/>
            </a:pPr>
            <a:endParaRPr lang="en-US"/>
          </a:p>
        </p:txBody>
      </p:sp>
      <p:sp>
        <p:nvSpPr>
          <p:cNvPr id="3578678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p>
            <a:pPr>
              <a:defRPr/>
            </a:pPr>
            <a:fld id="{F7021451-1387-4CA6-816F-3879F97B5CBC}" type="slidenum">
              <a:rPr lang="en-US"/>
              <a:t>8</a:t>
            </a:fld>
            <a:endParaRPr 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9591223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52042030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p>
            <a:pPr>
              <a:defRPr/>
            </a:pPr>
            <a:endParaRPr lang="en-US"/>
          </a:p>
        </p:txBody>
      </p:sp>
      <p:sp>
        <p:nvSpPr>
          <p:cNvPr id="147146446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p>
            <a:pPr>
              <a:defRPr/>
            </a:pPr>
            <a:fld id="{F7021451-1387-4CA6-816F-3879F97B5CBC}" type="slidenum">
              <a:rPr lang="en-US"/>
              <a:t>9</a:t>
            </a:fld>
            <a:endParaRPr lang="en-US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423830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1629044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p>
            <a:pPr>
              <a:defRPr/>
            </a:pPr>
            <a:endParaRPr lang="en-US"/>
          </a:p>
        </p:txBody>
      </p:sp>
      <p:sp>
        <p:nvSpPr>
          <p:cNvPr id="174477560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p>
            <a:pPr>
              <a:defRPr/>
            </a:pPr>
            <a:fld id="{F7021451-1387-4CA6-816F-3879F97B5CBC}" type="slidenum">
              <a:rPr lang="en-US"/>
              <a:t>10</a:t>
            </a:fld>
            <a:endParaRPr lang="en-US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2971748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67682673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p>
            <a:pPr>
              <a:defRPr/>
            </a:pPr>
            <a:endParaRPr lang="en-US"/>
          </a:p>
        </p:txBody>
      </p:sp>
      <p:sp>
        <p:nvSpPr>
          <p:cNvPr id="54469512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p>
            <a:pPr>
              <a:defRPr/>
            </a:pPr>
            <a:fld id="{F7021451-1387-4CA6-816F-3879F97B5CBC}" type="slidenum">
              <a:rPr lang="en-US"/>
              <a:t>11</a:t>
            </a:fld>
            <a:endParaRPr lang="en-US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8618899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14716744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p>
            <a:pPr>
              <a:defRPr/>
            </a:pPr>
            <a:endParaRPr lang="en-US"/>
          </a:p>
        </p:txBody>
      </p:sp>
      <p:sp>
        <p:nvSpPr>
          <p:cNvPr id="30850903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p>
            <a:pPr>
              <a:defRPr/>
            </a:pPr>
            <a:fld id="{F7021451-1387-4CA6-816F-3879F97B5CBC}" type="slidenum">
              <a:rPr lang="en-US"/>
              <a:t>12</a:t>
            </a:fld>
            <a:endParaRPr lang="en-US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3247290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1464900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p>
            <a:pPr>
              <a:defRPr/>
            </a:pPr>
            <a:endParaRPr lang="en-US"/>
          </a:p>
        </p:txBody>
      </p:sp>
      <p:sp>
        <p:nvSpPr>
          <p:cNvPr id="44575276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p>
            <a:pPr>
              <a:defRPr/>
            </a:pPr>
            <a:fld id="{F7021451-1387-4CA6-816F-3879F97B5CBC}" type="slidenum">
              <a:rPr lang="en-US"/>
              <a:t>1</a:t>
            </a:fld>
            <a:endParaRPr lang="en-US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1189724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13407236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p>
            <a:pPr>
              <a:defRPr/>
            </a:pPr>
            <a:endParaRPr lang="en-US"/>
          </a:p>
        </p:txBody>
      </p:sp>
      <p:sp>
        <p:nvSpPr>
          <p:cNvPr id="154940875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p>
            <a:pPr>
              <a:defRPr/>
            </a:pPr>
            <a:fld id="{F7021451-1387-4CA6-816F-3879F97B5CBC}" type="slidenum">
              <a:rPr lang="en-US"/>
              <a:t>2</a:t>
            </a:fld>
            <a:endParaRPr lang="en-US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5507115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93299186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p>
            <a:pPr>
              <a:defRPr/>
            </a:pPr>
            <a:endParaRPr lang="en-US"/>
          </a:p>
        </p:txBody>
      </p:sp>
      <p:sp>
        <p:nvSpPr>
          <p:cNvPr id="212023595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p>
            <a:pPr>
              <a:defRPr/>
            </a:pPr>
            <a:fld id="{F7021451-1387-4CA6-816F-3879F97B5CBC}" type="slidenum">
              <a:rPr lang="en-US"/>
              <a:t>3</a:t>
            </a:fld>
            <a:endParaRPr lang="en-US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4267119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09957377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p>
            <a:pPr>
              <a:defRPr/>
            </a:pPr>
            <a:endParaRPr lang="en-US"/>
          </a:p>
        </p:txBody>
      </p:sp>
      <p:sp>
        <p:nvSpPr>
          <p:cNvPr id="8966529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p>
            <a:pPr>
              <a:defRPr/>
            </a:pPr>
            <a:fld id="{F7021451-1387-4CA6-816F-3879F97B5CBC}" type="slidenum">
              <a:rPr lang="en-US"/>
              <a:t>4</a:t>
            </a:fld>
            <a:endParaRPr lang="en-US"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6991512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3003785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p>
            <a:pPr>
              <a:defRPr/>
            </a:pPr>
            <a:endParaRPr lang="en-US"/>
          </a:p>
        </p:txBody>
      </p:sp>
      <p:sp>
        <p:nvSpPr>
          <p:cNvPr id="191482456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p>
            <a:pPr>
              <a:defRPr/>
            </a:pPr>
            <a:fld id="{F7021451-1387-4CA6-816F-3879F97B5CBC}" type="slidenum">
              <a:rPr lang="en-US"/>
              <a:t>5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dt="0" ftr="0" hdr="0" sldNum="0"/>
  <p:txStyles>
    <p:titleStyle>
      <a:lvl1pPr algn="ctr" defTabSz="914400" rtl="0">
        <a:spcBef>
          <a:spcPts val="0"/>
        </a:spcBef>
        <a:buNone/>
        <a:defRPr sz="44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>
        <a:spcBef>
          <a:spcPts val="0"/>
        </a:spcBef>
        <a:buFont typeface="Arial"/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>
        <a:spcBef>
          <a:spcPts val="0"/>
        </a:spcBef>
        <a:buFont typeface="Arial"/>
        <a:buChar char="–"/>
        <a:defRPr sz="28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>
        <a:spcBef>
          <a:spcPts val="0"/>
        </a:spcBef>
        <a:buFont typeface="Arial"/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>
        <a:spcBef>
          <a:spcPts val="0"/>
        </a:spcBef>
        <a:buFont typeface="Arial"/>
        <a:buChar char="–"/>
        <a:defRPr sz="20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>
        <a:spcBef>
          <a:spcPts val="0"/>
        </a:spcBef>
        <a:buFont typeface="Arial"/>
        <a:buChar char="»"/>
        <a:defRPr sz="20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jpg"/><Relationship Id="rId4" Type="http://schemas.openxmlformats.org/officeDocument/2006/relationships/image" Target="../media/image2.png"/><Relationship Id="rId5" Type="http://schemas.openxmlformats.org/officeDocument/2006/relationships/image" Target="../media/image3.png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4.jpg"/><Relationship Id="rId4" Type="http://schemas.openxmlformats.org/officeDocument/2006/relationships/image" Target="../media/image2.png"/><Relationship Id="rId5" Type="http://schemas.openxmlformats.org/officeDocument/2006/relationships/image" Target="../media/image5.png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6.png"/><Relationship Id="rId4" Type="http://schemas.openxmlformats.org/officeDocument/2006/relationships/image" Target="../media/image2.png"/><Relationship Id="rId5" Type="http://schemas.openxmlformats.org/officeDocument/2006/relationships/image" Target="../media/image7.png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jpg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8.jpg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jpg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jpg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jpg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9.jpg"/><Relationship Id="rId4" Type="http://schemas.openxmlformats.org/officeDocument/2006/relationships/image" Target="../media/image2.png"/><Relationship Id="rId5" Type="http://schemas.openxmlformats.org/officeDocument/2006/relationships/image" Target="../media/image10.png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jpg"/><Relationship Id="rId4" Type="http://schemas.openxmlformats.org/officeDocument/2006/relationships/image" Target="../media/image2.png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1.png"/><Relationship Id="rId4" Type="http://schemas.openxmlformats.org/officeDocument/2006/relationships/image" Target="../media/image2.png"/></Relationships>
</file>

<file path=ppt/slides/_rels/slide1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2.jpg"/><Relationship Id="rId4" Type="http://schemas.openxmlformats.org/officeDocument/2006/relationships/image" Target="../media/image2.png"/><Relationship Id="rId5" Type="http://schemas.openxmlformats.org/officeDocument/2006/relationships/image" Target="../media/image5.png"/></Relationships>
</file>

<file path=ppt/slides/_rels/slide1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3.jpg"/><Relationship Id="rId4" Type="http://schemas.openxmlformats.org/officeDocument/2006/relationships/image" Target="../media/image2.png"/></Relationships>
</file>

<file path=ppt/slides/_rels/slide1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4.jpg"/><Relationship Id="rId4" Type="http://schemas.openxmlformats.org/officeDocument/2006/relationships/image" Target="../media/image2.png"/><Relationship Id="rId5" Type="http://schemas.openxmlformats.org/officeDocument/2006/relationships/image" Target="../media/image5.png"/></Relationships>
</file>

<file path=ppt/slides/_rels/slide1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5.png"/><Relationship Id="rId4" Type="http://schemas.openxmlformats.org/officeDocument/2006/relationships/image" Target="../media/image2.png"/><Relationship Id="rId5" Type="http://schemas.openxmlformats.org/officeDocument/2006/relationships/image" Target="../media/image16.png"/></Relationships>
</file>

<file path=ppt/slides/_rels/slide1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7.jpg"/><Relationship Id="rId4" Type="http://schemas.openxmlformats.org/officeDocument/2006/relationships/image" Target="../media/image2.png"/><Relationship Id="rId5" Type="http://schemas.openxmlformats.org/officeDocument/2006/relationships/image" Target="../media/image3.png"/></Relationships>
</file>

<file path=ppt/slides/_rels/slide1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8.png"/><Relationship Id="rId4" Type="http://schemas.openxmlformats.org/officeDocument/2006/relationships/image" Target="../media/image2.png"/></Relationships>
</file>

<file path=ppt/slides/_rels/slide1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9.png"/><Relationship Id="rId4" Type="http://schemas.openxmlformats.org/officeDocument/2006/relationships/image" Target="../media/image2.png"/></Relationships>
</file>

<file path=ppt/slides/_rels/slide1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20.png"/><Relationship Id="rId4" Type="http://schemas.openxmlformats.org/officeDocument/2006/relationships/image" Target="../media/image2.png"/></Relationships>
</file>

<file path=ppt/slides/_rels/slide2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21.png"/><Relationship Id="rId4" Type="http://schemas.openxmlformats.org/officeDocument/2006/relationships/image" Target="../media/image2.png"/></Relationships>
</file>

<file path=ppt/slides/_rels/slide2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22.png"/><Relationship Id="rId4" Type="http://schemas.openxmlformats.org/officeDocument/2006/relationships/image" Target="../media/image2.png"/></Relationships>
</file>

<file path=ppt/slides/_rels/slide2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23.jpg"/><Relationship Id="rId4" Type="http://schemas.openxmlformats.org/officeDocument/2006/relationships/image" Target="../media/image2.png"/><Relationship Id="rId5" Type="http://schemas.openxmlformats.org/officeDocument/2006/relationships/image" Target="../media/image5.png"/></Relationships>
</file>

<file path=ppt/slides/_rels/slide2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24.jpg"/><Relationship Id="rId4" Type="http://schemas.openxmlformats.org/officeDocument/2006/relationships/image" Target="../media/image2.png"/><Relationship Id="rId5" Type="http://schemas.openxmlformats.org/officeDocument/2006/relationships/image" Target="../media/image25.png"/><Relationship Id="rId6" Type="http://schemas.openxmlformats.org/officeDocument/2006/relationships/image" Target="../media/image5.png"/></Relationships>
</file>

<file path=ppt/slides/_rels/slide2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26.jpg"/><Relationship Id="rId4" Type="http://schemas.openxmlformats.org/officeDocument/2006/relationships/image" Target="../media/image2.png"/><Relationship Id="rId5" Type="http://schemas.openxmlformats.org/officeDocument/2006/relationships/image" Target="../media/image5.png"/></Relationships>
</file>

<file path=ppt/slides/_rels/slide2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27.png"/><Relationship Id="rId4" Type="http://schemas.openxmlformats.org/officeDocument/2006/relationships/image" Target="../media/image28.png"/><Relationship Id="rId5" Type="http://schemas.openxmlformats.org/officeDocument/2006/relationships/image" Target="../media/image29.png"/></Relationships>
</file>

<file path=ppt/slides/_rels/slide2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30.png"/><Relationship Id="rId4" Type="http://schemas.openxmlformats.org/officeDocument/2006/relationships/image" Target="../media/image28.png"/><Relationship Id="rId5" Type="http://schemas.openxmlformats.org/officeDocument/2006/relationships/image" Target="../media/image31.png"/></Relationships>
</file>

<file path=ppt/slides/_rels/slide2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32.png"/><Relationship Id="rId4" Type="http://schemas.openxmlformats.org/officeDocument/2006/relationships/image" Target="../media/image28.png"/><Relationship Id="rId5" Type="http://schemas.openxmlformats.org/officeDocument/2006/relationships/image" Target="../media/image31.png"/></Relationships>
</file>

<file path=ppt/slides/_rels/slide2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33.png"/><Relationship Id="rId4" Type="http://schemas.openxmlformats.org/officeDocument/2006/relationships/image" Target="../media/image28.png"/><Relationship Id="rId5" Type="http://schemas.openxmlformats.org/officeDocument/2006/relationships/image" Target="../media/image29.png"/></Relationships>
</file>

<file path=ppt/slides/_rels/slide2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34.jpg"/><Relationship Id="rId4" Type="http://schemas.openxmlformats.org/officeDocument/2006/relationships/image" Target="../media/image28.png"/><Relationship Id="rId5" Type="http://schemas.openxmlformats.org/officeDocument/2006/relationships/image" Target="../media/image35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1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390029035" name="Image 0" descr="preencoded.png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639678197" name="Image 1" descr="preencoded.png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>
            <a:off x="0" y="0"/>
            <a:ext cx="9144000" cy="1071563"/>
          </a:xfrm>
          <a:prstGeom prst="rect">
            <a:avLst/>
          </a:prstGeom>
        </p:spPr>
      </p:pic>
      <p:sp>
        <p:nvSpPr>
          <p:cNvPr id="611643712" name="Text 0"/>
          <p:cNvSpPr/>
          <p:nvPr/>
        </p:nvSpPr>
        <p:spPr bwMode="auto">
          <a:xfrm>
            <a:off x="285750" y="1374077"/>
            <a:ext cx="8572500" cy="24536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marL="0" indent="0" algn="ctr">
              <a:lnSpc>
                <a:spcPct val="92000"/>
              </a:lnSpc>
              <a:buNone/>
              <a:defRPr/>
            </a:pPr>
            <a:r>
              <a:rPr lang="en-US" sz="185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A Secure Explainable Hybrid Framework for NAMASTE–ICD-11 Terminology Mapping</a:t>
            </a:r>
            <a:endParaRPr lang="en-US" sz="1850"/>
          </a:p>
        </p:txBody>
      </p:sp>
      <p:sp>
        <p:nvSpPr>
          <p:cNvPr id="154693532" name="Text 1"/>
          <p:cNvSpPr/>
          <p:nvPr/>
        </p:nvSpPr>
        <p:spPr bwMode="auto">
          <a:xfrm>
            <a:off x="628649" y="2079500"/>
            <a:ext cx="1011246" cy="292968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p>
            <a:pPr marL="0" indent="0" algn="l">
              <a:lnSpc>
                <a:spcPct val="128000"/>
              </a:lnSpc>
              <a:buNone/>
              <a:defRPr/>
            </a:pPr>
            <a:r>
              <a:rPr lang="en-US" sz="15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Presented By</a:t>
            </a:r>
            <a:endParaRPr sz="1500"/>
          </a:p>
        </p:txBody>
      </p:sp>
      <p:sp>
        <p:nvSpPr>
          <p:cNvPr id="1559894651" name="Text 2"/>
          <p:cNvSpPr/>
          <p:nvPr/>
        </p:nvSpPr>
        <p:spPr bwMode="auto">
          <a:xfrm>
            <a:off x="628649" y="2399518"/>
            <a:ext cx="2810369" cy="292968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p>
            <a:pPr marL="0" indent="0" algn="l">
              <a:lnSpc>
                <a:spcPct val="128000"/>
              </a:lnSpc>
              <a:buNone/>
              <a:defRPr/>
            </a:pPr>
            <a:r>
              <a:rPr lang="en-US" sz="15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Senthamil Selvan S (312423205203)</a:t>
            </a:r>
            <a:endParaRPr sz="1500"/>
          </a:p>
        </p:txBody>
      </p:sp>
      <p:sp>
        <p:nvSpPr>
          <p:cNvPr id="914371935" name="Text 3"/>
          <p:cNvSpPr/>
          <p:nvPr/>
        </p:nvSpPr>
        <p:spPr bwMode="auto">
          <a:xfrm>
            <a:off x="628649" y="2748110"/>
            <a:ext cx="2926273" cy="292968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p>
            <a:pPr marL="0" indent="0" algn="l">
              <a:lnSpc>
                <a:spcPct val="128000"/>
              </a:lnSpc>
              <a:buNone/>
              <a:defRPr/>
            </a:pPr>
            <a:r>
              <a:rPr lang="en-US" sz="15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Swarana Bairavan M (312423205222)</a:t>
            </a:r>
            <a:endParaRPr sz="1500"/>
          </a:p>
        </p:txBody>
      </p:sp>
      <p:sp>
        <p:nvSpPr>
          <p:cNvPr id="16406567" name="Text 4"/>
          <p:cNvSpPr/>
          <p:nvPr/>
        </p:nvSpPr>
        <p:spPr bwMode="auto">
          <a:xfrm>
            <a:off x="4686300" y="2079500"/>
            <a:ext cx="799638" cy="292968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p>
            <a:pPr marL="0" indent="0" algn="l">
              <a:lnSpc>
                <a:spcPct val="128000"/>
              </a:lnSpc>
              <a:buNone/>
              <a:defRPr/>
            </a:pPr>
            <a:r>
              <a:rPr lang="en-US" sz="15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Guided by</a:t>
            </a:r>
            <a:endParaRPr sz="1500"/>
          </a:p>
        </p:txBody>
      </p:sp>
      <p:sp>
        <p:nvSpPr>
          <p:cNvPr id="736333313" name="Text 5"/>
          <p:cNvSpPr/>
          <p:nvPr/>
        </p:nvSpPr>
        <p:spPr bwMode="auto">
          <a:xfrm>
            <a:off x="4686300" y="2399518"/>
            <a:ext cx="2661542" cy="292968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p>
            <a:pPr marL="0" indent="0" algn="l">
              <a:lnSpc>
                <a:spcPct val="128000"/>
              </a:lnSpc>
              <a:buNone/>
              <a:defRPr/>
            </a:pPr>
            <a:r>
              <a:rPr lang="en-US" sz="15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Mr. Najeem Dheen Abdul Majeeth</a:t>
            </a:r>
            <a:endParaRPr sz="1500"/>
          </a:p>
        </p:txBody>
      </p:sp>
      <p:sp>
        <p:nvSpPr>
          <p:cNvPr id="1885357890" name="Text 6"/>
          <p:cNvSpPr/>
          <p:nvPr/>
        </p:nvSpPr>
        <p:spPr bwMode="auto">
          <a:xfrm>
            <a:off x="4686300" y="2748110"/>
            <a:ext cx="1466467" cy="292968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p>
            <a:pPr marL="0" indent="0" algn="l">
              <a:lnSpc>
                <a:spcPct val="128000"/>
              </a:lnSpc>
              <a:buNone/>
              <a:defRPr/>
            </a:pPr>
            <a:r>
              <a:rPr lang="en-US" sz="15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Assistant Professor</a:t>
            </a:r>
            <a:endParaRPr sz="1500"/>
          </a:p>
        </p:txBody>
      </p:sp>
      <p:sp>
        <p:nvSpPr>
          <p:cNvPr id="725975548" name="Text 7"/>
          <p:cNvSpPr/>
          <p:nvPr/>
        </p:nvSpPr>
        <p:spPr bwMode="auto">
          <a:xfrm>
            <a:off x="4686300" y="3096703"/>
            <a:ext cx="1868114" cy="292968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p>
            <a:pPr marL="0" indent="0" algn="l">
              <a:lnSpc>
                <a:spcPct val="128000"/>
              </a:lnSpc>
              <a:buNone/>
              <a:defRPr/>
            </a:pPr>
            <a:r>
              <a:rPr lang="en-US" sz="15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Information Technology</a:t>
            </a:r>
            <a:endParaRPr sz="1500"/>
          </a:p>
        </p:txBody>
      </p:sp>
      <p:sp>
        <p:nvSpPr>
          <p:cNvPr id="1741424074" name="Text 8"/>
          <p:cNvSpPr/>
          <p:nvPr/>
        </p:nvSpPr>
        <p:spPr bwMode="auto">
          <a:xfrm>
            <a:off x="628649" y="3668203"/>
            <a:ext cx="1328714" cy="256392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p>
            <a:pPr marL="0" indent="0" algn="l">
              <a:lnSpc>
                <a:spcPct val="112000"/>
              </a:lnSpc>
              <a:buNone/>
              <a:defRPr/>
            </a:pPr>
            <a:r>
              <a:rPr lang="en-US" sz="15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Date: </a:t>
            </a:r>
            <a:r>
              <a:rPr lang="en-US" sz="15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1</a:t>
            </a:r>
            <a:r>
              <a:rPr lang="en-US" sz="15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6</a:t>
            </a:r>
            <a:r>
              <a:rPr lang="en-US" sz="15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/</a:t>
            </a:r>
            <a:r>
              <a:rPr lang="en-US" sz="15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0</a:t>
            </a:r>
            <a:r>
              <a:rPr lang="en-US" sz="15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5</a:t>
            </a:r>
            <a:r>
              <a:rPr lang="en-US" sz="15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/</a:t>
            </a:r>
            <a:r>
              <a:rPr lang="en-US" sz="15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2</a:t>
            </a:r>
            <a:r>
              <a:rPr lang="en-US" sz="15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0</a:t>
            </a:r>
            <a:r>
              <a:rPr lang="en-US" sz="15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2</a:t>
            </a:r>
            <a:r>
              <a:rPr lang="en-US" sz="15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6</a:t>
            </a:r>
            <a:endParaRPr sz="1500"/>
          </a:p>
        </p:txBody>
      </p:sp>
      <p:sp>
        <p:nvSpPr>
          <p:cNvPr id="1511765392" name="Text 9"/>
          <p:cNvSpPr/>
          <p:nvPr/>
        </p:nvSpPr>
        <p:spPr bwMode="auto">
          <a:xfrm>
            <a:off x="8972550" y="4036219"/>
            <a:ext cx="38100" cy="13716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p>
            <a:pPr marL="0" indent="0" algn="l">
              <a:lnSpc>
                <a:spcPct val="120000"/>
              </a:lnSpc>
              <a:buNone/>
              <a:defRPr/>
            </a:pPr>
            <a:r>
              <a:rPr lang="en-US" sz="850">
                <a:solidFill>
                  <a:srgbClr val="898989"/>
                </a:solidFill>
                <a:latin typeface="Calibri"/>
                <a:ea typeface="Calibri"/>
                <a:cs typeface="Calibri"/>
              </a:rPr>
              <a:t>1</a:t>
            </a:r>
            <a:endParaRPr lang="en-US" sz="850"/>
          </a:p>
        </p:txBody>
      </p:sp>
      <p:pic>
        <p:nvPicPr>
          <p:cNvPr id="389348511" name="Image 2" descr="preencoded.png"/>
          <p:cNvPicPr>
            <a:picLocks noChangeAspect="1"/>
          </p:cNvPicPr>
          <p:nvPr/>
        </p:nvPicPr>
        <p:blipFill rotWithShape="1">
          <a:blip r:embed="rId5"/>
          <a:stretch/>
        </p:blipFill>
        <p:spPr bwMode="auto">
          <a:xfrm flipH="0" flipV="0">
            <a:off x="0" y="4279203"/>
            <a:ext cx="9144000" cy="78459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2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080187228" name="Image 0" descr="preencoded.png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0" y="0"/>
            <a:ext cx="9144000" cy="6093256"/>
          </a:xfrm>
          <a:prstGeom prst="rect">
            <a:avLst/>
          </a:prstGeom>
        </p:spPr>
      </p:pic>
      <p:pic>
        <p:nvPicPr>
          <p:cNvPr id="2082774044" name="Image 1" descr="preencoded.png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>
            <a:off x="0" y="0"/>
            <a:ext cx="9144000" cy="1071563"/>
          </a:xfrm>
          <a:prstGeom prst="rect">
            <a:avLst/>
          </a:prstGeom>
        </p:spPr>
      </p:pic>
      <p:sp>
        <p:nvSpPr>
          <p:cNvPr id="891054883" name="Text 0"/>
          <p:cNvSpPr/>
          <p:nvPr/>
        </p:nvSpPr>
        <p:spPr bwMode="auto">
          <a:xfrm>
            <a:off x="628649" y="1128712"/>
            <a:ext cx="1467069" cy="346002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p>
            <a:pPr marL="0" indent="0" algn="l">
              <a:lnSpc>
                <a:spcPct val="84000"/>
              </a:lnSpc>
              <a:buNone/>
              <a:defRPr/>
            </a:pPr>
            <a:r>
              <a:rPr lang="en-US" sz="27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Objectives</a:t>
            </a:r>
            <a:endParaRPr sz="2700"/>
          </a:p>
        </p:txBody>
      </p:sp>
      <p:sp>
        <p:nvSpPr>
          <p:cNvPr id="458186320" name="Text 1"/>
          <p:cNvSpPr/>
          <p:nvPr/>
        </p:nvSpPr>
        <p:spPr bwMode="auto">
          <a:xfrm>
            <a:off x="628650" y="1799862"/>
            <a:ext cx="88901" cy="27432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p>
            <a:pPr marL="0" indent="0" algn="l">
              <a:lnSpc>
                <a:spcPct val="120000"/>
              </a:lnSpc>
              <a:buNone/>
              <a:defRPr/>
            </a:pPr>
            <a:r>
              <a:rPr lang="en-US" sz="150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•</a:t>
            </a:r>
            <a:endParaRPr lang="en-US" sz="1500"/>
          </a:p>
        </p:txBody>
      </p:sp>
      <p:sp>
        <p:nvSpPr>
          <p:cNvPr id="1518176595" name="Text 2"/>
          <p:cNvSpPr/>
          <p:nvPr/>
        </p:nvSpPr>
        <p:spPr bwMode="auto">
          <a:xfrm>
            <a:off x="842963" y="1799862"/>
            <a:ext cx="7004977" cy="280029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p>
            <a:pPr marL="0" indent="0" algn="l">
              <a:lnSpc>
                <a:spcPct val="112000"/>
              </a:lnSpc>
              <a:buNone/>
              <a:defRPr/>
            </a:pPr>
            <a:r>
              <a:rPr lang="en-US" sz="15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To integrate NAMASTE and ICD-11 medical terminologies for unified healthcare data.</a:t>
            </a:r>
            <a:endParaRPr lang="en-US" sz="1500"/>
          </a:p>
        </p:txBody>
      </p:sp>
      <p:sp>
        <p:nvSpPr>
          <p:cNvPr id="511512653" name="Text 3"/>
          <p:cNvSpPr/>
          <p:nvPr/>
        </p:nvSpPr>
        <p:spPr bwMode="auto">
          <a:xfrm>
            <a:off x="628650" y="2271350"/>
            <a:ext cx="88901" cy="27432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p>
            <a:pPr marL="0" indent="0" algn="l">
              <a:lnSpc>
                <a:spcPct val="120000"/>
              </a:lnSpc>
              <a:buNone/>
              <a:defRPr/>
            </a:pPr>
            <a:r>
              <a:rPr lang="en-US" sz="150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•</a:t>
            </a:r>
            <a:endParaRPr lang="en-US" sz="1500"/>
          </a:p>
        </p:txBody>
      </p:sp>
      <p:sp>
        <p:nvSpPr>
          <p:cNvPr id="1454548339" name="Text 4"/>
          <p:cNvSpPr/>
          <p:nvPr/>
        </p:nvSpPr>
        <p:spPr bwMode="auto">
          <a:xfrm>
            <a:off x="842963" y="2271350"/>
            <a:ext cx="6956822" cy="256032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p>
            <a:pPr marL="0" indent="0" algn="l">
              <a:lnSpc>
                <a:spcPct val="112000"/>
              </a:lnSpc>
              <a:buNone/>
              <a:defRPr/>
            </a:pPr>
            <a:r>
              <a:rPr lang="en-US" sz="15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To develop an AI-based semantic mapping system using advanced NLP techniques.</a:t>
            </a:r>
            <a:endParaRPr lang="en-US" sz="1500"/>
          </a:p>
        </p:txBody>
      </p:sp>
      <p:sp>
        <p:nvSpPr>
          <p:cNvPr id="11474224" name="Text 5"/>
          <p:cNvSpPr/>
          <p:nvPr/>
        </p:nvSpPr>
        <p:spPr bwMode="auto">
          <a:xfrm>
            <a:off x="628650" y="2742837"/>
            <a:ext cx="88901" cy="27432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p>
            <a:pPr marL="0" indent="0" algn="l">
              <a:lnSpc>
                <a:spcPct val="120000"/>
              </a:lnSpc>
              <a:buNone/>
              <a:defRPr/>
            </a:pPr>
            <a:r>
              <a:rPr lang="en-US" sz="150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•</a:t>
            </a:r>
            <a:endParaRPr lang="en-US" sz="1500"/>
          </a:p>
        </p:txBody>
      </p:sp>
      <p:sp>
        <p:nvSpPr>
          <p:cNvPr id="2097302393" name="Text 6"/>
          <p:cNvSpPr/>
          <p:nvPr/>
        </p:nvSpPr>
        <p:spPr bwMode="auto">
          <a:xfrm>
            <a:off x="842963" y="2742837"/>
            <a:ext cx="5547221" cy="256032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p>
            <a:pPr marL="0" indent="0" algn="l">
              <a:lnSpc>
                <a:spcPct val="112000"/>
              </a:lnSpc>
              <a:buNone/>
              <a:defRPr/>
            </a:pPr>
            <a:r>
              <a:rPr lang="en-US" sz="15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To reduce manual dual coding errors in AYUSH healthcare systems.</a:t>
            </a:r>
            <a:endParaRPr lang="en-US" sz="1500"/>
          </a:p>
        </p:txBody>
      </p:sp>
      <p:sp>
        <p:nvSpPr>
          <p:cNvPr id="1314058505" name="Text 7"/>
          <p:cNvSpPr/>
          <p:nvPr/>
        </p:nvSpPr>
        <p:spPr bwMode="auto">
          <a:xfrm>
            <a:off x="628650" y="3214325"/>
            <a:ext cx="88901" cy="27432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p>
            <a:pPr marL="0" indent="0" algn="l">
              <a:lnSpc>
                <a:spcPct val="120000"/>
              </a:lnSpc>
              <a:buNone/>
              <a:defRPr/>
            </a:pPr>
            <a:r>
              <a:rPr lang="en-US" sz="150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•</a:t>
            </a:r>
            <a:endParaRPr lang="en-US" sz="1500"/>
          </a:p>
        </p:txBody>
      </p:sp>
      <p:sp>
        <p:nvSpPr>
          <p:cNvPr id="1672122158" name="Text 8"/>
          <p:cNvSpPr/>
          <p:nvPr/>
        </p:nvSpPr>
        <p:spPr bwMode="auto">
          <a:xfrm>
            <a:off x="842963" y="3214325"/>
            <a:ext cx="5766643" cy="256032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p>
            <a:pPr marL="0" indent="0" algn="l">
              <a:lnSpc>
                <a:spcPct val="112000"/>
              </a:lnSpc>
              <a:buNone/>
              <a:defRPr/>
            </a:pPr>
            <a:r>
              <a:rPr lang="en-US" sz="15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To implement FHIR R4 compliant interoperability for global standards.</a:t>
            </a:r>
            <a:endParaRPr lang="en-US" sz="1500"/>
          </a:p>
        </p:txBody>
      </p:sp>
      <p:sp>
        <p:nvSpPr>
          <p:cNvPr id="421564062" name="Text 9"/>
          <p:cNvSpPr/>
          <p:nvPr/>
        </p:nvSpPr>
        <p:spPr bwMode="auto">
          <a:xfrm>
            <a:off x="628650" y="3685812"/>
            <a:ext cx="88901" cy="27432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p>
            <a:pPr marL="0" indent="0" algn="l">
              <a:lnSpc>
                <a:spcPct val="120000"/>
              </a:lnSpc>
              <a:buNone/>
              <a:defRPr/>
            </a:pPr>
            <a:r>
              <a:rPr lang="en-US" sz="150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•</a:t>
            </a:r>
            <a:endParaRPr lang="en-US" sz="1500"/>
          </a:p>
        </p:txBody>
      </p:sp>
      <p:sp>
        <p:nvSpPr>
          <p:cNvPr id="1327624528" name="Text 10"/>
          <p:cNvSpPr/>
          <p:nvPr/>
        </p:nvSpPr>
        <p:spPr bwMode="auto">
          <a:xfrm>
            <a:off x="842963" y="3685812"/>
            <a:ext cx="5993308" cy="256032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p>
            <a:pPr marL="0" indent="0" algn="l">
              <a:lnSpc>
                <a:spcPct val="112000"/>
              </a:lnSpc>
              <a:buNone/>
              <a:defRPr/>
            </a:pPr>
            <a:r>
              <a:rPr lang="en-US" sz="15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To provide explainable and secure terminology mapping for clinical trust.</a:t>
            </a:r>
            <a:endParaRPr lang="en-US" sz="1500"/>
          </a:p>
        </p:txBody>
      </p:sp>
      <p:sp>
        <p:nvSpPr>
          <p:cNvPr id="2134323685" name="Text 11"/>
          <p:cNvSpPr/>
          <p:nvPr/>
        </p:nvSpPr>
        <p:spPr bwMode="auto">
          <a:xfrm>
            <a:off x="628650" y="4157300"/>
            <a:ext cx="88901" cy="27432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p>
            <a:pPr marL="0" indent="0" algn="l">
              <a:lnSpc>
                <a:spcPct val="120000"/>
              </a:lnSpc>
              <a:buNone/>
              <a:defRPr/>
            </a:pPr>
            <a:r>
              <a:rPr lang="en-US" sz="150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•</a:t>
            </a:r>
            <a:endParaRPr lang="en-US" sz="1500"/>
          </a:p>
        </p:txBody>
      </p:sp>
      <p:sp>
        <p:nvSpPr>
          <p:cNvPr id="1638445158" name="Text 12"/>
          <p:cNvSpPr/>
          <p:nvPr/>
        </p:nvSpPr>
        <p:spPr bwMode="auto">
          <a:xfrm>
            <a:off x="842963" y="4157300"/>
            <a:ext cx="5877520" cy="256032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p>
            <a:pPr marL="0" indent="0" algn="l">
              <a:lnSpc>
                <a:spcPct val="112000"/>
              </a:lnSpc>
              <a:buNone/>
              <a:defRPr/>
            </a:pPr>
            <a:r>
              <a:rPr lang="en-US" sz="15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To support ABHA aligned digital health systems for national integration.</a:t>
            </a:r>
            <a:endParaRPr lang="en-US" sz="1500"/>
          </a:p>
        </p:txBody>
      </p:sp>
      <p:sp>
        <p:nvSpPr>
          <p:cNvPr id="2073333504" name="Text 13"/>
          <p:cNvSpPr/>
          <p:nvPr/>
        </p:nvSpPr>
        <p:spPr bwMode="auto">
          <a:xfrm>
            <a:off x="8972550" y="4985975"/>
            <a:ext cx="50800" cy="13716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p>
            <a:pPr marL="0" indent="0" algn="l">
              <a:lnSpc>
                <a:spcPct val="120000"/>
              </a:lnSpc>
              <a:buNone/>
              <a:defRPr/>
            </a:pPr>
            <a:r>
              <a:rPr lang="en-US" sz="850">
                <a:solidFill>
                  <a:srgbClr val="898989"/>
                </a:solidFill>
                <a:latin typeface="Calibri"/>
                <a:ea typeface="Calibri"/>
                <a:cs typeface="Calibri"/>
              </a:rPr>
              <a:t>2</a:t>
            </a:r>
            <a:endParaRPr lang="en-US" sz="850"/>
          </a:p>
        </p:txBody>
      </p:sp>
      <p:pic>
        <p:nvPicPr>
          <p:cNvPr id="884873090" name="Image 2" descr="preencoded.png"/>
          <p:cNvPicPr>
            <a:picLocks noChangeAspect="1"/>
          </p:cNvPicPr>
          <p:nvPr/>
        </p:nvPicPr>
        <p:blipFill rotWithShape="1">
          <a:blip r:embed="rId5"/>
          <a:stretch/>
        </p:blipFill>
        <p:spPr bwMode="auto">
          <a:xfrm>
            <a:off x="0" y="5207431"/>
            <a:ext cx="9144000" cy="88582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3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682548287" name="Image 0" descr="preencoded.png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0" y="0"/>
            <a:ext cx="9144000" cy="5391745"/>
          </a:xfrm>
          <a:prstGeom prst="rect">
            <a:avLst/>
          </a:prstGeom>
        </p:spPr>
      </p:pic>
      <p:pic>
        <p:nvPicPr>
          <p:cNvPr id="2040967791" name="Image 1" descr="preencoded.png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>
            <a:off x="0" y="0"/>
            <a:ext cx="9144000" cy="1071563"/>
          </a:xfrm>
          <a:prstGeom prst="rect">
            <a:avLst/>
          </a:prstGeom>
        </p:spPr>
      </p:pic>
      <p:sp>
        <p:nvSpPr>
          <p:cNvPr id="867460174" name="Text 0"/>
          <p:cNvSpPr/>
          <p:nvPr/>
        </p:nvSpPr>
        <p:spPr bwMode="auto">
          <a:xfrm>
            <a:off x="628649" y="1185862"/>
            <a:ext cx="1162348" cy="411839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p>
            <a:pPr marL="0" indent="0" algn="l">
              <a:lnSpc>
                <a:spcPct val="100000"/>
              </a:lnSpc>
              <a:buNone/>
              <a:defRPr/>
            </a:pPr>
            <a:r>
              <a:rPr lang="en-US" sz="27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Abstract</a:t>
            </a:r>
            <a:endParaRPr sz="2700"/>
          </a:p>
        </p:txBody>
      </p:sp>
      <p:sp>
        <p:nvSpPr>
          <p:cNvPr id="635385589" name="Text 1"/>
          <p:cNvSpPr/>
          <p:nvPr/>
        </p:nvSpPr>
        <p:spPr bwMode="auto">
          <a:xfrm>
            <a:off x="778718" y="1918587"/>
            <a:ext cx="3651895" cy="887937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marL="0" indent="0" algn="l">
              <a:lnSpc>
                <a:spcPct val="112000"/>
              </a:lnSpc>
              <a:buNone/>
              <a:defRPr/>
            </a:pPr>
            <a:r>
              <a:rPr lang="en-US" sz="13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NAMASTE and ICD-11 currently work independently, causing manual dual coding inconsistencies. This proposed system uses a hybrid symbolic and neural approach to bridge this gap.</a:t>
            </a:r>
            <a:endParaRPr sz="1300"/>
          </a:p>
        </p:txBody>
      </p:sp>
      <p:sp>
        <p:nvSpPr>
          <p:cNvPr id="1838377979" name="Text 2"/>
          <p:cNvSpPr/>
          <p:nvPr/>
        </p:nvSpPr>
        <p:spPr bwMode="auto">
          <a:xfrm>
            <a:off x="778228" y="2876162"/>
            <a:ext cx="1252332" cy="238103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p>
            <a:pPr marL="0" indent="0" algn="l">
              <a:lnSpc>
                <a:spcPct val="120000"/>
              </a:lnSpc>
              <a:buNone/>
              <a:defRPr/>
            </a:pPr>
            <a:r>
              <a:rPr lang="en-US" sz="13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Key Technologies:</a:t>
            </a:r>
            <a:endParaRPr sz="1300" b="0"/>
          </a:p>
        </p:txBody>
      </p:sp>
      <p:sp>
        <p:nvSpPr>
          <p:cNvPr id="1610276613" name="Text 3"/>
          <p:cNvSpPr/>
          <p:nvPr/>
        </p:nvSpPr>
        <p:spPr bwMode="auto">
          <a:xfrm>
            <a:off x="1010703" y="3233318"/>
            <a:ext cx="2039714" cy="238103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p>
            <a:pPr marL="127000" indent="-127000" algn="l">
              <a:lnSpc>
                <a:spcPct val="120000"/>
              </a:lnSpc>
              <a:buSzPct val="100000"/>
              <a:buChar char="•"/>
              <a:defRPr/>
            </a:pPr>
            <a:r>
              <a:rPr lang="en-US" sz="13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FHIR R4 for Interoperability</a:t>
            </a:r>
            <a:endParaRPr sz="1300"/>
          </a:p>
        </p:txBody>
      </p:sp>
      <p:sp>
        <p:nvSpPr>
          <p:cNvPr id="1987595308" name="Text 4"/>
          <p:cNvSpPr/>
          <p:nvPr/>
        </p:nvSpPr>
        <p:spPr bwMode="auto">
          <a:xfrm>
            <a:off x="1010703" y="3476040"/>
            <a:ext cx="3254894" cy="238103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p>
            <a:pPr marL="127000" indent="-127000" algn="l">
              <a:lnSpc>
                <a:spcPct val="120000"/>
              </a:lnSpc>
              <a:buSzPct val="100000"/>
              <a:buChar char="•"/>
              <a:defRPr/>
            </a:pPr>
            <a:r>
              <a:rPr lang="en-US" sz="13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BioClinical BERT for Semantic Understanding</a:t>
            </a:r>
            <a:endParaRPr sz="1300"/>
          </a:p>
        </p:txBody>
      </p:sp>
      <p:sp>
        <p:nvSpPr>
          <p:cNvPr id="829638462" name="Text 5"/>
          <p:cNvSpPr/>
          <p:nvPr/>
        </p:nvSpPr>
        <p:spPr bwMode="auto">
          <a:xfrm>
            <a:off x="1010703" y="3714144"/>
            <a:ext cx="2749763" cy="238103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p>
            <a:pPr marL="127000" indent="-127000" algn="l">
              <a:lnSpc>
                <a:spcPct val="120000"/>
              </a:lnSpc>
              <a:buSzPct val="100000"/>
              <a:buChar char="•"/>
              <a:defRPr/>
            </a:pPr>
            <a:r>
              <a:rPr lang="en-US" sz="13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Explainable AI (XAI) for Transparency</a:t>
            </a:r>
            <a:endParaRPr sz="1300"/>
          </a:p>
        </p:txBody>
      </p:sp>
      <p:sp>
        <p:nvSpPr>
          <p:cNvPr id="1512708450" name="Text 6"/>
          <p:cNvSpPr/>
          <p:nvPr/>
        </p:nvSpPr>
        <p:spPr bwMode="auto">
          <a:xfrm>
            <a:off x="1010703" y="3996569"/>
            <a:ext cx="2557737" cy="238103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p>
            <a:pPr marL="127000" indent="-127000" algn="l">
              <a:lnSpc>
                <a:spcPct val="120000"/>
              </a:lnSpc>
              <a:buSzPct val="100000"/>
              <a:buChar char="•"/>
              <a:defRPr/>
            </a:pPr>
            <a:r>
              <a:rPr lang="en-US" sz="13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OAuth2 Security for Data Protection</a:t>
            </a:r>
            <a:endParaRPr sz="1300"/>
          </a:p>
        </p:txBody>
      </p:sp>
      <p:sp>
        <p:nvSpPr>
          <p:cNvPr id="1798369458" name="Text 7"/>
          <p:cNvSpPr/>
          <p:nvPr/>
        </p:nvSpPr>
        <p:spPr bwMode="auto">
          <a:xfrm>
            <a:off x="779798" y="4333633"/>
            <a:ext cx="3650815" cy="666042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marL="0" indent="0" algn="l">
              <a:lnSpc>
                <a:spcPct val="112000"/>
              </a:lnSpc>
              <a:buNone/>
              <a:defRPr/>
            </a:pPr>
            <a:r>
              <a:rPr lang="en-US" sz="13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The system achieves high accuracy in suggesting ICD-11 codes for NAMASTE diagnoses, stored as FHIR ConceptMap resources.</a:t>
            </a:r>
            <a:endParaRPr sz="1300"/>
          </a:p>
        </p:txBody>
      </p:sp>
      <p:sp>
        <p:nvSpPr>
          <p:cNvPr id="1003004500" name="Text 8"/>
          <p:cNvSpPr/>
          <p:nvPr/>
        </p:nvSpPr>
        <p:spPr bwMode="auto">
          <a:xfrm>
            <a:off x="5811384" y="2194916"/>
            <a:ext cx="1517797" cy="238103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p>
            <a:pPr marL="0" indent="0" algn="l">
              <a:lnSpc>
                <a:spcPct val="120000"/>
              </a:lnSpc>
              <a:buNone/>
              <a:defRPr/>
            </a:pPr>
            <a:r>
              <a:rPr lang="en-US" sz="13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Performance Accuracy</a:t>
            </a:r>
            <a:endParaRPr sz="1300" b="0"/>
          </a:p>
        </p:txBody>
      </p:sp>
      <p:pic>
        <p:nvPicPr>
          <p:cNvPr id="1743126918" name="Image 2" descr="preencoded.png"/>
          <p:cNvPicPr>
            <a:picLocks noChangeAspect="1"/>
          </p:cNvPicPr>
          <p:nvPr/>
        </p:nvPicPr>
        <p:blipFill rotWithShape="1">
          <a:blip r:embed="rId5"/>
          <a:stretch/>
        </p:blipFill>
        <p:spPr bwMode="auto">
          <a:xfrm>
            <a:off x="4686300" y="2523530"/>
            <a:ext cx="3650456" cy="2143125"/>
          </a:xfrm>
          <a:prstGeom prst="rect">
            <a:avLst/>
          </a:prstGeom>
        </p:spPr>
      </p:pic>
      <p:sp>
        <p:nvSpPr>
          <p:cNvPr id="1279041949" name="Text 9"/>
          <p:cNvSpPr/>
          <p:nvPr/>
        </p:nvSpPr>
        <p:spPr bwMode="auto">
          <a:xfrm>
            <a:off x="8972550" y="5127427"/>
            <a:ext cx="63500" cy="13716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p>
            <a:pPr marL="0" indent="0" algn="l">
              <a:lnSpc>
                <a:spcPct val="120000"/>
              </a:lnSpc>
              <a:buNone/>
              <a:defRPr/>
            </a:pPr>
            <a:r>
              <a:rPr lang="en-US" sz="850">
                <a:solidFill>
                  <a:srgbClr val="898989"/>
                </a:solidFill>
                <a:latin typeface="Calibri"/>
                <a:ea typeface="Calibri"/>
                <a:cs typeface="Calibri"/>
              </a:rPr>
              <a:t>3</a:t>
            </a:r>
            <a:endParaRPr lang="en-US" sz="85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4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880045997" name="Image 0" descr="preencoded.png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922955494" name="Text 0"/>
          <p:cNvSpPr/>
          <p:nvPr/>
        </p:nvSpPr>
        <p:spPr bwMode="auto">
          <a:xfrm>
            <a:off x="228600" y="488010"/>
            <a:ext cx="2409533" cy="411839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p>
            <a:pPr marL="0" indent="0" algn="l">
              <a:lnSpc>
                <a:spcPct val="100000"/>
              </a:lnSpc>
              <a:buNone/>
              <a:defRPr/>
            </a:pPr>
            <a:r>
              <a:rPr lang="en-US" sz="27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Literature Survey</a:t>
            </a:r>
            <a:endParaRPr sz="2700"/>
          </a:p>
        </p:txBody>
      </p:sp>
      <p:sp>
        <p:nvSpPr>
          <p:cNvPr id="1216887115" name="Shape 1"/>
          <p:cNvSpPr/>
          <p:nvPr/>
        </p:nvSpPr>
        <p:spPr bwMode="auto">
          <a:xfrm>
            <a:off x="114300" y="1144786"/>
            <a:ext cx="642938" cy="614363"/>
          </a:xfrm>
          <a:prstGeom prst="rect">
            <a:avLst/>
          </a:prstGeom>
          <a:solidFill>
            <a:srgbClr val="000000"/>
          </a:solidFill>
        </p:spPr>
      </p:sp>
      <p:sp>
        <p:nvSpPr>
          <p:cNvPr id="1904760693" name="Shape 2"/>
          <p:cNvSpPr/>
          <p:nvPr/>
        </p:nvSpPr>
        <p:spPr bwMode="auto">
          <a:xfrm>
            <a:off x="750094" y="1144786"/>
            <a:ext cx="7144" cy="614363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1634117485" name="Text 3"/>
          <p:cNvSpPr/>
          <p:nvPr/>
        </p:nvSpPr>
        <p:spPr bwMode="auto">
          <a:xfrm>
            <a:off x="315663" y="1294804"/>
            <a:ext cx="315106" cy="13447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p>
            <a:pPr marL="0" indent="0" algn="l">
              <a:lnSpc>
                <a:spcPct val="80000"/>
              </a:lnSpc>
              <a:buNone/>
              <a:defRPr/>
            </a:pPr>
            <a:r>
              <a:rPr lang="en-US" sz="11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S.NO</a:t>
            </a:r>
            <a:endParaRPr lang="en-US" sz="1100"/>
          </a:p>
        </p:txBody>
      </p:sp>
      <p:sp>
        <p:nvSpPr>
          <p:cNvPr id="538691134" name="Text 4"/>
          <p:cNvSpPr/>
          <p:nvPr/>
        </p:nvSpPr>
        <p:spPr bwMode="auto">
          <a:xfrm>
            <a:off x="374627" y="1451966"/>
            <a:ext cx="756" cy="13447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p>
            <a:pPr marL="0" indent="0" algn="l">
              <a:lnSpc>
                <a:spcPct val="80000"/>
              </a:lnSpc>
              <a:buNone/>
              <a:defRPr/>
            </a:pPr>
            <a:endParaRPr lang="en-US" sz="1100"/>
          </a:p>
        </p:txBody>
      </p:sp>
      <p:sp>
        <p:nvSpPr>
          <p:cNvPr id="428233343" name="Shape 5"/>
          <p:cNvSpPr/>
          <p:nvPr/>
        </p:nvSpPr>
        <p:spPr bwMode="auto">
          <a:xfrm>
            <a:off x="757238" y="1144786"/>
            <a:ext cx="2571750" cy="614363"/>
          </a:xfrm>
          <a:prstGeom prst="rect">
            <a:avLst/>
          </a:prstGeom>
          <a:solidFill>
            <a:srgbClr val="000000"/>
          </a:solidFill>
        </p:spPr>
      </p:sp>
      <p:sp>
        <p:nvSpPr>
          <p:cNvPr id="2029060632" name="Shape 6"/>
          <p:cNvSpPr/>
          <p:nvPr/>
        </p:nvSpPr>
        <p:spPr bwMode="auto">
          <a:xfrm>
            <a:off x="3321844" y="1144786"/>
            <a:ext cx="7144" cy="614363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548005159" name="Text 7"/>
          <p:cNvSpPr/>
          <p:nvPr/>
        </p:nvSpPr>
        <p:spPr bwMode="auto">
          <a:xfrm>
            <a:off x="805834" y="1239094"/>
            <a:ext cx="2572110" cy="238103"/>
          </a:xfrm>
          <a:prstGeom prst="rect">
            <a:avLst/>
          </a:prstGeom>
          <a:noFill/>
        </p:spPr>
        <p:txBody>
          <a:bodyPr wrap="square" lIns="204089" tIns="0" rIns="0" bIns="0" rtlCol="0" anchor="t">
            <a:spAutoFit/>
          </a:bodyPr>
          <a:p>
            <a:pPr marL="0" indent="0" algn="l">
              <a:lnSpc>
                <a:spcPct val="120000"/>
              </a:lnSpc>
              <a:buNone/>
              <a:defRPr/>
            </a:pPr>
            <a:r>
              <a:rPr lang="en-US" sz="13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Title, Author, Year</a:t>
            </a:r>
            <a:endParaRPr sz="1300"/>
          </a:p>
        </p:txBody>
      </p:sp>
      <p:sp>
        <p:nvSpPr>
          <p:cNvPr id="1140660201" name="Shape 8"/>
          <p:cNvSpPr/>
          <p:nvPr/>
        </p:nvSpPr>
        <p:spPr bwMode="auto">
          <a:xfrm>
            <a:off x="3328988" y="1144786"/>
            <a:ext cx="1571625" cy="614363"/>
          </a:xfrm>
          <a:prstGeom prst="rect">
            <a:avLst/>
          </a:prstGeom>
          <a:solidFill>
            <a:srgbClr val="000000"/>
          </a:solidFill>
        </p:spPr>
      </p:sp>
      <p:sp>
        <p:nvSpPr>
          <p:cNvPr id="1649020707" name="Shape 9"/>
          <p:cNvSpPr/>
          <p:nvPr/>
        </p:nvSpPr>
        <p:spPr bwMode="auto">
          <a:xfrm>
            <a:off x="4893469" y="1144786"/>
            <a:ext cx="7144" cy="614363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419440643" name="Text 10"/>
          <p:cNvSpPr/>
          <p:nvPr/>
        </p:nvSpPr>
        <p:spPr bwMode="auto">
          <a:xfrm>
            <a:off x="3377944" y="1213862"/>
            <a:ext cx="1571985" cy="238103"/>
          </a:xfrm>
          <a:prstGeom prst="rect">
            <a:avLst/>
          </a:prstGeom>
          <a:noFill/>
        </p:spPr>
        <p:txBody>
          <a:bodyPr wrap="square" lIns="204089" tIns="0" rIns="0" bIns="0" rtlCol="0" anchor="t">
            <a:spAutoFit/>
          </a:bodyPr>
          <a:p>
            <a:pPr marL="0" indent="0" algn="l">
              <a:lnSpc>
                <a:spcPct val="120000"/>
              </a:lnSpc>
              <a:buNone/>
              <a:defRPr/>
            </a:pPr>
            <a:r>
              <a:rPr lang="en-US" sz="13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Technique used</a:t>
            </a:r>
            <a:endParaRPr sz="1300"/>
          </a:p>
        </p:txBody>
      </p:sp>
      <p:sp>
        <p:nvSpPr>
          <p:cNvPr id="180813254" name="Shape 11"/>
          <p:cNvSpPr/>
          <p:nvPr/>
        </p:nvSpPr>
        <p:spPr bwMode="auto">
          <a:xfrm>
            <a:off x="4900613" y="1144786"/>
            <a:ext cx="3000375" cy="614363"/>
          </a:xfrm>
          <a:prstGeom prst="rect">
            <a:avLst/>
          </a:prstGeom>
          <a:solidFill>
            <a:srgbClr val="000000"/>
          </a:solidFill>
        </p:spPr>
      </p:sp>
      <p:sp>
        <p:nvSpPr>
          <p:cNvPr id="1075670856" name="Shape 12"/>
          <p:cNvSpPr/>
          <p:nvPr/>
        </p:nvSpPr>
        <p:spPr bwMode="auto">
          <a:xfrm>
            <a:off x="7893844" y="1144786"/>
            <a:ext cx="7144" cy="614363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1249453788" name="Text 13"/>
          <p:cNvSpPr/>
          <p:nvPr/>
        </p:nvSpPr>
        <p:spPr bwMode="auto">
          <a:xfrm>
            <a:off x="5619847" y="1213862"/>
            <a:ext cx="3000735" cy="238103"/>
          </a:xfrm>
          <a:prstGeom prst="rect">
            <a:avLst/>
          </a:prstGeom>
          <a:noFill/>
        </p:spPr>
        <p:txBody>
          <a:bodyPr wrap="square" lIns="204089" tIns="0" rIns="0" bIns="0" rtlCol="0" anchor="t">
            <a:spAutoFit/>
          </a:bodyPr>
          <a:p>
            <a:pPr marL="0" indent="0" algn="l">
              <a:lnSpc>
                <a:spcPct val="120000"/>
              </a:lnSpc>
              <a:buNone/>
              <a:defRPr/>
            </a:pPr>
            <a:r>
              <a:rPr lang="en-US" sz="13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Description</a:t>
            </a:r>
            <a:endParaRPr sz="1300"/>
          </a:p>
        </p:txBody>
      </p:sp>
      <p:sp>
        <p:nvSpPr>
          <p:cNvPr id="1218079317" name="Shape 14"/>
          <p:cNvSpPr/>
          <p:nvPr/>
        </p:nvSpPr>
        <p:spPr bwMode="auto">
          <a:xfrm>
            <a:off x="7900988" y="1144786"/>
            <a:ext cx="1214438" cy="614363"/>
          </a:xfrm>
          <a:prstGeom prst="rect">
            <a:avLst/>
          </a:prstGeom>
          <a:solidFill>
            <a:srgbClr val="000000"/>
          </a:solidFill>
        </p:spPr>
      </p:sp>
      <p:sp>
        <p:nvSpPr>
          <p:cNvPr id="775920055" name="Text 15"/>
          <p:cNvSpPr/>
          <p:nvPr/>
        </p:nvSpPr>
        <p:spPr bwMode="auto">
          <a:xfrm>
            <a:off x="7900987" y="1213862"/>
            <a:ext cx="1214797" cy="238103"/>
          </a:xfrm>
          <a:prstGeom prst="rect">
            <a:avLst/>
          </a:prstGeom>
          <a:noFill/>
        </p:spPr>
        <p:txBody>
          <a:bodyPr wrap="square" lIns="204089" tIns="0" rIns="0" bIns="0" rtlCol="0" anchor="t">
            <a:spAutoFit/>
          </a:bodyPr>
          <a:p>
            <a:pPr marL="0" indent="0" algn="l">
              <a:lnSpc>
                <a:spcPct val="120000"/>
              </a:lnSpc>
              <a:buNone/>
              <a:defRPr/>
            </a:pPr>
            <a:r>
              <a:rPr lang="en-US" sz="13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Remarks</a:t>
            </a:r>
            <a:endParaRPr sz="1300"/>
          </a:p>
        </p:txBody>
      </p:sp>
      <p:sp>
        <p:nvSpPr>
          <p:cNvPr id="18510453" name="Shape 16"/>
          <p:cNvSpPr/>
          <p:nvPr/>
        </p:nvSpPr>
        <p:spPr bwMode="auto">
          <a:xfrm>
            <a:off x="114300" y="1759148"/>
            <a:ext cx="642938" cy="1428750"/>
          </a:xfrm>
          <a:prstGeom prst="rect">
            <a:avLst/>
          </a:prstGeom>
          <a:solidFill>
            <a:srgbClr val="CBCBCB"/>
          </a:solidFill>
        </p:spPr>
      </p:sp>
      <p:sp>
        <p:nvSpPr>
          <p:cNvPr id="1867087533" name="Shape 17"/>
          <p:cNvSpPr/>
          <p:nvPr/>
        </p:nvSpPr>
        <p:spPr bwMode="auto">
          <a:xfrm>
            <a:off x="750094" y="1759148"/>
            <a:ext cx="7144" cy="1428750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363744057" name="Text 18"/>
          <p:cNvSpPr/>
          <p:nvPr/>
        </p:nvSpPr>
        <p:spPr bwMode="auto">
          <a:xfrm>
            <a:off x="114300" y="1759147"/>
            <a:ext cx="643297" cy="410697"/>
          </a:xfrm>
          <a:prstGeom prst="rect">
            <a:avLst/>
          </a:prstGeom>
          <a:noFill/>
        </p:spPr>
        <p:txBody>
          <a:bodyPr wrap="square" lIns="136017" tIns="136017" rIns="0" bIns="0" rtlCol="0" anchor="t">
            <a:spAutoFit/>
          </a:bodyPr>
          <a:p>
            <a:pPr marL="0" indent="0" algn="l">
              <a:lnSpc>
                <a:spcPct val="120000"/>
              </a:lnSpc>
              <a:buNone/>
              <a:defRPr/>
            </a:pPr>
            <a:r>
              <a:rPr lang="en-US" sz="15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1</a:t>
            </a:r>
            <a:endParaRPr lang="en-US" sz="1500"/>
          </a:p>
        </p:txBody>
      </p:sp>
      <p:sp>
        <p:nvSpPr>
          <p:cNvPr id="740731152" name="Shape 19"/>
          <p:cNvSpPr/>
          <p:nvPr/>
        </p:nvSpPr>
        <p:spPr bwMode="auto">
          <a:xfrm>
            <a:off x="757238" y="1759148"/>
            <a:ext cx="2571750" cy="1428750"/>
          </a:xfrm>
          <a:prstGeom prst="rect">
            <a:avLst/>
          </a:prstGeom>
          <a:solidFill>
            <a:srgbClr val="CBCBCB"/>
          </a:solidFill>
        </p:spPr>
      </p:sp>
      <p:sp>
        <p:nvSpPr>
          <p:cNvPr id="552336448" name="Shape 20"/>
          <p:cNvSpPr/>
          <p:nvPr/>
        </p:nvSpPr>
        <p:spPr bwMode="auto">
          <a:xfrm>
            <a:off x="3321844" y="1759148"/>
            <a:ext cx="7144" cy="1428750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1386774928" name="Text 21"/>
          <p:cNvSpPr/>
          <p:nvPr/>
        </p:nvSpPr>
        <p:spPr bwMode="auto">
          <a:xfrm>
            <a:off x="757237" y="1759147"/>
            <a:ext cx="2573550" cy="410697"/>
          </a:xfrm>
          <a:prstGeom prst="rect">
            <a:avLst/>
          </a:prstGeom>
          <a:noFill/>
        </p:spPr>
        <p:txBody>
          <a:bodyPr wrap="square" lIns="204089" tIns="136017" rIns="0" bIns="0" rtlCol="0" anchor="t">
            <a:spAutoFit/>
          </a:bodyPr>
          <a:p>
            <a:pPr marL="0" indent="0" algn="l">
              <a:lnSpc>
                <a:spcPct val="120000"/>
              </a:lnSpc>
              <a:buNone/>
              <a:defRPr/>
            </a:pPr>
            <a:r>
              <a:rPr sz="15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M. Li et al.,</a:t>
            </a:r>
            <a:r>
              <a:rPr lang="en-US" sz="15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2019</a:t>
            </a:r>
            <a:endParaRPr lang="en-US" sz="1150"/>
          </a:p>
        </p:txBody>
      </p:sp>
      <p:sp>
        <p:nvSpPr>
          <p:cNvPr id="1393724580" name="Shape 22"/>
          <p:cNvSpPr/>
          <p:nvPr/>
        </p:nvSpPr>
        <p:spPr bwMode="auto">
          <a:xfrm>
            <a:off x="3328988" y="1759148"/>
            <a:ext cx="1571625" cy="1428750"/>
          </a:xfrm>
          <a:prstGeom prst="rect">
            <a:avLst/>
          </a:prstGeom>
          <a:solidFill>
            <a:srgbClr val="CBCBCB"/>
          </a:solidFill>
        </p:spPr>
      </p:sp>
      <p:sp>
        <p:nvSpPr>
          <p:cNvPr id="1473243717" name="Shape 23"/>
          <p:cNvSpPr/>
          <p:nvPr/>
        </p:nvSpPr>
        <p:spPr bwMode="auto">
          <a:xfrm>
            <a:off x="4893469" y="1759148"/>
            <a:ext cx="7144" cy="1428750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1360268564" name="Text 24"/>
          <p:cNvSpPr/>
          <p:nvPr/>
        </p:nvSpPr>
        <p:spPr bwMode="auto">
          <a:xfrm>
            <a:off x="3328987" y="1759147"/>
            <a:ext cx="1572704" cy="685017"/>
          </a:xfrm>
          <a:prstGeom prst="rect">
            <a:avLst/>
          </a:prstGeom>
          <a:noFill/>
        </p:spPr>
        <p:txBody>
          <a:bodyPr wrap="square" lIns="204089" tIns="136017" rIns="0" bIns="0" rtlCol="0" anchor="t">
            <a:spAutoFit/>
          </a:bodyPr>
          <a:p>
            <a:pPr marL="0" indent="0" algn="l">
              <a:lnSpc>
                <a:spcPct val="120000"/>
              </a:lnSpc>
              <a:buNone/>
              <a:defRPr/>
            </a:pPr>
            <a:r>
              <a:rPr lang="en-US" sz="15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CNN &amp; Deep Learning</a:t>
            </a:r>
            <a:endParaRPr sz="1500"/>
          </a:p>
        </p:txBody>
      </p:sp>
      <p:sp>
        <p:nvSpPr>
          <p:cNvPr id="1281797156" name="Shape 25"/>
          <p:cNvSpPr/>
          <p:nvPr/>
        </p:nvSpPr>
        <p:spPr bwMode="auto">
          <a:xfrm>
            <a:off x="4900613" y="1759148"/>
            <a:ext cx="3000375" cy="1428750"/>
          </a:xfrm>
          <a:prstGeom prst="rect">
            <a:avLst/>
          </a:prstGeom>
          <a:solidFill>
            <a:srgbClr val="CBCBCB"/>
          </a:solidFill>
        </p:spPr>
      </p:sp>
      <p:sp>
        <p:nvSpPr>
          <p:cNvPr id="1613208024" name="Shape 26"/>
          <p:cNvSpPr/>
          <p:nvPr/>
        </p:nvSpPr>
        <p:spPr bwMode="auto">
          <a:xfrm>
            <a:off x="7893844" y="1759148"/>
            <a:ext cx="7144" cy="1428750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2129950803" name="Text 27"/>
          <p:cNvSpPr/>
          <p:nvPr/>
        </p:nvSpPr>
        <p:spPr bwMode="auto">
          <a:xfrm>
            <a:off x="4900612" y="1759147"/>
            <a:ext cx="3000735" cy="685017"/>
          </a:xfrm>
          <a:prstGeom prst="rect">
            <a:avLst/>
          </a:prstGeom>
          <a:noFill/>
        </p:spPr>
        <p:txBody>
          <a:bodyPr wrap="square" lIns="204089" tIns="136017" rIns="0" bIns="0" rtlCol="0" anchor="t">
            <a:spAutoFit/>
          </a:bodyPr>
          <a:p>
            <a:pPr marL="0" indent="0" algn="l">
              <a:lnSpc>
                <a:spcPct val="120000"/>
              </a:lnSpc>
              <a:buNone/>
              <a:defRPr/>
            </a:pPr>
            <a:r>
              <a:rPr lang="en-US" sz="15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Automated ICD coding system for clinical records.</a:t>
            </a:r>
            <a:endParaRPr sz="1500"/>
          </a:p>
        </p:txBody>
      </p:sp>
      <p:sp>
        <p:nvSpPr>
          <p:cNvPr id="1392205544" name="Shape 28"/>
          <p:cNvSpPr/>
          <p:nvPr/>
        </p:nvSpPr>
        <p:spPr bwMode="auto">
          <a:xfrm>
            <a:off x="7900988" y="1759148"/>
            <a:ext cx="1214438" cy="1428750"/>
          </a:xfrm>
          <a:prstGeom prst="rect">
            <a:avLst/>
          </a:prstGeom>
          <a:solidFill>
            <a:srgbClr val="CBCBCB"/>
          </a:solidFill>
        </p:spPr>
      </p:sp>
      <p:sp>
        <p:nvSpPr>
          <p:cNvPr id="241240834" name="Text 29"/>
          <p:cNvSpPr/>
          <p:nvPr/>
        </p:nvSpPr>
        <p:spPr bwMode="auto">
          <a:xfrm>
            <a:off x="7900987" y="1759147"/>
            <a:ext cx="1214797" cy="685017"/>
          </a:xfrm>
          <a:prstGeom prst="rect">
            <a:avLst/>
          </a:prstGeom>
          <a:noFill/>
        </p:spPr>
        <p:txBody>
          <a:bodyPr wrap="square" lIns="204089" tIns="136017" rIns="0" bIns="0" rtlCol="0" anchor="t">
            <a:spAutoFit/>
          </a:bodyPr>
          <a:p>
            <a:pPr marL="0" indent="0" algn="l">
              <a:lnSpc>
                <a:spcPct val="120000"/>
              </a:lnSpc>
              <a:buNone/>
              <a:defRPr/>
            </a:pPr>
            <a:r>
              <a:rPr lang="en-US" sz="15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Good accuracy</a:t>
            </a:r>
            <a:endParaRPr sz="1500"/>
          </a:p>
        </p:txBody>
      </p:sp>
      <p:sp>
        <p:nvSpPr>
          <p:cNvPr id="1244852078" name="Shape 30"/>
          <p:cNvSpPr/>
          <p:nvPr/>
        </p:nvSpPr>
        <p:spPr bwMode="auto">
          <a:xfrm>
            <a:off x="114300" y="3187898"/>
            <a:ext cx="642938" cy="1428750"/>
          </a:xfrm>
          <a:prstGeom prst="rect">
            <a:avLst/>
          </a:prstGeom>
          <a:solidFill>
            <a:srgbClr val="E7E7E7"/>
          </a:solidFill>
        </p:spPr>
      </p:sp>
      <p:sp>
        <p:nvSpPr>
          <p:cNvPr id="1424243854" name="Shape 31"/>
          <p:cNvSpPr/>
          <p:nvPr/>
        </p:nvSpPr>
        <p:spPr bwMode="auto">
          <a:xfrm>
            <a:off x="750094" y="3187898"/>
            <a:ext cx="7144" cy="1428750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1867726790" name="Text 32"/>
          <p:cNvSpPr/>
          <p:nvPr/>
        </p:nvSpPr>
        <p:spPr bwMode="auto">
          <a:xfrm>
            <a:off x="114300" y="3187897"/>
            <a:ext cx="643297" cy="410697"/>
          </a:xfrm>
          <a:prstGeom prst="rect">
            <a:avLst/>
          </a:prstGeom>
          <a:noFill/>
        </p:spPr>
        <p:txBody>
          <a:bodyPr wrap="square" lIns="136017" tIns="136017" rIns="0" bIns="0" rtlCol="0" anchor="t">
            <a:spAutoFit/>
          </a:bodyPr>
          <a:p>
            <a:pPr marL="0" indent="0" algn="l">
              <a:lnSpc>
                <a:spcPct val="120000"/>
              </a:lnSpc>
              <a:buNone/>
              <a:defRPr/>
            </a:pPr>
            <a:r>
              <a:rPr lang="en-US" sz="15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2</a:t>
            </a:r>
            <a:endParaRPr lang="en-US" sz="1500"/>
          </a:p>
        </p:txBody>
      </p:sp>
      <p:sp>
        <p:nvSpPr>
          <p:cNvPr id="977126619" name="Shape 33"/>
          <p:cNvSpPr/>
          <p:nvPr/>
        </p:nvSpPr>
        <p:spPr bwMode="auto">
          <a:xfrm>
            <a:off x="757238" y="3187898"/>
            <a:ext cx="2571750" cy="1428750"/>
          </a:xfrm>
          <a:prstGeom prst="rect">
            <a:avLst/>
          </a:prstGeom>
          <a:solidFill>
            <a:srgbClr val="E7E7E7"/>
          </a:solidFill>
        </p:spPr>
      </p:sp>
      <p:sp>
        <p:nvSpPr>
          <p:cNvPr id="438765343" name="Shape 34"/>
          <p:cNvSpPr/>
          <p:nvPr/>
        </p:nvSpPr>
        <p:spPr bwMode="auto">
          <a:xfrm>
            <a:off x="3321844" y="3187898"/>
            <a:ext cx="7144" cy="1428750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342081335" name="Text 35"/>
          <p:cNvSpPr/>
          <p:nvPr/>
        </p:nvSpPr>
        <p:spPr bwMode="auto">
          <a:xfrm>
            <a:off x="757237" y="3187897"/>
            <a:ext cx="2573550" cy="410697"/>
          </a:xfrm>
          <a:prstGeom prst="rect">
            <a:avLst/>
          </a:prstGeom>
          <a:noFill/>
        </p:spPr>
        <p:txBody>
          <a:bodyPr wrap="square" lIns="204089" tIns="136017" rIns="0" bIns="0" rtlCol="0" anchor="t">
            <a:spAutoFit/>
          </a:bodyPr>
          <a:p>
            <a:pPr marL="0" indent="0" algn="l">
              <a:lnSpc>
                <a:spcPct val="120000"/>
              </a:lnSpc>
              <a:buNone/>
              <a:defRPr/>
            </a:pPr>
            <a:r>
              <a:rPr sz="15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J. Carberry</a:t>
            </a:r>
            <a:r>
              <a:rPr lang="en-US" sz="15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et al., 2024</a:t>
            </a:r>
            <a:endParaRPr lang="en-US" sz="1150"/>
          </a:p>
        </p:txBody>
      </p:sp>
      <p:sp>
        <p:nvSpPr>
          <p:cNvPr id="2038359472" name="Shape 36"/>
          <p:cNvSpPr/>
          <p:nvPr/>
        </p:nvSpPr>
        <p:spPr bwMode="auto">
          <a:xfrm>
            <a:off x="3328988" y="3187898"/>
            <a:ext cx="1571625" cy="1428750"/>
          </a:xfrm>
          <a:prstGeom prst="rect">
            <a:avLst/>
          </a:prstGeom>
          <a:solidFill>
            <a:srgbClr val="E7E7E7"/>
          </a:solidFill>
        </p:spPr>
      </p:sp>
      <p:sp>
        <p:nvSpPr>
          <p:cNvPr id="319434261" name="Shape 37"/>
          <p:cNvSpPr/>
          <p:nvPr/>
        </p:nvSpPr>
        <p:spPr bwMode="auto">
          <a:xfrm>
            <a:off x="4893469" y="3187898"/>
            <a:ext cx="7144" cy="1428750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2080757821" name="Text 38"/>
          <p:cNvSpPr/>
          <p:nvPr/>
        </p:nvSpPr>
        <p:spPr bwMode="auto">
          <a:xfrm>
            <a:off x="3328987" y="3187897"/>
            <a:ext cx="1571985" cy="410697"/>
          </a:xfrm>
          <a:prstGeom prst="rect">
            <a:avLst/>
          </a:prstGeom>
          <a:noFill/>
        </p:spPr>
        <p:txBody>
          <a:bodyPr wrap="square" lIns="204089" tIns="136017" rIns="0" bIns="0" rtlCol="0" anchor="t">
            <a:spAutoFit/>
          </a:bodyPr>
          <a:p>
            <a:pPr marL="0" indent="0" algn="l">
              <a:lnSpc>
                <a:spcPct val="120000"/>
              </a:lnSpc>
              <a:buNone/>
              <a:defRPr/>
            </a:pPr>
            <a:r>
              <a:rPr lang="en-US" sz="15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Hierarchical DL</a:t>
            </a:r>
            <a:endParaRPr sz="1500"/>
          </a:p>
        </p:txBody>
      </p:sp>
      <p:sp>
        <p:nvSpPr>
          <p:cNvPr id="1887150315" name="Shape 39"/>
          <p:cNvSpPr/>
          <p:nvPr/>
        </p:nvSpPr>
        <p:spPr bwMode="auto">
          <a:xfrm>
            <a:off x="4900613" y="3187898"/>
            <a:ext cx="3000375" cy="1428750"/>
          </a:xfrm>
          <a:prstGeom prst="rect">
            <a:avLst/>
          </a:prstGeom>
          <a:solidFill>
            <a:srgbClr val="E7E7E7"/>
          </a:solidFill>
        </p:spPr>
      </p:sp>
      <p:sp>
        <p:nvSpPr>
          <p:cNvPr id="1100183055" name="Shape 40"/>
          <p:cNvSpPr/>
          <p:nvPr/>
        </p:nvSpPr>
        <p:spPr bwMode="auto">
          <a:xfrm>
            <a:off x="7893844" y="3187898"/>
            <a:ext cx="7144" cy="1428750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609643084" name="Text 41"/>
          <p:cNvSpPr/>
          <p:nvPr/>
        </p:nvSpPr>
        <p:spPr bwMode="auto">
          <a:xfrm>
            <a:off x="4900612" y="3187897"/>
            <a:ext cx="3000735" cy="685017"/>
          </a:xfrm>
          <a:prstGeom prst="rect">
            <a:avLst/>
          </a:prstGeom>
          <a:noFill/>
        </p:spPr>
        <p:txBody>
          <a:bodyPr wrap="square" lIns="204089" tIns="136017" rIns="0" bIns="0" rtlCol="0" anchor="t">
            <a:spAutoFit/>
          </a:bodyPr>
          <a:p>
            <a:pPr marL="0" indent="0" algn="l">
              <a:lnSpc>
                <a:spcPct val="120000"/>
              </a:lnSpc>
              <a:buNone/>
              <a:defRPr/>
            </a:pPr>
            <a:r>
              <a:rPr lang="en-US" sz="15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Fine-grained coding using hierarchical deep learning models.</a:t>
            </a:r>
            <a:endParaRPr sz="1500"/>
          </a:p>
        </p:txBody>
      </p:sp>
      <p:sp>
        <p:nvSpPr>
          <p:cNvPr id="1659098982" name="Shape 42"/>
          <p:cNvSpPr/>
          <p:nvPr/>
        </p:nvSpPr>
        <p:spPr bwMode="auto">
          <a:xfrm>
            <a:off x="7900988" y="3187898"/>
            <a:ext cx="1214438" cy="1428750"/>
          </a:xfrm>
          <a:prstGeom prst="rect">
            <a:avLst/>
          </a:prstGeom>
          <a:solidFill>
            <a:srgbClr val="E7E7E7"/>
          </a:solidFill>
        </p:spPr>
      </p:sp>
      <p:sp>
        <p:nvSpPr>
          <p:cNvPr id="674529822" name="Text 43"/>
          <p:cNvSpPr/>
          <p:nvPr/>
        </p:nvSpPr>
        <p:spPr bwMode="auto">
          <a:xfrm>
            <a:off x="7900987" y="3187897"/>
            <a:ext cx="1214797" cy="685017"/>
          </a:xfrm>
          <a:prstGeom prst="rect">
            <a:avLst/>
          </a:prstGeom>
          <a:noFill/>
        </p:spPr>
        <p:txBody>
          <a:bodyPr wrap="square" lIns="204089" tIns="136017" rIns="0" bIns="0" rtlCol="0" anchor="t">
            <a:spAutoFit/>
          </a:bodyPr>
          <a:p>
            <a:pPr marL="0" indent="0" algn="l">
              <a:lnSpc>
                <a:spcPct val="120000"/>
              </a:lnSpc>
              <a:buNone/>
              <a:defRPr/>
            </a:pPr>
            <a:r>
              <a:rPr lang="en-US" sz="15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Complex model</a:t>
            </a:r>
            <a:endParaRPr sz="1500"/>
          </a:p>
        </p:txBody>
      </p:sp>
      <p:sp>
        <p:nvSpPr>
          <p:cNvPr id="1211290709" name="Text 44"/>
          <p:cNvSpPr/>
          <p:nvPr/>
        </p:nvSpPr>
        <p:spPr bwMode="auto">
          <a:xfrm>
            <a:off x="8972550" y="4879181"/>
            <a:ext cx="63500" cy="13716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p>
            <a:pPr marL="0" indent="0" algn="l">
              <a:lnSpc>
                <a:spcPct val="120000"/>
              </a:lnSpc>
              <a:buNone/>
              <a:defRPr/>
            </a:pPr>
            <a:r>
              <a:rPr lang="en-US" sz="850">
                <a:solidFill>
                  <a:srgbClr val="898989"/>
                </a:solidFill>
                <a:latin typeface="Calibri"/>
                <a:ea typeface="Calibri"/>
                <a:cs typeface="Calibri"/>
              </a:rPr>
              <a:t>4</a:t>
            </a:r>
            <a:endParaRPr lang="en-US" sz="85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5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458762050" name="Image 0" descr="preencoded.png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0" y="0"/>
            <a:ext cx="9144000" cy="5257800"/>
          </a:xfrm>
          <a:prstGeom prst="rect">
            <a:avLst/>
          </a:prstGeom>
        </p:spPr>
      </p:pic>
      <p:sp>
        <p:nvSpPr>
          <p:cNvPr id="1737801283" name="Shape 0"/>
          <p:cNvSpPr/>
          <p:nvPr/>
        </p:nvSpPr>
        <p:spPr bwMode="auto">
          <a:xfrm>
            <a:off x="114300" y="500063"/>
            <a:ext cx="642938" cy="614363"/>
          </a:xfrm>
          <a:prstGeom prst="rect">
            <a:avLst/>
          </a:prstGeom>
          <a:solidFill>
            <a:srgbClr val="000000"/>
          </a:solidFill>
        </p:spPr>
      </p:sp>
      <p:sp>
        <p:nvSpPr>
          <p:cNvPr id="1369113971" name="Shape 1"/>
          <p:cNvSpPr/>
          <p:nvPr/>
        </p:nvSpPr>
        <p:spPr bwMode="auto">
          <a:xfrm>
            <a:off x="750094" y="500063"/>
            <a:ext cx="7144" cy="614363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2147413825" name="Text 2"/>
          <p:cNvSpPr/>
          <p:nvPr/>
        </p:nvSpPr>
        <p:spPr bwMode="auto">
          <a:xfrm>
            <a:off x="315663" y="650080"/>
            <a:ext cx="93215" cy="13447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p>
            <a:pPr marL="0" indent="0" algn="l">
              <a:lnSpc>
                <a:spcPct val="80000"/>
              </a:lnSpc>
              <a:buNone/>
              <a:defRPr/>
            </a:pPr>
            <a:r>
              <a:rPr lang="en-US" sz="1100"/>
              <a:t>O</a:t>
            </a:r>
            <a:endParaRPr lang="en-US" sz="1100"/>
          </a:p>
        </p:txBody>
      </p:sp>
      <p:sp>
        <p:nvSpPr>
          <p:cNvPr id="1200086503" name="Shape 4"/>
          <p:cNvSpPr/>
          <p:nvPr/>
        </p:nvSpPr>
        <p:spPr bwMode="auto">
          <a:xfrm>
            <a:off x="757238" y="500063"/>
            <a:ext cx="2571750" cy="614363"/>
          </a:xfrm>
          <a:prstGeom prst="rect">
            <a:avLst/>
          </a:prstGeom>
          <a:solidFill>
            <a:srgbClr val="000000"/>
          </a:solidFill>
        </p:spPr>
      </p:sp>
      <p:sp>
        <p:nvSpPr>
          <p:cNvPr id="2041743885" name="Shape 5"/>
          <p:cNvSpPr/>
          <p:nvPr/>
        </p:nvSpPr>
        <p:spPr bwMode="auto">
          <a:xfrm>
            <a:off x="3321844" y="500063"/>
            <a:ext cx="7144" cy="614363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2004330195" name="Text 6"/>
          <p:cNvSpPr/>
          <p:nvPr/>
        </p:nvSpPr>
        <p:spPr bwMode="auto">
          <a:xfrm>
            <a:off x="773797" y="609791"/>
            <a:ext cx="2572110" cy="238103"/>
          </a:xfrm>
          <a:prstGeom prst="rect">
            <a:avLst/>
          </a:prstGeom>
          <a:noFill/>
        </p:spPr>
        <p:txBody>
          <a:bodyPr wrap="square" lIns="204089" tIns="0" rIns="0" bIns="0" rtlCol="0" anchor="t">
            <a:spAutoFit/>
          </a:bodyPr>
          <a:p>
            <a:pPr marL="0" indent="0" algn="l">
              <a:lnSpc>
                <a:spcPct val="120000"/>
              </a:lnSpc>
              <a:buNone/>
              <a:defRPr/>
            </a:pPr>
            <a:r>
              <a:rPr lang="en-US" sz="13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Title, Author, Year</a:t>
            </a:r>
            <a:endParaRPr sz="1300"/>
          </a:p>
        </p:txBody>
      </p:sp>
      <p:sp>
        <p:nvSpPr>
          <p:cNvPr id="758224644" name="Shape 7"/>
          <p:cNvSpPr/>
          <p:nvPr/>
        </p:nvSpPr>
        <p:spPr bwMode="auto">
          <a:xfrm>
            <a:off x="3328988" y="500063"/>
            <a:ext cx="1571625" cy="614363"/>
          </a:xfrm>
          <a:prstGeom prst="rect">
            <a:avLst/>
          </a:prstGeom>
          <a:solidFill>
            <a:srgbClr val="000000"/>
          </a:solidFill>
        </p:spPr>
      </p:sp>
      <p:sp>
        <p:nvSpPr>
          <p:cNvPr id="362706605" name="Shape 8"/>
          <p:cNvSpPr/>
          <p:nvPr/>
        </p:nvSpPr>
        <p:spPr bwMode="auto">
          <a:xfrm>
            <a:off x="4893469" y="500063"/>
            <a:ext cx="7144" cy="614363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1645922323" name="Text 9"/>
          <p:cNvSpPr/>
          <p:nvPr/>
        </p:nvSpPr>
        <p:spPr bwMode="auto">
          <a:xfrm>
            <a:off x="3270671" y="606743"/>
            <a:ext cx="1571985" cy="238103"/>
          </a:xfrm>
          <a:prstGeom prst="rect">
            <a:avLst/>
          </a:prstGeom>
          <a:noFill/>
        </p:spPr>
        <p:txBody>
          <a:bodyPr wrap="square" lIns="204089" tIns="0" rIns="0" bIns="0" rtlCol="0" anchor="t">
            <a:spAutoFit/>
          </a:bodyPr>
          <a:p>
            <a:pPr marL="0" indent="0" algn="l">
              <a:lnSpc>
                <a:spcPct val="120000"/>
              </a:lnSpc>
              <a:buNone/>
              <a:defRPr/>
            </a:pPr>
            <a:r>
              <a:rPr lang="en-US" sz="13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Technique used</a:t>
            </a:r>
            <a:endParaRPr sz="1300"/>
          </a:p>
        </p:txBody>
      </p:sp>
      <p:sp>
        <p:nvSpPr>
          <p:cNvPr id="1561898194" name="Shape 10"/>
          <p:cNvSpPr/>
          <p:nvPr/>
        </p:nvSpPr>
        <p:spPr bwMode="auto">
          <a:xfrm>
            <a:off x="4900613" y="500063"/>
            <a:ext cx="3000375" cy="614363"/>
          </a:xfrm>
          <a:prstGeom prst="rect">
            <a:avLst/>
          </a:prstGeom>
          <a:solidFill>
            <a:srgbClr val="000000"/>
          </a:solidFill>
        </p:spPr>
      </p:sp>
      <p:sp>
        <p:nvSpPr>
          <p:cNvPr id="1461595585" name="Shape 11"/>
          <p:cNvSpPr/>
          <p:nvPr/>
        </p:nvSpPr>
        <p:spPr bwMode="auto">
          <a:xfrm>
            <a:off x="7893844" y="500063"/>
            <a:ext cx="7144" cy="614363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1236863569" name="Text 12"/>
          <p:cNvSpPr/>
          <p:nvPr/>
        </p:nvSpPr>
        <p:spPr bwMode="auto">
          <a:xfrm>
            <a:off x="5507471" y="606743"/>
            <a:ext cx="3000735" cy="238103"/>
          </a:xfrm>
          <a:prstGeom prst="rect">
            <a:avLst/>
          </a:prstGeom>
          <a:noFill/>
        </p:spPr>
        <p:txBody>
          <a:bodyPr wrap="square" lIns="204089" tIns="0" rIns="0" bIns="0" rtlCol="0" anchor="t">
            <a:spAutoFit/>
          </a:bodyPr>
          <a:p>
            <a:pPr marL="0" indent="0" algn="l">
              <a:lnSpc>
                <a:spcPct val="120000"/>
              </a:lnSpc>
              <a:buNone/>
              <a:defRPr/>
            </a:pPr>
            <a:r>
              <a:rPr lang="en-US" sz="13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Description</a:t>
            </a:r>
            <a:endParaRPr sz="1300"/>
          </a:p>
        </p:txBody>
      </p:sp>
      <p:sp>
        <p:nvSpPr>
          <p:cNvPr id="479781148" name="Shape 13"/>
          <p:cNvSpPr/>
          <p:nvPr/>
        </p:nvSpPr>
        <p:spPr bwMode="auto">
          <a:xfrm>
            <a:off x="7900988" y="500063"/>
            <a:ext cx="1214438" cy="614363"/>
          </a:xfrm>
          <a:prstGeom prst="rect">
            <a:avLst/>
          </a:prstGeom>
          <a:solidFill>
            <a:srgbClr val="000000"/>
          </a:solidFill>
        </p:spPr>
      </p:sp>
      <p:sp>
        <p:nvSpPr>
          <p:cNvPr id="1825109428" name="Text 14"/>
          <p:cNvSpPr/>
          <p:nvPr/>
        </p:nvSpPr>
        <p:spPr bwMode="auto">
          <a:xfrm>
            <a:off x="7901707" y="598264"/>
            <a:ext cx="1214797" cy="238103"/>
          </a:xfrm>
          <a:prstGeom prst="rect">
            <a:avLst/>
          </a:prstGeom>
          <a:noFill/>
        </p:spPr>
        <p:txBody>
          <a:bodyPr wrap="square" lIns="204089" tIns="0" rIns="0" bIns="0" rtlCol="0" anchor="t">
            <a:spAutoFit/>
          </a:bodyPr>
          <a:p>
            <a:pPr marL="0" indent="0" algn="l">
              <a:lnSpc>
                <a:spcPct val="120000"/>
              </a:lnSpc>
              <a:buNone/>
              <a:defRPr/>
            </a:pPr>
            <a:r>
              <a:rPr lang="en-US" sz="13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Remarks</a:t>
            </a:r>
            <a:endParaRPr sz="1300"/>
          </a:p>
        </p:txBody>
      </p:sp>
      <p:sp>
        <p:nvSpPr>
          <p:cNvPr id="739326337" name="Shape 15"/>
          <p:cNvSpPr/>
          <p:nvPr/>
        </p:nvSpPr>
        <p:spPr bwMode="auto">
          <a:xfrm>
            <a:off x="114300" y="1114425"/>
            <a:ext cx="642938" cy="1893094"/>
          </a:xfrm>
          <a:prstGeom prst="rect">
            <a:avLst/>
          </a:prstGeom>
          <a:solidFill>
            <a:srgbClr val="CBCBCB"/>
          </a:solidFill>
        </p:spPr>
      </p:sp>
      <p:sp>
        <p:nvSpPr>
          <p:cNvPr id="555209541" name="Shape 16"/>
          <p:cNvSpPr/>
          <p:nvPr/>
        </p:nvSpPr>
        <p:spPr bwMode="auto">
          <a:xfrm>
            <a:off x="750094" y="1114425"/>
            <a:ext cx="7144" cy="1893094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167072653" name="Text 17"/>
          <p:cNvSpPr/>
          <p:nvPr/>
        </p:nvSpPr>
        <p:spPr bwMode="auto">
          <a:xfrm>
            <a:off x="114300" y="1114425"/>
            <a:ext cx="644017" cy="410697"/>
          </a:xfrm>
          <a:prstGeom prst="rect">
            <a:avLst/>
          </a:prstGeom>
          <a:noFill/>
        </p:spPr>
        <p:txBody>
          <a:bodyPr wrap="square" lIns="136017" tIns="136017" rIns="0" bIns="0" rtlCol="0" anchor="t">
            <a:spAutoFit/>
          </a:bodyPr>
          <a:p>
            <a:pPr marL="0" indent="0" algn="l">
              <a:lnSpc>
                <a:spcPct val="120000"/>
              </a:lnSpc>
              <a:buNone/>
              <a:defRPr/>
            </a:pPr>
            <a:r>
              <a:rPr lang="en-US" sz="15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3</a:t>
            </a:r>
            <a:endParaRPr lang="en-US" sz="1400"/>
          </a:p>
        </p:txBody>
      </p:sp>
      <p:sp>
        <p:nvSpPr>
          <p:cNvPr id="612090160" name="Shape 18"/>
          <p:cNvSpPr/>
          <p:nvPr/>
        </p:nvSpPr>
        <p:spPr bwMode="auto">
          <a:xfrm>
            <a:off x="757238" y="1114425"/>
            <a:ext cx="2571750" cy="1893094"/>
          </a:xfrm>
          <a:prstGeom prst="rect">
            <a:avLst/>
          </a:prstGeom>
          <a:solidFill>
            <a:srgbClr val="CBCBCB"/>
          </a:solidFill>
        </p:spPr>
      </p:sp>
      <p:sp>
        <p:nvSpPr>
          <p:cNvPr id="1799995876" name="Shape 19"/>
          <p:cNvSpPr/>
          <p:nvPr/>
        </p:nvSpPr>
        <p:spPr bwMode="auto">
          <a:xfrm>
            <a:off x="3321844" y="1114425"/>
            <a:ext cx="7144" cy="1893094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101189112" name="Text 20"/>
          <p:cNvSpPr/>
          <p:nvPr/>
        </p:nvSpPr>
        <p:spPr bwMode="auto">
          <a:xfrm>
            <a:off x="757237" y="1114425"/>
            <a:ext cx="2588670" cy="493119"/>
          </a:xfrm>
          <a:prstGeom prst="rect">
            <a:avLst/>
          </a:prstGeom>
          <a:noFill/>
        </p:spPr>
        <p:txBody>
          <a:bodyPr wrap="square" lIns="127508" tIns="127508" rIns="127508" bIns="127508" rtlCol="0" anchor="t">
            <a:spAutoFit/>
          </a:bodyPr>
          <a:p>
            <a:pPr marL="0" indent="0" algn="l">
              <a:lnSpc>
                <a:spcPct val="104000"/>
              </a:lnSpc>
              <a:buNone/>
              <a:defRPr/>
            </a:pPr>
            <a:r>
              <a:rPr sz="15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S. Bhat et al.,</a:t>
            </a:r>
            <a:r>
              <a:rPr lang="en-US" sz="15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2025</a:t>
            </a:r>
            <a:endParaRPr sz="1500">
              <a:latin typeface="Times New Roman"/>
              <a:cs typeface="Times New Roman"/>
            </a:endParaRPr>
          </a:p>
        </p:txBody>
      </p:sp>
      <p:sp>
        <p:nvSpPr>
          <p:cNvPr id="177638735" name="Shape 21"/>
          <p:cNvSpPr/>
          <p:nvPr/>
        </p:nvSpPr>
        <p:spPr bwMode="auto">
          <a:xfrm>
            <a:off x="3328988" y="1114425"/>
            <a:ext cx="1571625" cy="1893094"/>
          </a:xfrm>
          <a:prstGeom prst="rect">
            <a:avLst/>
          </a:prstGeom>
          <a:solidFill>
            <a:srgbClr val="CBCBCB"/>
          </a:solidFill>
        </p:spPr>
      </p:sp>
      <p:sp>
        <p:nvSpPr>
          <p:cNvPr id="696636897" name="Shape 22"/>
          <p:cNvSpPr/>
          <p:nvPr/>
        </p:nvSpPr>
        <p:spPr bwMode="auto">
          <a:xfrm>
            <a:off x="4893469" y="1114425"/>
            <a:ext cx="7144" cy="1893094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1092575214" name="Text 23"/>
          <p:cNvSpPr/>
          <p:nvPr/>
        </p:nvSpPr>
        <p:spPr bwMode="auto">
          <a:xfrm>
            <a:off x="3328987" y="1114425"/>
            <a:ext cx="1573424" cy="730863"/>
          </a:xfrm>
          <a:prstGeom prst="rect">
            <a:avLst/>
          </a:prstGeom>
          <a:noFill/>
        </p:spPr>
        <p:txBody>
          <a:bodyPr wrap="square" lIns="127508" tIns="127508" rIns="127508" bIns="127508" rtlCol="0" anchor="t">
            <a:spAutoFit/>
          </a:bodyPr>
          <a:p>
            <a:pPr marL="0" indent="0" algn="l">
              <a:lnSpc>
                <a:spcPct val="104000"/>
              </a:lnSpc>
              <a:buNone/>
              <a:defRPr/>
            </a:pPr>
            <a:r>
              <a:rPr lang="en-US" sz="15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Rule  &amp; Deep Learning</a:t>
            </a:r>
            <a:endParaRPr sz="1500">
              <a:latin typeface="Times New Roman"/>
              <a:cs typeface="Times New Roman"/>
            </a:endParaRPr>
          </a:p>
        </p:txBody>
      </p:sp>
      <p:sp>
        <p:nvSpPr>
          <p:cNvPr id="1358224834" name="Shape 24"/>
          <p:cNvSpPr/>
          <p:nvPr/>
        </p:nvSpPr>
        <p:spPr bwMode="auto">
          <a:xfrm>
            <a:off x="4900613" y="1114425"/>
            <a:ext cx="3000375" cy="1893094"/>
          </a:xfrm>
          <a:prstGeom prst="rect">
            <a:avLst/>
          </a:prstGeom>
          <a:solidFill>
            <a:srgbClr val="CBCBCB"/>
          </a:solidFill>
        </p:spPr>
      </p:sp>
      <p:sp>
        <p:nvSpPr>
          <p:cNvPr id="1911395435" name="Shape 25"/>
          <p:cNvSpPr/>
          <p:nvPr/>
        </p:nvSpPr>
        <p:spPr bwMode="auto">
          <a:xfrm>
            <a:off x="7893844" y="1114425"/>
            <a:ext cx="7144" cy="1893094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123072623" name="Text 26"/>
          <p:cNvSpPr/>
          <p:nvPr/>
        </p:nvSpPr>
        <p:spPr bwMode="auto">
          <a:xfrm>
            <a:off x="4900612" y="1114425"/>
            <a:ext cx="3001095" cy="968607"/>
          </a:xfrm>
          <a:prstGeom prst="rect">
            <a:avLst/>
          </a:prstGeom>
          <a:noFill/>
        </p:spPr>
        <p:txBody>
          <a:bodyPr wrap="square" lIns="127508" tIns="127508" rIns="127508" bIns="127508" rtlCol="0" anchor="t">
            <a:spAutoFit/>
          </a:bodyPr>
          <a:p>
            <a:pPr marL="0" indent="0" algn="l">
              <a:lnSpc>
                <a:spcPct val="104000"/>
              </a:lnSpc>
              <a:buNone/>
              <a:defRPr/>
            </a:pPr>
            <a:r>
              <a:rPr lang="en-US" sz="15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A hybrid approach combining decision trees with neural networks for clinical data classification.</a:t>
            </a:r>
            <a:endParaRPr sz="1500">
              <a:latin typeface="Times New Roman"/>
              <a:cs typeface="Times New Roman"/>
            </a:endParaRPr>
          </a:p>
        </p:txBody>
      </p:sp>
      <p:sp>
        <p:nvSpPr>
          <p:cNvPr id="2009960486" name="Shape 27"/>
          <p:cNvSpPr/>
          <p:nvPr/>
        </p:nvSpPr>
        <p:spPr bwMode="auto">
          <a:xfrm>
            <a:off x="7900988" y="1114425"/>
            <a:ext cx="1214438" cy="1893094"/>
          </a:xfrm>
          <a:prstGeom prst="rect">
            <a:avLst/>
          </a:prstGeom>
          <a:solidFill>
            <a:srgbClr val="CBCBCB"/>
          </a:solidFill>
        </p:spPr>
      </p:sp>
      <p:sp>
        <p:nvSpPr>
          <p:cNvPr id="960624093" name="Text 28"/>
          <p:cNvSpPr/>
          <p:nvPr/>
        </p:nvSpPr>
        <p:spPr bwMode="auto">
          <a:xfrm>
            <a:off x="7900987" y="1114425"/>
            <a:ext cx="1215157" cy="968607"/>
          </a:xfrm>
          <a:prstGeom prst="rect">
            <a:avLst/>
          </a:prstGeom>
          <a:noFill/>
        </p:spPr>
        <p:txBody>
          <a:bodyPr wrap="square" lIns="127508" tIns="127508" rIns="127508" bIns="127508" rtlCol="0" anchor="t">
            <a:spAutoFit/>
          </a:bodyPr>
          <a:p>
            <a:pPr marL="0" indent="0" algn="l">
              <a:lnSpc>
                <a:spcPct val="104000"/>
              </a:lnSpc>
              <a:buNone/>
              <a:defRPr/>
            </a:pPr>
            <a:r>
              <a:rPr lang="en-US" sz="15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Balanced performance</a:t>
            </a:r>
            <a:endParaRPr sz="1500">
              <a:latin typeface="Times New Roman"/>
              <a:cs typeface="Times New Roman"/>
            </a:endParaRPr>
          </a:p>
        </p:txBody>
      </p:sp>
      <p:sp>
        <p:nvSpPr>
          <p:cNvPr id="1607377176" name="Shape 29"/>
          <p:cNvSpPr/>
          <p:nvPr/>
        </p:nvSpPr>
        <p:spPr bwMode="auto">
          <a:xfrm>
            <a:off x="114300" y="3007519"/>
            <a:ext cx="642938" cy="1893094"/>
          </a:xfrm>
          <a:prstGeom prst="rect">
            <a:avLst/>
          </a:prstGeom>
          <a:solidFill>
            <a:srgbClr val="E7E7E7"/>
          </a:solidFill>
        </p:spPr>
      </p:sp>
      <p:sp>
        <p:nvSpPr>
          <p:cNvPr id="396778095" name="Shape 30"/>
          <p:cNvSpPr/>
          <p:nvPr/>
        </p:nvSpPr>
        <p:spPr bwMode="auto">
          <a:xfrm>
            <a:off x="750094" y="3007519"/>
            <a:ext cx="7144" cy="1893094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1102427313" name="Text 31"/>
          <p:cNvSpPr/>
          <p:nvPr/>
        </p:nvSpPr>
        <p:spPr bwMode="auto">
          <a:xfrm>
            <a:off x="114300" y="3007518"/>
            <a:ext cx="644017" cy="410697"/>
          </a:xfrm>
          <a:prstGeom prst="rect">
            <a:avLst/>
          </a:prstGeom>
          <a:noFill/>
        </p:spPr>
        <p:txBody>
          <a:bodyPr wrap="square" lIns="136017" tIns="136017" rIns="0" bIns="0" rtlCol="0" anchor="t">
            <a:spAutoFit/>
          </a:bodyPr>
          <a:p>
            <a:pPr marL="0" indent="0" algn="l">
              <a:lnSpc>
                <a:spcPct val="120000"/>
              </a:lnSpc>
              <a:buNone/>
              <a:defRPr/>
            </a:pPr>
            <a:r>
              <a:rPr lang="en-US" sz="15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4</a:t>
            </a:r>
            <a:endParaRPr lang="en-US" sz="1400"/>
          </a:p>
        </p:txBody>
      </p:sp>
      <p:sp>
        <p:nvSpPr>
          <p:cNvPr id="461411834" name="Shape 32"/>
          <p:cNvSpPr/>
          <p:nvPr/>
        </p:nvSpPr>
        <p:spPr bwMode="auto">
          <a:xfrm>
            <a:off x="757238" y="3007519"/>
            <a:ext cx="2571750" cy="1893094"/>
          </a:xfrm>
          <a:prstGeom prst="rect">
            <a:avLst/>
          </a:prstGeom>
          <a:solidFill>
            <a:srgbClr val="E7E7E7"/>
          </a:solidFill>
        </p:spPr>
      </p:sp>
      <p:sp>
        <p:nvSpPr>
          <p:cNvPr id="1620907793" name="Shape 33"/>
          <p:cNvSpPr/>
          <p:nvPr/>
        </p:nvSpPr>
        <p:spPr bwMode="auto">
          <a:xfrm>
            <a:off x="3321844" y="3007519"/>
            <a:ext cx="7144" cy="1893094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892556306" name="Text 34"/>
          <p:cNvSpPr/>
          <p:nvPr/>
        </p:nvSpPr>
        <p:spPr bwMode="auto">
          <a:xfrm>
            <a:off x="757237" y="3007518"/>
            <a:ext cx="2586150" cy="493119"/>
          </a:xfrm>
          <a:prstGeom prst="rect">
            <a:avLst/>
          </a:prstGeom>
          <a:noFill/>
        </p:spPr>
        <p:txBody>
          <a:bodyPr wrap="square" lIns="127508" tIns="127508" rIns="127508" bIns="127508" rtlCol="0" anchor="t">
            <a:spAutoFit/>
          </a:bodyPr>
          <a:p>
            <a:pPr marL="0" indent="0" algn="l">
              <a:lnSpc>
                <a:spcPct val="104000"/>
              </a:lnSpc>
              <a:buNone/>
              <a:defRPr/>
            </a:pPr>
            <a:r>
              <a:rPr sz="15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H. Dhayne et al.,</a:t>
            </a:r>
            <a:r>
              <a:rPr lang="en-US" sz="15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, 2019</a:t>
            </a:r>
            <a:endParaRPr lang="en-US" sz="1050"/>
          </a:p>
        </p:txBody>
      </p:sp>
      <p:sp>
        <p:nvSpPr>
          <p:cNvPr id="328747184" name="Shape 35"/>
          <p:cNvSpPr/>
          <p:nvPr/>
        </p:nvSpPr>
        <p:spPr bwMode="auto">
          <a:xfrm>
            <a:off x="3328988" y="3007519"/>
            <a:ext cx="1571625" cy="1893094"/>
          </a:xfrm>
          <a:prstGeom prst="rect">
            <a:avLst/>
          </a:prstGeom>
          <a:solidFill>
            <a:srgbClr val="E7E7E7"/>
          </a:solidFill>
        </p:spPr>
      </p:sp>
      <p:sp>
        <p:nvSpPr>
          <p:cNvPr id="1037304113" name="Shape 36"/>
          <p:cNvSpPr/>
          <p:nvPr/>
        </p:nvSpPr>
        <p:spPr bwMode="auto">
          <a:xfrm>
            <a:off x="4893469" y="3007519"/>
            <a:ext cx="7144" cy="1893094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462571882" name="Text 37"/>
          <p:cNvSpPr/>
          <p:nvPr/>
        </p:nvSpPr>
        <p:spPr bwMode="auto">
          <a:xfrm>
            <a:off x="3328987" y="3007518"/>
            <a:ext cx="1572345" cy="730863"/>
          </a:xfrm>
          <a:prstGeom prst="rect">
            <a:avLst/>
          </a:prstGeom>
          <a:noFill/>
        </p:spPr>
        <p:txBody>
          <a:bodyPr wrap="square" lIns="127508" tIns="127508" rIns="127508" bIns="127508" rtlCol="0" anchor="t">
            <a:spAutoFit/>
          </a:bodyPr>
          <a:p>
            <a:pPr marL="0" indent="0" algn="l">
              <a:lnSpc>
                <a:spcPct val="104000"/>
              </a:lnSpc>
              <a:buNone/>
              <a:defRPr/>
            </a:pPr>
            <a:r>
              <a:rPr lang="en-US" sz="15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Semantic Integration</a:t>
            </a:r>
            <a:endParaRPr sz="1500">
              <a:latin typeface="Times New Roman"/>
              <a:cs typeface="Times New Roman"/>
            </a:endParaRPr>
          </a:p>
        </p:txBody>
      </p:sp>
      <p:sp>
        <p:nvSpPr>
          <p:cNvPr id="71479179" name="Shape 38"/>
          <p:cNvSpPr/>
          <p:nvPr/>
        </p:nvSpPr>
        <p:spPr bwMode="auto">
          <a:xfrm>
            <a:off x="4900613" y="3007519"/>
            <a:ext cx="3000375" cy="1893094"/>
          </a:xfrm>
          <a:prstGeom prst="rect">
            <a:avLst/>
          </a:prstGeom>
          <a:solidFill>
            <a:srgbClr val="E7E7E7"/>
          </a:solidFill>
        </p:spPr>
      </p:sp>
      <p:sp>
        <p:nvSpPr>
          <p:cNvPr id="924176444" name="Shape 39"/>
          <p:cNvSpPr/>
          <p:nvPr/>
        </p:nvSpPr>
        <p:spPr bwMode="auto">
          <a:xfrm>
            <a:off x="7893844" y="3007519"/>
            <a:ext cx="7144" cy="1893094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1304249882" name="Text 40"/>
          <p:cNvSpPr/>
          <p:nvPr/>
        </p:nvSpPr>
        <p:spPr bwMode="auto">
          <a:xfrm>
            <a:off x="4900612" y="3007518"/>
            <a:ext cx="3001095" cy="968607"/>
          </a:xfrm>
          <a:prstGeom prst="rect">
            <a:avLst/>
          </a:prstGeom>
          <a:noFill/>
        </p:spPr>
        <p:txBody>
          <a:bodyPr wrap="square" lIns="127508" tIns="127508" rIns="127508" bIns="127508" rtlCol="0" anchor="t">
            <a:spAutoFit/>
          </a:bodyPr>
          <a:p>
            <a:pPr marL="0" indent="0" algn="l">
              <a:lnSpc>
                <a:spcPct val="104000"/>
              </a:lnSpc>
              <a:buNone/>
              <a:defRPr/>
            </a:pPr>
            <a:r>
              <a:rPr lang="en-US" sz="15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Focuses on solving semantic heterogeneity issues for healthcare interoperability.</a:t>
            </a:r>
            <a:endParaRPr sz="1500">
              <a:latin typeface="Times New Roman"/>
              <a:cs typeface="Times New Roman"/>
            </a:endParaRPr>
          </a:p>
        </p:txBody>
      </p:sp>
      <p:sp>
        <p:nvSpPr>
          <p:cNvPr id="1391550092" name="Shape 41"/>
          <p:cNvSpPr/>
          <p:nvPr/>
        </p:nvSpPr>
        <p:spPr bwMode="auto">
          <a:xfrm>
            <a:off x="7900988" y="3007519"/>
            <a:ext cx="1214438" cy="1893094"/>
          </a:xfrm>
          <a:prstGeom prst="rect">
            <a:avLst/>
          </a:prstGeom>
          <a:solidFill>
            <a:srgbClr val="E7E7E7"/>
          </a:solidFill>
        </p:spPr>
      </p:sp>
      <p:sp>
        <p:nvSpPr>
          <p:cNvPr id="605666360" name="Text 42"/>
          <p:cNvSpPr/>
          <p:nvPr/>
        </p:nvSpPr>
        <p:spPr bwMode="auto">
          <a:xfrm>
            <a:off x="7900987" y="3007518"/>
            <a:ext cx="1215157" cy="968607"/>
          </a:xfrm>
          <a:prstGeom prst="rect">
            <a:avLst/>
          </a:prstGeom>
          <a:noFill/>
        </p:spPr>
        <p:txBody>
          <a:bodyPr wrap="square" lIns="127508" tIns="127508" rIns="127508" bIns="127508" rtlCol="0" anchor="t">
            <a:spAutoFit/>
          </a:bodyPr>
          <a:p>
            <a:pPr marL="0" indent="0" algn="l">
              <a:lnSpc>
                <a:spcPct val="104000"/>
              </a:lnSpc>
              <a:buNone/>
              <a:defRPr/>
            </a:pPr>
            <a:r>
              <a:rPr lang="en-US" sz="15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Focus on semantic issues</a:t>
            </a:r>
            <a:endParaRPr sz="1500">
              <a:latin typeface="Times New Roman"/>
              <a:cs typeface="Times New Roman"/>
            </a:endParaRPr>
          </a:p>
        </p:txBody>
      </p:sp>
      <p:sp>
        <p:nvSpPr>
          <p:cNvPr id="686920469" name="Text 43"/>
          <p:cNvSpPr/>
          <p:nvPr/>
        </p:nvSpPr>
        <p:spPr bwMode="auto">
          <a:xfrm>
            <a:off x="8972550" y="4993481"/>
            <a:ext cx="63500" cy="13716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p>
            <a:pPr marL="0" indent="0" algn="l">
              <a:lnSpc>
                <a:spcPct val="120000"/>
              </a:lnSpc>
              <a:buNone/>
              <a:defRPr/>
            </a:pPr>
            <a:r>
              <a:rPr lang="en-US" sz="850">
                <a:solidFill>
                  <a:srgbClr val="898989"/>
                </a:solidFill>
                <a:latin typeface="Calibri"/>
                <a:ea typeface="Calibri"/>
                <a:cs typeface="Calibri"/>
              </a:rPr>
              <a:t>5</a:t>
            </a:r>
            <a:endParaRPr lang="en-US" sz="850"/>
          </a:p>
        </p:txBody>
      </p:sp>
      <p:sp>
        <p:nvSpPr>
          <p:cNvPr id="1937194038" name="Text 3"/>
          <p:cNvSpPr/>
          <p:nvPr/>
        </p:nvSpPr>
        <p:spPr bwMode="auto">
          <a:xfrm>
            <a:off x="315663" y="672772"/>
            <a:ext cx="315106" cy="13447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p>
            <a:pPr marL="0" indent="0" algn="l">
              <a:lnSpc>
                <a:spcPct val="80000"/>
              </a:lnSpc>
              <a:buNone/>
              <a:defRPr/>
            </a:pPr>
            <a:r>
              <a:rPr lang="en-US" sz="11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S.NO</a:t>
            </a:r>
            <a:endParaRPr lang="en-US" sz="11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6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902812794" name="Image 0" descr="preencoded.png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1884449000" name="Text 0"/>
          <p:cNvSpPr/>
          <p:nvPr/>
        </p:nvSpPr>
        <p:spPr bwMode="auto">
          <a:xfrm>
            <a:off x="228600" y="114300"/>
            <a:ext cx="756" cy="274679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p>
            <a:pPr>
              <a:defRPr/>
            </a:pPr>
            <a:endParaRPr/>
          </a:p>
        </p:txBody>
      </p:sp>
      <p:sp>
        <p:nvSpPr>
          <p:cNvPr id="1165702610" name="Shape 1"/>
          <p:cNvSpPr/>
          <p:nvPr/>
        </p:nvSpPr>
        <p:spPr bwMode="auto">
          <a:xfrm>
            <a:off x="114300" y="644723"/>
            <a:ext cx="642938" cy="614363"/>
          </a:xfrm>
          <a:prstGeom prst="rect">
            <a:avLst/>
          </a:prstGeom>
          <a:solidFill>
            <a:srgbClr val="000000"/>
          </a:solidFill>
        </p:spPr>
      </p:sp>
      <p:sp>
        <p:nvSpPr>
          <p:cNvPr id="980156352" name="Shape 2"/>
          <p:cNvSpPr/>
          <p:nvPr/>
        </p:nvSpPr>
        <p:spPr bwMode="auto">
          <a:xfrm>
            <a:off x="750094" y="644723"/>
            <a:ext cx="7144" cy="614363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1503234316" name="Text 3"/>
          <p:cNvSpPr/>
          <p:nvPr/>
        </p:nvSpPr>
        <p:spPr bwMode="auto">
          <a:xfrm>
            <a:off x="315663" y="867406"/>
            <a:ext cx="315106" cy="13447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p>
            <a:pPr marL="0" indent="0" algn="l">
              <a:lnSpc>
                <a:spcPct val="80000"/>
              </a:lnSpc>
              <a:buNone/>
              <a:defRPr/>
            </a:pPr>
            <a:r>
              <a:rPr lang="en-US" sz="11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S.NO</a:t>
            </a:r>
            <a:endParaRPr lang="en-US" sz="1100"/>
          </a:p>
        </p:txBody>
      </p:sp>
      <p:sp>
        <p:nvSpPr>
          <p:cNvPr id="1470174138" name="Text 4"/>
          <p:cNvSpPr/>
          <p:nvPr/>
        </p:nvSpPr>
        <p:spPr bwMode="auto">
          <a:xfrm>
            <a:off x="374627" y="951904"/>
            <a:ext cx="756" cy="13447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p>
            <a:pPr marL="0" indent="0" algn="l">
              <a:lnSpc>
                <a:spcPct val="80000"/>
              </a:lnSpc>
              <a:buNone/>
              <a:defRPr/>
            </a:pPr>
            <a:endParaRPr lang="en-US" sz="1100"/>
          </a:p>
        </p:txBody>
      </p:sp>
      <p:sp>
        <p:nvSpPr>
          <p:cNvPr id="2004122300" name="Shape 5"/>
          <p:cNvSpPr/>
          <p:nvPr/>
        </p:nvSpPr>
        <p:spPr bwMode="auto">
          <a:xfrm>
            <a:off x="757238" y="644723"/>
            <a:ext cx="2571750" cy="614363"/>
          </a:xfrm>
          <a:prstGeom prst="rect">
            <a:avLst/>
          </a:prstGeom>
          <a:solidFill>
            <a:srgbClr val="000000"/>
          </a:solidFill>
        </p:spPr>
      </p:sp>
      <p:sp>
        <p:nvSpPr>
          <p:cNvPr id="1303403129" name="Shape 6"/>
          <p:cNvSpPr/>
          <p:nvPr/>
        </p:nvSpPr>
        <p:spPr bwMode="auto">
          <a:xfrm>
            <a:off x="3321844" y="644723"/>
            <a:ext cx="7144" cy="614363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983437343" name="Text 7"/>
          <p:cNvSpPr/>
          <p:nvPr/>
        </p:nvSpPr>
        <p:spPr bwMode="auto">
          <a:xfrm>
            <a:off x="749733" y="815590"/>
            <a:ext cx="2572110" cy="238103"/>
          </a:xfrm>
          <a:prstGeom prst="rect">
            <a:avLst/>
          </a:prstGeom>
          <a:noFill/>
        </p:spPr>
        <p:txBody>
          <a:bodyPr wrap="square" lIns="204089" tIns="0" rIns="0" bIns="0" rtlCol="0" anchor="t">
            <a:spAutoFit/>
          </a:bodyPr>
          <a:p>
            <a:pPr marL="0" indent="0" algn="l">
              <a:lnSpc>
                <a:spcPct val="120000"/>
              </a:lnSpc>
              <a:buNone/>
              <a:defRPr/>
            </a:pPr>
            <a:r>
              <a:rPr lang="en-US" sz="13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Title, Author, Year</a:t>
            </a:r>
            <a:endParaRPr sz="1300"/>
          </a:p>
        </p:txBody>
      </p:sp>
      <p:sp>
        <p:nvSpPr>
          <p:cNvPr id="1442295895" name="Shape 8"/>
          <p:cNvSpPr/>
          <p:nvPr/>
        </p:nvSpPr>
        <p:spPr bwMode="auto">
          <a:xfrm>
            <a:off x="3328988" y="644723"/>
            <a:ext cx="1571625" cy="614363"/>
          </a:xfrm>
          <a:prstGeom prst="rect">
            <a:avLst/>
          </a:prstGeom>
          <a:solidFill>
            <a:srgbClr val="000000"/>
          </a:solidFill>
        </p:spPr>
      </p:sp>
      <p:sp>
        <p:nvSpPr>
          <p:cNvPr id="1306738594" name="Shape 9"/>
          <p:cNvSpPr/>
          <p:nvPr/>
        </p:nvSpPr>
        <p:spPr bwMode="auto">
          <a:xfrm>
            <a:off x="4893469" y="644723"/>
            <a:ext cx="7144" cy="614363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632110943" name="Text 10"/>
          <p:cNvSpPr/>
          <p:nvPr/>
        </p:nvSpPr>
        <p:spPr bwMode="auto">
          <a:xfrm>
            <a:off x="3321843" y="763774"/>
            <a:ext cx="1571985" cy="238103"/>
          </a:xfrm>
          <a:prstGeom prst="rect">
            <a:avLst/>
          </a:prstGeom>
          <a:noFill/>
        </p:spPr>
        <p:txBody>
          <a:bodyPr wrap="square" lIns="204089" tIns="0" rIns="0" bIns="0" rtlCol="0" anchor="t">
            <a:spAutoFit/>
          </a:bodyPr>
          <a:p>
            <a:pPr marL="0" indent="0" algn="l">
              <a:lnSpc>
                <a:spcPct val="120000"/>
              </a:lnSpc>
              <a:buNone/>
              <a:defRPr/>
            </a:pPr>
            <a:r>
              <a:rPr lang="en-US" sz="13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Technique used</a:t>
            </a:r>
            <a:endParaRPr sz="1300"/>
          </a:p>
        </p:txBody>
      </p:sp>
      <p:sp>
        <p:nvSpPr>
          <p:cNvPr id="1299467430" name="Shape 11"/>
          <p:cNvSpPr/>
          <p:nvPr/>
        </p:nvSpPr>
        <p:spPr bwMode="auto">
          <a:xfrm>
            <a:off x="4900613" y="644723"/>
            <a:ext cx="3000375" cy="614363"/>
          </a:xfrm>
          <a:prstGeom prst="rect">
            <a:avLst/>
          </a:prstGeom>
          <a:solidFill>
            <a:srgbClr val="000000"/>
          </a:solidFill>
        </p:spPr>
      </p:sp>
      <p:sp>
        <p:nvSpPr>
          <p:cNvPr id="1223866698" name="Shape 12"/>
          <p:cNvSpPr/>
          <p:nvPr/>
        </p:nvSpPr>
        <p:spPr bwMode="auto">
          <a:xfrm>
            <a:off x="7893844" y="644723"/>
            <a:ext cx="7144" cy="614363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1483537421" name="Text 13"/>
          <p:cNvSpPr/>
          <p:nvPr/>
        </p:nvSpPr>
        <p:spPr bwMode="auto">
          <a:xfrm>
            <a:off x="5855328" y="748354"/>
            <a:ext cx="3000735" cy="238103"/>
          </a:xfrm>
          <a:prstGeom prst="rect">
            <a:avLst/>
          </a:prstGeom>
          <a:noFill/>
        </p:spPr>
        <p:txBody>
          <a:bodyPr wrap="square" lIns="204089" tIns="0" rIns="0" bIns="0" rtlCol="0" anchor="t">
            <a:spAutoFit/>
          </a:bodyPr>
          <a:p>
            <a:pPr marL="0" indent="0" algn="l">
              <a:lnSpc>
                <a:spcPct val="120000"/>
              </a:lnSpc>
              <a:buNone/>
              <a:defRPr/>
            </a:pPr>
            <a:r>
              <a:rPr lang="en-US" sz="13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Description</a:t>
            </a:r>
            <a:endParaRPr sz="1300"/>
          </a:p>
        </p:txBody>
      </p:sp>
      <p:sp>
        <p:nvSpPr>
          <p:cNvPr id="954009743" name="Shape 14"/>
          <p:cNvSpPr/>
          <p:nvPr/>
        </p:nvSpPr>
        <p:spPr bwMode="auto">
          <a:xfrm>
            <a:off x="7900988" y="644723"/>
            <a:ext cx="1214438" cy="614363"/>
          </a:xfrm>
          <a:prstGeom prst="rect">
            <a:avLst/>
          </a:prstGeom>
          <a:solidFill>
            <a:srgbClr val="000000"/>
          </a:solidFill>
        </p:spPr>
      </p:sp>
      <p:sp>
        <p:nvSpPr>
          <p:cNvPr id="912570888" name="Text 15"/>
          <p:cNvSpPr/>
          <p:nvPr/>
        </p:nvSpPr>
        <p:spPr bwMode="auto">
          <a:xfrm>
            <a:off x="7901347" y="748354"/>
            <a:ext cx="1214797" cy="238103"/>
          </a:xfrm>
          <a:prstGeom prst="rect">
            <a:avLst/>
          </a:prstGeom>
          <a:noFill/>
        </p:spPr>
        <p:txBody>
          <a:bodyPr wrap="square" lIns="204089" tIns="0" rIns="0" bIns="0" rtlCol="0" anchor="t">
            <a:spAutoFit/>
          </a:bodyPr>
          <a:p>
            <a:pPr marL="0" indent="0" algn="l">
              <a:lnSpc>
                <a:spcPct val="120000"/>
              </a:lnSpc>
              <a:buNone/>
              <a:defRPr/>
            </a:pPr>
            <a:r>
              <a:rPr lang="en-US" sz="13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Remarks</a:t>
            </a:r>
            <a:endParaRPr sz="1300"/>
          </a:p>
        </p:txBody>
      </p:sp>
      <p:sp>
        <p:nvSpPr>
          <p:cNvPr id="533286500" name="Shape 16"/>
          <p:cNvSpPr/>
          <p:nvPr/>
        </p:nvSpPr>
        <p:spPr bwMode="auto">
          <a:xfrm>
            <a:off x="114300" y="1259086"/>
            <a:ext cx="642938" cy="1428750"/>
          </a:xfrm>
          <a:prstGeom prst="rect">
            <a:avLst/>
          </a:prstGeom>
          <a:solidFill>
            <a:srgbClr val="CBCBCB"/>
          </a:solidFill>
        </p:spPr>
      </p:sp>
      <p:sp>
        <p:nvSpPr>
          <p:cNvPr id="1007996274" name="Shape 17"/>
          <p:cNvSpPr/>
          <p:nvPr/>
        </p:nvSpPr>
        <p:spPr bwMode="auto">
          <a:xfrm>
            <a:off x="750094" y="1259086"/>
            <a:ext cx="7144" cy="1428750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573330125" name="Text 18"/>
          <p:cNvSpPr/>
          <p:nvPr/>
        </p:nvSpPr>
        <p:spPr bwMode="auto">
          <a:xfrm>
            <a:off x="114300" y="1259085"/>
            <a:ext cx="643297" cy="410697"/>
          </a:xfrm>
          <a:prstGeom prst="rect">
            <a:avLst/>
          </a:prstGeom>
          <a:noFill/>
        </p:spPr>
        <p:txBody>
          <a:bodyPr wrap="square" lIns="136017" tIns="136017" rIns="0" bIns="0" rtlCol="0" anchor="t">
            <a:spAutoFit/>
          </a:bodyPr>
          <a:p>
            <a:pPr marL="0" indent="0" algn="l">
              <a:lnSpc>
                <a:spcPct val="120000"/>
              </a:lnSpc>
              <a:buNone/>
              <a:defRPr/>
            </a:pPr>
            <a:r>
              <a:rPr lang="en-US" sz="15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5</a:t>
            </a:r>
            <a:endParaRPr sz="1500">
              <a:latin typeface="Times New Roman"/>
              <a:cs typeface="Times New Roman"/>
            </a:endParaRPr>
          </a:p>
        </p:txBody>
      </p:sp>
      <p:sp>
        <p:nvSpPr>
          <p:cNvPr id="216152524" name="Shape 19"/>
          <p:cNvSpPr/>
          <p:nvPr/>
        </p:nvSpPr>
        <p:spPr bwMode="auto">
          <a:xfrm>
            <a:off x="757238" y="1259086"/>
            <a:ext cx="2571750" cy="1428750"/>
          </a:xfrm>
          <a:prstGeom prst="rect">
            <a:avLst/>
          </a:prstGeom>
          <a:solidFill>
            <a:srgbClr val="CBCBCB"/>
          </a:solidFill>
        </p:spPr>
      </p:sp>
      <p:sp>
        <p:nvSpPr>
          <p:cNvPr id="2026196490" name="Shape 20"/>
          <p:cNvSpPr/>
          <p:nvPr/>
        </p:nvSpPr>
        <p:spPr bwMode="auto">
          <a:xfrm>
            <a:off x="3321844" y="1259086"/>
            <a:ext cx="7144" cy="1428750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2055382307" name="Text 21"/>
          <p:cNvSpPr/>
          <p:nvPr/>
        </p:nvSpPr>
        <p:spPr bwMode="auto">
          <a:xfrm>
            <a:off x="757237" y="1259085"/>
            <a:ext cx="2572830" cy="546713"/>
          </a:xfrm>
          <a:prstGeom prst="rect">
            <a:avLst/>
          </a:prstGeom>
          <a:noFill/>
        </p:spPr>
        <p:txBody>
          <a:bodyPr wrap="square" lIns="136017" tIns="136017" rIns="136017" bIns="136017" rtlCol="0" anchor="t">
            <a:spAutoFit/>
          </a:bodyPr>
          <a:p>
            <a:pPr marL="0" indent="0" algn="l">
              <a:lnSpc>
                <a:spcPct val="120000"/>
              </a:lnSpc>
              <a:buNone/>
              <a:defRPr/>
            </a:pPr>
            <a:r>
              <a:rPr sz="12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5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N. Chemini et al.,</a:t>
            </a:r>
            <a:r>
              <a:rPr lang="en-US" sz="15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2025</a:t>
            </a:r>
            <a:endParaRPr lang="en-US" sz="1050"/>
          </a:p>
        </p:txBody>
      </p:sp>
      <p:sp>
        <p:nvSpPr>
          <p:cNvPr id="534978894" name="Shape 22"/>
          <p:cNvSpPr/>
          <p:nvPr/>
        </p:nvSpPr>
        <p:spPr bwMode="auto">
          <a:xfrm>
            <a:off x="3328988" y="1259086"/>
            <a:ext cx="1571625" cy="1428750"/>
          </a:xfrm>
          <a:prstGeom prst="rect">
            <a:avLst/>
          </a:prstGeom>
          <a:solidFill>
            <a:srgbClr val="CBCBCB"/>
          </a:solidFill>
        </p:spPr>
      </p:sp>
      <p:sp>
        <p:nvSpPr>
          <p:cNvPr id="1361534537" name="Shape 23"/>
          <p:cNvSpPr/>
          <p:nvPr/>
        </p:nvSpPr>
        <p:spPr bwMode="auto">
          <a:xfrm>
            <a:off x="4893469" y="1259086"/>
            <a:ext cx="7144" cy="1428750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1443112345" name="Text 24"/>
          <p:cNvSpPr/>
          <p:nvPr/>
        </p:nvSpPr>
        <p:spPr bwMode="auto">
          <a:xfrm>
            <a:off x="3328987" y="1259085"/>
            <a:ext cx="1573424" cy="1095354"/>
          </a:xfrm>
          <a:prstGeom prst="rect">
            <a:avLst/>
          </a:prstGeom>
          <a:noFill/>
        </p:spPr>
        <p:txBody>
          <a:bodyPr wrap="square" lIns="136017" tIns="136017" rIns="136017" bIns="136017" rtlCol="0" anchor="t">
            <a:spAutoFit/>
          </a:bodyPr>
          <a:p>
            <a:pPr marL="0" indent="0" algn="l">
              <a:lnSpc>
                <a:spcPct val="120000"/>
              </a:lnSpc>
              <a:buNone/>
              <a:defRPr/>
            </a:pPr>
            <a:r>
              <a:rPr lang="en-US" sz="15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FHIR &amp; Semantic Mapping</a:t>
            </a:r>
            <a:endParaRPr sz="1500"/>
          </a:p>
        </p:txBody>
      </p:sp>
      <p:sp>
        <p:nvSpPr>
          <p:cNvPr id="558915163" name="Shape 25"/>
          <p:cNvSpPr/>
          <p:nvPr/>
        </p:nvSpPr>
        <p:spPr bwMode="auto">
          <a:xfrm>
            <a:off x="4900613" y="1259086"/>
            <a:ext cx="3000375" cy="1428750"/>
          </a:xfrm>
          <a:prstGeom prst="rect">
            <a:avLst/>
          </a:prstGeom>
          <a:solidFill>
            <a:srgbClr val="CBCBCB"/>
          </a:solidFill>
        </p:spPr>
      </p:sp>
      <p:sp>
        <p:nvSpPr>
          <p:cNvPr id="1056989035" name="Shape 26"/>
          <p:cNvSpPr/>
          <p:nvPr/>
        </p:nvSpPr>
        <p:spPr bwMode="auto">
          <a:xfrm>
            <a:off x="7893844" y="1259086"/>
            <a:ext cx="7144" cy="1428750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1392319798" name="Text 27"/>
          <p:cNvSpPr/>
          <p:nvPr/>
        </p:nvSpPr>
        <p:spPr bwMode="auto">
          <a:xfrm>
            <a:off x="4900612" y="1259085"/>
            <a:ext cx="3000735" cy="821034"/>
          </a:xfrm>
          <a:prstGeom prst="rect">
            <a:avLst/>
          </a:prstGeom>
          <a:noFill/>
        </p:spPr>
        <p:txBody>
          <a:bodyPr wrap="square" lIns="136017" tIns="136017" rIns="136017" bIns="136017" rtlCol="0" anchor="t">
            <a:spAutoFit/>
          </a:bodyPr>
          <a:p>
            <a:pPr marL="0" indent="0" algn="l">
              <a:lnSpc>
                <a:spcPct val="120000"/>
              </a:lnSpc>
              <a:buNone/>
              <a:defRPr/>
            </a:pPr>
            <a:r>
              <a:rPr lang="en-US" sz="15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Focuses on data integration using FHIR standards.</a:t>
            </a:r>
            <a:endParaRPr sz="1500"/>
          </a:p>
        </p:txBody>
      </p:sp>
      <p:sp>
        <p:nvSpPr>
          <p:cNvPr id="145649227" name="Shape 28"/>
          <p:cNvSpPr/>
          <p:nvPr/>
        </p:nvSpPr>
        <p:spPr bwMode="auto">
          <a:xfrm>
            <a:off x="7900988" y="1259086"/>
            <a:ext cx="1214438" cy="1428750"/>
          </a:xfrm>
          <a:prstGeom prst="rect">
            <a:avLst/>
          </a:prstGeom>
          <a:solidFill>
            <a:srgbClr val="CBCBCB"/>
          </a:solidFill>
        </p:spPr>
      </p:sp>
      <p:sp>
        <p:nvSpPr>
          <p:cNvPr id="542716674" name="Text 29"/>
          <p:cNvSpPr/>
          <p:nvPr/>
        </p:nvSpPr>
        <p:spPr bwMode="auto">
          <a:xfrm>
            <a:off x="7900987" y="1259085"/>
            <a:ext cx="1214797" cy="821034"/>
          </a:xfrm>
          <a:prstGeom prst="rect">
            <a:avLst/>
          </a:prstGeom>
          <a:noFill/>
        </p:spPr>
        <p:txBody>
          <a:bodyPr wrap="square" lIns="136017" tIns="136017" rIns="136017" bIns="136017" rtlCol="0" anchor="t">
            <a:spAutoFit/>
          </a:bodyPr>
          <a:p>
            <a:pPr marL="0" indent="0" algn="l">
              <a:lnSpc>
                <a:spcPct val="120000"/>
              </a:lnSpc>
              <a:buNone/>
              <a:defRPr/>
            </a:pPr>
            <a:r>
              <a:rPr lang="en-US" sz="15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No AYUSH mapping</a:t>
            </a:r>
            <a:endParaRPr sz="1500"/>
          </a:p>
        </p:txBody>
      </p:sp>
      <p:sp>
        <p:nvSpPr>
          <p:cNvPr id="1774517771" name="Shape 30"/>
          <p:cNvSpPr/>
          <p:nvPr/>
        </p:nvSpPr>
        <p:spPr bwMode="auto">
          <a:xfrm>
            <a:off x="114300" y="2687836"/>
            <a:ext cx="642938" cy="1428750"/>
          </a:xfrm>
          <a:prstGeom prst="rect">
            <a:avLst/>
          </a:prstGeom>
          <a:solidFill>
            <a:srgbClr val="E7E7E7"/>
          </a:solidFill>
        </p:spPr>
      </p:sp>
      <p:sp>
        <p:nvSpPr>
          <p:cNvPr id="2115599036" name="Shape 31"/>
          <p:cNvSpPr/>
          <p:nvPr/>
        </p:nvSpPr>
        <p:spPr bwMode="auto">
          <a:xfrm>
            <a:off x="750094" y="2687836"/>
            <a:ext cx="7144" cy="1428750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9496317" name="Text 32"/>
          <p:cNvSpPr/>
          <p:nvPr/>
        </p:nvSpPr>
        <p:spPr bwMode="auto">
          <a:xfrm>
            <a:off x="114300" y="2687835"/>
            <a:ext cx="643297" cy="410697"/>
          </a:xfrm>
          <a:prstGeom prst="rect">
            <a:avLst/>
          </a:prstGeom>
          <a:noFill/>
        </p:spPr>
        <p:txBody>
          <a:bodyPr wrap="square" lIns="136017" tIns="136017" rIns="0" bIns="0" rtlCol="0" anchor="t">
            <a:spAutoFit/>
          </a:bodyPr>
          <a:p>
            <a:pPr marL="0" indent="0" algn="l">
              <a:lnSpc>
                <a:spcPct val="120000"/>
              </a:lnSpc>
              <a:buNone/>
              <a:defRPr/>
            </a:pPr>
            <a:r>
              <a:rPr lang="en-US" sz="15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6</a:t>
            </a:r>
            <a:endParaRPr sz="1500">
              <a:latin typeface="Times New Roman"/>
              <a:cs typeface="Times New Roman"/>
            </a:endParaRPr>
          </a:p>
        </p:txBody>
      </p:sp>
      <p:sp>
        <p:nvSpPr>
          <p:cNvPr id="1750843998" name="Shape 33"/>
          <p:cNvSpPr/>
          <p:nvPr/>
        </p:nvSpPr>
        <p:spPr bwMode="auto">
          <a:xfrm>
            <a:off x="757238" y="2687836"/>
            <a:ext cx="2571750" cy="1428750"/>
          </a:xfrm>
          <a:prstGeom prst="rect">
            <a:avLst/>
          </a:prstGeom>
          <a:solidFill>
            <a:srgbClr val="E7E7E7"/>
          </a:solidFill>
        </p:spPr>
      </p:sp>
      <p:sp>
        <p:nvSpPr>
          <p:cNvPr id="2065927322" name="Shape 34"/>
          <p:cNvSpPr/>
          <p:nvPr/>
        </p:nvSpPr>
        <p:spPr bwMode="auto">
          <a:xfrm>
            <a:off x="3321844" y="2687836"/>
            <a:ext cx="7144" cy="1428750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1651124669" name="Text 35"/>
          <p:cNvSpPr/>
          <p:nvPr/>
        </p:nvSpPr>
        <p:spPr bwMode="auto">
          <a:xfrm>
            <a:off x="757237" y="2687835"/>
            <a:ext cx="2574990" cy="546713"/>
          </a:xfrm>
          <a:prstGeom prst="rect">
            <a:avLst/>
          </a:prstGeom>
          <a:noFill/>
        </p:spPr>
        <p:txBody>
          <a:bodyPr wrap="square" lIns="136017" tIns="136017" rIns="136017" bIns="136017" rtlCol="0" anchor="t">
            <a:spAutoFit/>
          </a:bodyPr>
          <a:p>
            <a:pPr marL="0" indent="0" algn="l">
              <a:lnSpc>
                <a:spcPct val="120000"/>
              </a:lnSpc>
              <a:buNone/>
              <a:defRPr/>
            </a:pPr>
            <a:r>
              <a:rPr sz="15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E. N. Volkov</a:t>
            </a:r>
            <a:r>
              <a:rPr lang="en-US" sz="15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., 2023</a:t>
            </a:r>
            <a:endParaRPr lang="en-US" sz="1050"/>
          </a:p>
        </p:txBody>
      </p:sp>
      <p:sp>
        <p:nvSpPr>
          <p:cNvPr id="1992487506" name="Shape 36"/>
          <p:cNvSpPr/>
          <p:nvPr/>
        </p:nvSpPr>
        <p:spPr bwMode="auto">
          <a:xfrm>
            <a:off x="3328988" y="2687836"/>
            <a:ext cx="1571625" cy="1428750"/>
          </a:xfrm>
          <a:prstGeom prst="rect">
            <a:avLst/>
          </a:prstGeom>
          <a:solidFill>
            <a:srgbClr val="E7E7E7"/>
          </a:solidFill>
        </p:spPr>
      </p:sp>
      <p:sp>
        <p:nvSpPr>
          <p:cNvPr id="1446535229" name="Shape 37"/>
          <p:cNvSpPr/>
          <p:nvPr/>
        </p:nvSpPr>
        <p:spPr bwMode="auto">
          <a:xfrm>
            <a:off x="4893469" y="2687836"/>
            <a:ext cx="7144" cy="1428750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1122136490" name="Text 38"/>
          <p:cNvSpPr/>
          <p:nvPr/>
        </p:nvSpPr>
        <p:spPr bwMode="auto">
          <a:xfrm>
            <a:off x="3328987" y="2687835"/>
            <a:ext cx="1572704" cy="546713"/>
          </a:xfrm>
          <a:prstGeom prst="rect">
            <a:avLst/>
          </a:prstGeom>
          <a:noFill/>
        </p:spPr>
        <p:txBody>
          <a:bodyPr wrap="square" lIns="136017" tIns="136017" rIns="136017" bIns="136017" rtlCol="0" anchor="t">
            <a:spAutoFit/>
          </a:bodyPr>
          <a:p>
            <a:pPr marL="0" indent="0" algn="l">
              <a:lnSpc>
                <a:spcPct val="120000"/>
              </a:lnSpc>
              <a:buNone/>
              <a:defRPr/>
            </a:pPr>
            <a:r>
              <a:rPr lang="en-US" sz="15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Explainable AI</a:t>
            </a:r>
            <a:endParaRPr sz="1500">
              <a:latin typeface="Times New Roman"/>
              <a:cs typeface="Times New Roman"/>
            </a:endParaRPr>
          </a:p>
        </p:txBody>
      </p:sp>
      <p:sp>
        <p:nvSpPr>
          <p:cNvPr id="1870416020" name="Shape 39"/>
          <p:cNvSpPr/>
          <p:nvPr/>
        </p:nvSpPr>
        <p:spPr bwMode="auto">
          <a:xfrm>
            <a:off x="4900613" y="2687836"/>
            <a:ext cx="3000375" cy="1428750"/>
          </a:xfrm>
          <a:prstGeom prst="rect">
            <a:avLst/>
          </a:prstGeom>
          <a:solidFill>
            <a:srgbClr val="E7E7E7"/>
          </a:solidFill>
        </p:spPr>
      </p:sp>
      <p:sp>
        <p:nvSpPr>
          <p:cNvPr id="1474052920" name="Shape 40"/>
          <p:cNvSpPr/>
          <p:nvPr/>
        </p:nvSpPr>
        <p:spPr bwMode="auto">
          <a:xfrm>
            <a:off x="7893844" y="2687836"/>
            <a:ext cx="7144" cy="1428750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1562866071" name="Text 41"/>
          <p:cNvSpPr/>
          <p:nvPr/>
        </p:nvSpPr>
        <p:spPr bwMode="auto">
          <a:xfrm>
            <a:off x="4900612" y="2687835"/>
            <a:ext cx="3000735" cy="821034"/>
          </a:xfrm>
          <a:prstGeom prst="rect">
            <a:avLst/>
          </a:prstGeom>
          <a:noFill/>
        </p:spPr>
        <p:txBody>
          <a:bodyPr wrap="square" lIns="136017" tIns="136017" rIns="136017" bIns="136017" rtlCol="0" anchor="t">
            <a:spAutoFit/>
          </a:bodyPr>
          <a:p>
            <a:pPr marL="0" indent="0" algn="l">
              <a:lnSpc>
                <a:spcPct val="120000"/>
              </a:lnSpc>
              <a:buNone/>
              <a:defRPr/>
            </a:pPr>
            <a:r>
              <a:rPr lang="en-US" sz="15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Research on clinical AI explainability and transparency.</a:t>
            </a:r>
            <a:endParaRPr sz="1500"/>
          </a:p>
        </p:txBody>
      </p:sp>
      <p:sp>
        <p:nvSpPr>
          <p:cNvPr id="536465627" name="Shape 42"/>
          <p:cNvSpPr/>
          <p:nvPr/>
        </p:nvSpPr>
        <p:spPr bwMode="auto">
          <a:xfrm>
            <a:off x="7900988" y="2687836"/>
            <a:ext cx="1214438" cy="1428750"/>
          </a:xfrm>
          <a:prstGeom prst="rect">
            <a:avLst/>
          </a:prstGeom>
          <a:solidFill>
            <a:srgbClr val="E7E7E7"/>
          </a:solidFill>
        </p:spPr>
      </p:sp>
      <p:sp>
        <p:nvSpPr>
          <p:cNvPr id="610473079" name="Text 43"/>
          <p:cNvSpPr/>
          <p:nvPr/>
        </p:nvSpPr>
        <p:spPr bwMode="auto">
          <a:xfrm>
            <a:off x="7900987" y="2687835"/>
            <a:ext cx="1215877" cy="821034"/>
          </a:xfrm>
          <a:prstGeom prst="rect">
            <a:avLst/>
          </a:prstGeom>
          <a:noFill/>
        </p:spPr>
        <p:txBody>
          <a:bodyPr wrap="square" lIns="136017" tIns="136017" rIns="136017" bIns="136017" rtlCol="0" anchor="t">
            <a:spAutoFit/>
          </a:bodyPr>
          <a:p>
            <a:pPr marL="0" indent="0" algn="l">
              <a:lnSpc>
                <a:spcPct val="120000"/>
              </a:lnSpc>
              <a:buNone/>
              <a:defRPr/>
            </a:pPr>
            <a:r>
              <a:rPr lang="en-US" sz="15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Transparency improved</a:t>
            </a:r>
            <a:endParaRPr sz="1500"/>
          </a:p>
        </p:txBody>
      </p:sp>
      <p:sp>
        <p:nvSpPr>
          <p:cNvPr id="1508791444" name="Text 44"/>
          <p:cNvSpPr/>
          <p:nvPr/>
        </p:nvSpPr>
        <p:spPr bwMode="auto">
          <a:xfrm>
            <a:off x="8972550" y="4879181"/>
            <a:ext cx="63500" cy="13716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p>
            <a:pPr marL="0" indent="0" algn="l">
              <a:lnSpc>
                <a:spcPct val="120000"/>
              </a:lnSpc>
              <a:buNone/>
              <a:defRPr/>
            </a:pPr>
            <a:r>
              <a:rPr lang="en-US" sz="850">
                <a:solidFill>
                  <a:srgbClr val="898989"/>
                </a:solidFill>
                <a:latin typeface="Calibri"/>
                <a:ea typeface="Calibri"/>
                <a:cs typeface="Calibri"/>
              </a:rPr>
              <a:t>6</a:t>
            </a:r>
            <a:endParaRPr lang="en-US" sz="85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7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085830500" name="Image 0" descr="preencoded.png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1619876590" name="Shape 0"/>
          <p:cNvSpPr/>
          <p:nvPr/>
        </p:nvSpPr>
        <p:spPr bwMode="auto">
          <a:xfrm>
            <a:off x="114300" y="500063"/>
            <a:ext cx="614363" cy="514350"/>
          </a:xfrm>
          <a:prstGeom prst="rect">
            <a:avLst/>
          </a:prstGeom>
          <a:solidFill>
            <a:srgbClr val="000000"/>
          </a:solidFill>
        </p:spPr>
      </p:sp>
      <p:sp>
        <p:nvSpPr>
          <p:cNvPr id="1085726794" name="Shape 1"/>
          <p:cNvSpPr/>
          <p:nvPr/>
        </p:nvSpPr>
        <p:spPr bwMode="auto">
          <a:xfrm>
            <a:off x="721519" y="500063"/>
            <a:ext cx="7144" cy="514350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1501838201" name="Shape 4"/>
          <p:cNvSpPr/>
          <p:nvPr/>
        </p:nvSpPr>
        <p:spPr bwMode="auto">
          <a:xfrm>
            <a:off x="728663" y="500063"/>
            <a:ext cx="2571750" cy="514350"/>
          </a:xfrm>
          <a:prstGeom prst="rect">
            <a:avLst/>
          </a:prstGeom>
          <a:solidFill>
            <a:srgbClr val="000000"/>
          </a:solidFill>
        </p:spPr>
      </p:sp>
      <p:sp>
        <p:nvSpPr>
          <p:cNvPr id="1543650865" name="Shape 5"/>
          <p:cNvSpPr/>
          <p:nvPr/>
        </p:nvSpPr>
        <p:spPr bwMode="auto">
          <a:xfrm>
            <a:off x="3293269" y="500063"/>
            <a:ext cx="7144" cy="514350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2041010551" name="Text 6"/>
          <p:cNvSpPr/>
          <p:nvPr/>
        </p:nvSpPr>
        <p:spPr bwMode="auto">
          <a:xfrm>
            <a:off x="728662" y="606742"/>
            <a:ext cx="2572110" cy="238103"/>
          </a:xfrm>
          <a:prstGeom prst="rect">
            <a:avLst/>
          </a:prstGeom>
          <a:noFill/>
        </p:spPr>
        <p:txBody>
          <a:bodyPr wrap="square" lIns="204089" tIns="0" rIns="0" bIns="0" rtlCol="0" anchor="t">
            <a:spAutoFit/>
          </a:bodyPr>
          <a:p>
            <a:pPr marL="0" indent="0" algn="l">
              <a:lnSpc>
                <a:spcPct val="120000"/>
              </a:lnSpc>
              <a:buNone/>
              <a:defRPr/>
            </a:pPr>
            <a:r>
              <a:rPr lang="en-US" sz="13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Title, Author, Year</a:t>
            </a:r>
            <a:endParaRPr sz="1300"/>
          </a:p>
        </p:txBody>
      </p:sp>
      <p:sp>
        <p:nvSpPr>
          <p:cNvPr id="1152393263" name="Shape 7"/>
          <p:cNvSpPr/>
          <p:nvPr/>
        </p:nvSpPr>
        <p:spPr bwMode="auto">
          <a:xfrm>
            <a:off x="3300413" y="500063"/>
            <a:ext cx="1543050" cy="514350"/>
          </a:xfrm>
          <a:prstGeom prst="rect">
            <a:avLst/>
          </a:prstGeom>
          <a:solidFill>
            <a:srgbClr val="000000"/>
          </a:solidFill>
        </p:spPr>
      </p:sp>
      <p:sp>
        <p:nvSpPr>
          <p:cNvPr id="182359104" name="Shape 8"/>
          <p:cNvSpPr/>
          <p:nvPr/>
        </p:nvSpPr>
        <p:spPr bwMode="auto">
          <a:xfrm>
            <a:off x="4836318" y="500063"/>
            <a:ext cx="7144" cy="514350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417649718" name="Text 9"/>
          <p:cNvSpPr/>
          <p:nvPr/>
        </p:nvSpPr>
        <p:spPr bwMode="auto">
          <a:xfrm>
            <a:off x="3300412" y="606742"/>
            <a:ext cx="1543409" cy="238103"/>
          </a:xfrm>
          <a:prstGeom prst="rect">
            <a:avLst/>
          </a:prstGeom>
          <a:noFill/>
        </p:spPr>
        <p:txBody>
          <a:bodyPr wrap="square" lIns="204089" tIns="0" rIns="0" bIns="0" rtlCol="0" anchor="t">
            <a:spAutoFit/>
          </a:bodyPr>
          <a:p>
            <a:pPr marL="0" indent="0" algn="l">
              <a:lnSpc>
                <a:spcPct val="120000"/>
              </a:lnSpc>
              <a:buNone/>
              <a:defRPr/>
            </a:pPr>
            <a:r>
              <a:rPr lang="en-US" sz="13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Technique used</a:t>
            </a:r>
            <a:endParaRPr sz="1300"/>
          </a:p>
        </p:txBody>
      </p:sp>
      <p:sp>
        <p:nvSpPr>
          <p:cNvPr id="1766912282" name="Shape 10"/>
          <p:cNvSpPr/>
          <p:nvPr/>
        </p:nvSpPr>
        <p:spPr bwMode="auto">
          <a:xfrm>
            <a:off x="4843463" y="500063"/>
            <a:ext cx="3000375" cy="514350"/>
          </a:xfrm>
          <a:prstGeom prst="rect">
            <a:avLst/>
          </a:prstGeom>
          <a:solidFill>
            <a:srgbClr val="000000"/>
          </a:solidFill>
        </p:spPr>
      </p:sp>
      <p:sp>
        <p:nvSpPr>
          <p:cNvPr id="495752272" name="Shape 11"/>
          <p:cNvSpPr/>
          <p:nvPr/>
        </p:nvSpPr>
        <p:spPr bwMode="auto">
          <a:xfrm>
            <a:off x="7836693" y="500063"/>
            <a:ext cx="7144" cy="514350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2078595192" name="Text 12"/>
          <p:cNvSpPr/>
          <p:nvPr/>
        </p:nvSpPr>
        <p:spPr bwMode="auto">
          <a:xfrm>
            <a:off x="5611294" y="606742"/>
            <a:ext cx="3000735" cy="238103"/>
          </a:xfrm>
          <a:prstGeom prst="rect">
            <a:avLst/>
          </a:prstGeom>
          <a:noFill/>
        </p:spPr>
        <p:txBody>
          <a:bodyPr wrap="square" lIns="204089" tIns="0" rIns="0" bIns="0" rtlCol="0" anchor="t">
            <a:spAutoFit/>
          </a:bodyPr>
          <a:p>
            <a:pPr marL="0" indent="0" algn="l">
              <a:lnSpc>
                <a:spcPct val="120000"/>
              </a:lnSpc>
              <a:buNone/>
              <a:defRPr/>
            </a:pPr>
            <a:r>
              <a:rPr lang="en-US" sz="13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Description</a:t>
            </a:r>
            <a:endParaRPr sz="1300"/>
          </a:p>
        </p:txBody>
      </p:sp>
      <p:sp>
        <p:nvSpPr>
          <p:cNvPr id="812057544" name="Shape 13"/>
          <p:cNvSpPr/>
          <p:nvPr/>
        </p:nvSpPr>
        <p:spPr bwMode="auto">
          <a:xfrm>
            <a:off x="7843838" y="500063"/>
            <a:ext cx="1185863" cy="514350"/>
          </a:xfrm>
          <a:prstGeom prst="rect">
            <a:avLst/>
          </a:prstGeom>
          <a:solidFill>
            <a:srgbClr val="000000"/>
          </a:solidFill>
        </p:spPr>
      </p:sp>
      <p:sp>
        <p:nvSpPr>
          <p:cNvPr id="1880153680" name="Text 14"/>
          <p:cNvSpPr/>
          <p:nvPr/>
        </p:nvSpPr>
        <p:spPr bwMode="auto">
          <a:xfrm>
            <a:off x="7845277" y="606742"/>
            <a:ext cx="1186222" cy="238103"/>
          </a:xfrm>
          <a:prstGeom prst="rect">
            <a:avLst/>
          </a:prstGeom>
          <a:noFill/>
        </p:spPr>
        <p:txBody>
          <a:bodyPr wrap="square" lIns="204089" tIns="0" rIns="0" bIns="0" rtlCol="0" anchor="t">
            <a:spAutoFit/>
          </a:bodyPr>
          <a:p>
            <a:pPr marL="0" indent="0" algn="l">
              <a:lnSpc>
                <a:spcPct val="120000"/>
              </a:lnSpc>
              <a:buNone/>
              <a:defRPr/>
            </a:pPr>
            <a:r>
              <a:rPr lang="en-US" sz="13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Remarks</a:t>
            </a:r>
            <a:endParaRPr sz="1300"/>
          </a:p>
        </p:txBody>
      </p:sp>
      <p:sp>
        <p:nvSpPr>
          <p:cNvPr id="542195900" name="Shape 15"/>
          <p:cNvSpPr/>
          <p:nvPr/>
        </p:nvSpPr>
        <p:spPr bwMode="auto">
          <a:xfrm>
            <a:off x="114300" y="1014413"/>
            <a:ext cx="614363" cy="2286000"/>
          </a:xfrm>
          <a:prstGeom prst="rect">
            <a:avLst/>
          </a:prstGeom>
          <a:solidFill>
            <a:srgbClr val="CBCBCB"/>
          </a:solidFill>
        </p:spPr>
      </p:sp>
      <p:sp>
        <p:nvSpPr>
          <p:cNvPr id="1254382264" name="Shape 16"/>
          <p:cNvSpPr/>
          <p:nvPr/>
        </p:nvSpPr>
        <p:spPr bwMode="auto">
          <a:xfrm>
            <a:off x="721519" y="1014413"/>
            <a:ext cx="7144" cy="2286000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1915396641" name="Text 17"/>
          <p:cNvSpPr/>
          <p:nvPr/>
        </p:nvSpPr>
        <p:spPr bwMode="auto">
          <a:xfrm>
            <a:off x="114300" y="1014412"/>
            <a:ext cx="615082" cy="376787"/>
          </a:xfrm>
          <a:prstGeom prst="rect">
            <a:avLst/>
          </a:prstGeom>
          <a:noFill/>
        </p:spPr>
        <p:txBody>
          <a:bodyPr wrap="square" lIns="136017" tIns="102108" rIns="0" bIns="0" rtlCol="0" anchor="t">
            <a:spAutoFit/>
          </a:bodyPr>
          <a:p>
            <a:pPr marL="0" indent="0" algn="l">
              <a:lnSpc>
                <a:spcPct val="120000"/>
              </a:lnSpc>
              <a:buNone/>
              <a:defRPr/>
            </a:pPr>
            <a:r>
              <a:rPr lang="en-US" sz="15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7</a:t>
            </a:r>
            <a:endParaRPr sz="1500">
              <a:latin typeface="Times New Roman"/>
              <a:cs typeface="Times New Roman"/>
            </a:endParaRPr>
          </a:p>
        </p:txBody>
      </p:sp>
      <p:sp>
        <p:nvSpPr>
          <p:cNvPr id="698661504" name="Shape 18"/>
          <p:cNvSpPr/>
          <p:nvPr/>
        </p:nvSpPr>
        <p:spPr bwMode="auto">
          <a:xfrm>
            <a:off x="728663" y="1014413"/>
            <a:ext cx="2571750" cy="2286000"/>
          </a:xfrm>
          <a:prstGeom prst="rect">
            <a:avLst/>
          </a:prstGeom>
          <a:solidFill>
            <a:srgbClr val="CBCBCB"/>
          </a:solidFill>
        </p:spPr>
      </p:sp>
      <p:sp>
        <p:nvSpPr>
          <p:cNvPr id="2072369682" name="Shape 19"/>
          <p:cNvSpPr/>
          <p:nvPr/>
        </p:nvSpPr>
        <p:spPr bwMode="auto">
          <a:xfrm>
            <a:off x="3293269" y="1014413"/>
            <a:ext cx="7144" cy="2286000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517474119" name="Text 20"/>
          <p:cNvSpPr/>
          <p:nvPr/>
        </p:nvSpPr>
        <p:spPr bwMode="auto">
          <a:xfrm>
            <a:off x="728662" y="1014412"/>
            <a:ext cx="2573190" cy="376787"/>
          </a:xfrm>
          <a:prstGeom prst="rect">
            <a:avLst/>
          </a:prstGeom>
          <a:noFill/>
        </p:spPr>
        <p:txBody>
          <a:bodyPr wrap="square" lIns="204089" tIns="102108" rIns="0" bIns="0" rtlCol="0" anchor="t">
            <a:spAutoFit/>
          </a:bodyPr>
          <a:p>
            <a:pPr marL="0" indent="0" algn="l">
              <a:lnSpc>
                <a:spcPct val="120000"/>
              </a:lnSpc>
              <a:buNone/>
              <a:defRPr/>
            </a:pPr>
            <a:r>
              <a:rPr sz="15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S. Ghanvatkar</a:t>
            </a:r>
            <a:r>
              <a:rPr lang="en-US" sz="15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et al., 2024</a:t>
            </a:r>
            <a:endParaRPr lang="en-US" sz="1050"/>
          </a:p>
        </p:txBody>
      </p:sp>
      <p:sp>
        <p:nvSpPr>
          <p:cNvPr id="2043956239" name="Shape 21"/>
          <p:cNvSpPr/>
          <p:nvPr/>
        </p:nvSpPr>
        <p:spPr bwMode="auto">
          <a:xfrm>
            <a:off x="3300413" y="1014413"/>
            <a:ext cx="1543050" cy="2286000"/>
          </a:xfrm>
          <a:prstGeom prst="rect">
            <a:avLst/>
          </a:prstGeom>
          <a:solidFill>
            <a:srgbClr val="CBCBCB"/>
          </a:solidFill>
        </p:spPr>
      </p:sp>
      <p:sp>
        <p:nvSpPr>
          <p:cNvPr id="163617632" name="Shape 22"/>
          <p:cNvSpPr/>
          <p:nvPr/>
        </p:nvSpPr>
        <p:spPr bwMode="auto">
          <a:xfrm>
            <a:off x="4836318" y="1014413"/>
            <a:ext cx="7144" cy="2286000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1502853202" name="Text 23"/>
          <p:cNvSpPr/>
          <p:nvPr/>
        </p:nvSpPr>
        <p:spPr bwMode="auto">
          <a:xfrm>
            <a:off x="3300412" y="1014412"/>
            <a:ext cx="1543769" cy="376787"/>
          </a:xfrm>
          <a:prstGeom prst="rect">
            <a:avLst/>
          </a:prstGeom>
          <a:noFill/>
        </p:spPr>
        <p:txBody>
          <a:bodyPr wrap="square" lIns="204089" tIns="102108" rIns="0" bIns="0" rtlCol="0" anchor="t">
            <a:spAutoFit/>
          </a:bodyPr>
          <a:p>
            <a:pPr marL="0" indent="0" algn="l">
              <a:lnSpc>
                <a:spcPct val="120000"/>
              </a:lnSpc>
              <a:buNone/>
              <a:defRPr/>
            </a:pPr>
            <a:r>
              <a:rPr lang="en-US" sz="15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XAI Metrics</a:t>
            </a:r>
            <a:endParaRPr sz="1500">
              <a:latin typeface="Times New Roman"/>
              <a:cs typeface="Times New Roman"/>
            </a:endParaRPr>
          </a:p>
        </p:txBody>
      </p:sp>
      <p:sp>
        <p:nvSpPr>
          <p:cNvPr id="1758360610" name="Shape 24"/>
          <p:cNvSpPr/>
          <p:nvPr/>
        </p:nvSpPr>
        <p:spPr bwMode="auto">
          <a:xfrm>
            <a:off x="4843463" y="1014413"/>
            <a:ext cx="3000375" cy="2286000"/>
          </a:xfrm>
          <a:prstGeom prst="rect">
            <a:avLst/>
          </a:prstGeom>
          <a:solidFill>
            <a:srgbClr val="CBCBCB"/>
          </a:solidFill>
        </p:spPr>
      </p:sp>
      <p:sp>
        <p:nvSpPr>
          <p:cNvPr id="1255327377" name="Shape 25"/>
          <p:cNvSpPr/>
          <p:nvPr/>
        </p:nvSpPr>
        <p:spPr bwMode="auto">
          <a:xfrm>
            <a:off x="7836693" y="1014413"/>
            <a:ext cx="7144" cy="2286000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517158812" name="Text 26"/>
          <p:cNvSpPr/>
          <p:nvPr/>
        </p:nvSpPr>
        <p:spPr bwMode="auto">
          <a:xfrm>
            <a:off x="4843462" y="1014412"/>
            <a:ext cx="3001815" cy="925427"/>
          </a:xfrm>
          <a:prstGeom prst="rect">
            <a:avLst/>
          </a:prstGeom>
          <a:noFill/>
        </p:spPr>
        <p:txBody>
          <a:bodyPr wrap="square" lIns="204089" tIns="102108" rIns="0" bIns="0" rtlCol="0" anchor="t">
            <a:spAutoFit/>
          </a:bodyPr>
          <a:p>
            <a:pPr marL="0" indent="0" algn="l">
              <a:lnSpc>
                <a:spcPct val="120000"/>
              </a:lnSpc>
              <a:buNone/>
              <a:defRPr/>
            </a:pPr>
            <a:r>
              <a:rPr lang="en-US" sz="15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Focuses on evaluating the quality of explanations </a:t>
            </a:r>
            <a:r>
              <a:rPr lang="en-US" sz="15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provided </a:t>
            </a:r>
            <a:r>
              <a:rPr lang="en-US" sz="15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by AI models in clinical settings.</a:t>
            </a:r>
            <a:endParaRPr sz="1500">
              <a:latin typeface="Times New Roman"/>
              <a:cs typeface="Times New Roman"/>
            </a:endParaRPr>
          </a:p>
        </p:txBody>
      </p:sp>
      <p:sp>
        <p:nvSpPr>
          <p:cNvPr id="1428674739" name="Shape 27"/>
          <p:cNvSpPr/>
          <p:nvPr/>
        </p:nvSpPr>
        <p:spPr bwMode="auto">
          <a:xfrm>
            <a:off x="7843838" y="1014413"/>
            <a:ext cx="1185863" cy="2286000"/>
          </a:xfrm>
          <a:prstGeom prst="rect">
            <a:avLst/>
          </a:prstGeom>
          <a:solidFill>
            <a:srgbClr val="CBCBCB"/>
          </a:solidFill>
        </p:spPr>
      </p:sp>
      <p:sp>
        <p:nvSpPr>
          <p:cNvPr id="1705777005" name="Text 28"/>
          <p:cNvSpPr/>
          <p:nvPr/>
        </p:nvSpPr>
        <p:spPr bwMode="auto">
          <a:xfrm>
            <a:off x="7843837" y="1014412"/>
            <a:ext cx="1186582" cy="925427"/>
          </a:xfrm>
          <a:prstGeom prst="rect">
            <a:avLst/>
          </a:prstGeom>
          <a:noFill/>
        </p:spPr>
        <p:txBody>
          <a:bodyPr wrap="square" lIns="204089" tIns="102108" rIns="0" bIns="0" rtlCol="0" anchor="t">
            <a:spAutoFit/>
          </a:bodyPr>
          <a:p>
            <a:pPr marL="0" indent="0" algn="l">
              <a:lnSpc>
                <a:spcPct val="120000"/>
              </a:lnSpc>
              <a:buNone/>
              <a:defRPr/>
            </a:pPr>
            <a:r>
              <a:rPr lang="en-US" sz="15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Clinically useful for trust.</a:t>
            </a:r>
            <a:endParaRPr sz="1500">
              <a:latin typeface="Times New Roman"/>
              <a:cs typeface="Times New Roman"/>
            </a:endParaRPr>
          </a:p>
        </p:txBody>
      </p:sp>
      <p:sp>
        <p:nvSpPr>
          <p:cNvPr id="1564018204" name="Shape 29"/>
          <p:cNvSpPr/>
          <p:nvPr/>
        </p:nvSpPr>
        <p:spPr bwMode="auto">
          <a:xfrm>
            <a:off x="114300" y="3300413"/>
            <a:ext cx="614363" cy="1485900"/>
          </a:xfrm>
          <a:prstGeom prst="rect">
            <a:avLst/>
          </a:prstGeom>
          <a:solidFill>
            <a:srgbClr val="E7E7E7"/>
          </a:solidFill>
        </p:spPr>
      </p:sp>
      <p:sp>
        <p:nvSpPr>
          <p:cNvPr id="681931394" name="Shape 30"/>
          <p:cNvSpPr/>
          <p:nvPr/>
        </p:nvSpPr>
        <p:spPr bwMode="auto">
          <a:xfrm>
            <a:off x="721519" y="3300413"/>
            <a:ext cx="7144" cy="1485900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201683731" name="Text 31"/>
          <p:cNvSpPr/>
          <p:nvPr/>
        </p:nvSpPr>
        <p:spPr bwMode="auto">
          <a:xfrm>
            <a:off x="114300" y="3300412"/>
            <a:ext cx="615082" cy="376787"/>
          </a:xfrm>
          <a:prstGeom prst="rect">
            <a:avLst/>
          </a:prstGeom>
          <a:noFill/>
        </p:spPr>
        <p:txBody>
          <a:bodyPr wrap="square" lIns="136017" tIns="102108" rIns="0" bIns="0" rtlCol="0" anchor="t">
            <a:spAutoFit/>
          </a:bodyPr>
          <a:p>
            <a:pPr marL="0" indent="0" algn="l">
              <a:lnSpc>
                <a:spcPct val="120000"/>
              </a:lnSpc>
              <a:buNone/>
              <a:defRPr/>
            </a:pPr>
            <a:r>
              <a:rPr lang="en-US" sz="15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8</a:t>
            </a:r>
            <a:endParaRPr lang="en-US" sz="1400"/>
          </a:p>
        </p:txBody>
      </p:sp>
      <p:sp>
        <p:nvSpPr>
          <p:cNvPr id="353423349" name="Shape 32"/>
          <p:cNvSpPr/>
          <p:nvPr/>
        </p:nvSpPr>
        <p:spPr bwMode="auto">
          <a:xfrm>
            <a:off x="728663" y="3300413"/>
            <a:ext cx="2571750" cy="1485900"/>
          </a:xfrm>
          <a:prstGeom prst="rect">
            <a:avLst/>
          </a:prstGeom>
          <a:solidFill>
            <a:srgbClr val="E7E7E7"/>
          </a:solidFill>
        </p:spPr>
      </p:sp>
      <p:sp>
        <p:nvSpPr>
          <p:cNvPr id="397781047" name="Shape 33"/>
          <p:cNvSpPr/>
          <p:nvPr/>
        </p:nvSpPr>
        <p:spPr bwMode="auto">
          <a:xfrm>
            <a:off x="3293269" y="3300413"/>
            <a:ext cx="7144" cy="1485900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976112320" name="Text 34"/>
          <p:cNvSpPr/>
          <p:nvPr/>
        </p:nvSpPr>
        <p:spPr bwMode="auto">
          <a:xfrm>
            <a:off x="728662" y="3300412"/>
            <a:ext cx="2573190" cy="376787"/>
          </a:xfrm>
          <a:prstGeom prst="rect">
            <a:avLst/>
          </a:prstGeom>
          <a:noFill/>
        </p:spPr>
        <p:txBody>
          <a:bodyPr wrap="square" lIns="204089" tIns="102108" rIns="0" bIns="0" rtlCol="0" anchor="t">
            <a:spAutoFit/>
          </a:bodyPr>
          <a:p>
            <a:pPr marL="0" indent="0" algn="l">
              <a:lnSpc>
                <a:spcPct val="120000"/>
              </a:lnSpc>
              <a:buNone/>
              <a:defRPr/>
            </a:pPr>
            <a:r>
              <a:rPr sz="12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5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Y.-K. Liu et al.,</a:t>
            </a:r>
            <a:r>
              <a:rPr lang="en-US" sz="15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2024</a:t>
            </a:r>
            <a:endParaRPr lang="en-US" sz="1050"/>
          </a:p>
        </p:txBody>
      </p:sp>
      <p:sp>
        <p:nvSpPr>
          <p:cNvPr id="382049898" name="Shape 35"/>
          <p:cNvSpPr/>
          <p:nvPr/>
        </p:nvSpPr>
        <p:spPr bwMode="auto">
          <a:xfrm>
            <a:off x="3300413" y="3300413"/>
            <a:ext cx="1543050" cy="1485900"/>
          </a:xfrm>
          <a:prstGeom prst="rect">
            <a:avLst/>
          </a:prstGeom>
          <a:solidFill>
            <a:srgbClr val="E7E7E7"/>
          </a:solidFill>
        </p:spPr>
      </p:sp>
      <p:sp>
        <p:nvSpPr>
          <p:cNvPr id="839614550" name="Shape 36"/>
          <p:cNvSpPr/>
          <p:nvPr/>
        </p:nvSpPr>
        <p:spPr bwMode="auto">
          <a:xfrm>
            <a:off x="4836318" y="3300413"/>
            <a:ext cx="7144" cy="1485900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588254688" name="Text 37"/>
          <p:cNvSpPr/>
          <p:nvPr/>
        </p:nvSpPr>
        <p:spPr bwMode="auto">
          <a:xfrm>
            <a:off x="3300412" y="3300412"/>
            <a:ext cx="1543769" cy="376787"/>
          </a:xfrm>
          <a:prstGeom prst="rect">
            <a:avLst/>
          </a:prstGeom>
          <a:noFill/>
        </p:spPr>
        <p:txBody>
          <a:bodyPr wrap="square" lIns="204089" tIns="102108" rIns="0" bIns="0" rtlCol="0" anchor="t">
            <a:spAutoFit/>
          </a:bodyPr>
          <a:p>
            <a:pPr marL="0" indent="0" algn="l">
              <a:lnSpc>
                <a:spcPct val="120000"/>
              </a:lnSpc>
              <a:buNone/>
              <a:defRPr/>
            </a:pPr>
            <a:r>
              <a:rPr lang="en-US" sz="15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XAI + CDSS</a:t>
            </a:r>
            <a:endParaRPr sz="1500">
              <a:latin typeface="Times New Roman"/>
              <a:cs typeface="Times New Roman"/>
            </a:endParaRPr>
          </a:p>
        </p:txBody>
      </p:sp>
      <p:sp>
        <p:nvSpPr>
          <p:cNvPr id="804899883" name="Shape 38"/>
          <p:cNvSpPr/>
          <p:nvPr/>
        </p:nvSpPr>
        <p:spPr bwMode="auto">
          <a:xfrm>
            <a:off x="4843463" y="3300413"/>
            <a:ext cx="3000375" cy="1485900"/>
          </a:xfrm>
          <a:prstGeom prst="rect">
            <a:avLst/>
          </a:prstGeom>
          <a:solidFill>
            <a:srgbClr val="E7E7E7"/>
          </a:solidFill>
        </p:spPr>
      </p:sp>
      <p:sp>
        <p:nvSpPr>
          <p:cNvPr id="698434159" name="Shape 39"/>
          <p:cNvSpPr/>
          <p:nvPr/>
        </p:nvSpPr>
        <p:spPr bwMode="auto">
          <a:xfrm>
            <a:off x="7836693" y="3300413"/>
            <a:ext cx="7144" cy="1485900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214073267" name="Text 40"/>
          <p:cNvSpPr/>
          <p:nvPr/>
        </p:nvSpPr>
        <p:spPr bwMode="auto">
          <a:xfrm>
            <a:off x="4843462" y="3300412"/>
            <a:ext cx="3001095" cy="925427"/>
          </a:xfrm>
          <a:prstGeom prst="rect">
            <a:avLst/>
          </a:prstGeom>
          <a:noFill/>
        </p:spPr>
        <p:txBody>
          <a:bodyPr wrap="square" lIns="204089" tIns="102108" rIns="0" bIns="0" rtlCol="0" anchor="t">
            <a:spAutoFit/>
          </a:bodyPr>
          <a:p>
            <a:pPr marL="0" indent="0" algn="l">
              <a:lnSpc>
                <a:spcPct val="120000"/>
              </a:lnSpc>
              <a:buNone/>
              <a:defRPr/>
            </a:pPr>
            <a:r>
              <a:rPr lang="en-US" sz="15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Integration of Explainable AI into Clinical Decision Support Systems for trustworthy diagnosis.</a:t>
            </a:r>
            <a:endParaRPr sz="1500">
              <a:latin typeface="Times New Roman"/>
              <a:cs typeface="Times New Roman"/>
            </a:endParaRPr>
          </a:p>
        </p:txBody>
      </p:sp>
      <p:sp>
        <p:nvSpPr>
          <p:cNvPr id="1450698436" name="Shape 41"/>
          <p:cNvSpPr/>
          <p:nvPr/>
        </p:nvSpPr>
        <p:spPr bwMode="auto">
          <a:xfrm>
            <a:off x="7843838" y="3300413"/>
            <a:ext cx="1185863" cy="1485900"/>
          </a:xfrm>
          <a:prstGeom prst="rect">
            <a:avLst/>
          </a:prstGeom>
          <a:solidFill>
            <a:srgbClr val="E7E7E7"/>
          </a:solidFill>
        </p:spPr>
      </p:sp>
      <p:sp>
        <p:nvSpPr>
          <p:cNvPr id="1221551101" name="Text 42"/>
          <p:cNvSpPr/>
          <p:nvPr/>
        </p:nvSpPr>
        <p:spPr bwMode="auto">
          <a:xfrm>
            <a:off x="7843837" y="3300412"/>
            <a:ext cx="1186582" cy="925427"/>
          </a:xfrm>
          <a:prstGeom prst="rect">
            <a:avLst/>
          </a:prstGeom>
          <a:noFill/>
        </p:spPr>
        <p:txBody>
          <a:bodyPr wrap="square" lIns="204089" tIns="102108" rIns="0" bIns="0" rtlCol="0" anchor="t">
            <a:spAutoFit/>
          </a:bodyPr>
          <a:p>
            <a:pPr marL="0" indent="0" algn="l">
              <a:lnSpc>
                <a:spcPct val="120000"/>
              </a:lnSpc>
              <a:buNone/>
              <a:defRPr/>
            </a:pPr>
            <a:r>
              <a:rPr lang="en-US" sz="15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Reduced cognitive load.</a:t>
            </a:r>
            <a:endParaRPr sz="1500">
              <a:latin typeface="Times New Roman"/>
              <a:cs typeface="Times New Roman"/>
            </a:endParaRPr>
          </a:p>
        </p:txBody>
      </p:sp>
      <p:sp>
        <p:nvSpPr>
          <p:cNvPr id="1536925160" name="Text 43"/>
          <p:cNvSpPr/>
          <p:nvPr/>
        </p:nvSpPr>
        <p:spPr bwMode="auto">
          <a:xfrm>
            <a:off x="8972550" y="4879181"/>
            <a:ext cx="50800" cy="13716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p>
            <a:pPr marL="0" indent="0" algn="l">
              <a:lnSpc>
                <a:spcPct val="120000"/>
              </a:lnSpc>
              <a:buNone/>
              <a:defRPr/>
            </a:pPr>
            <a:r>
              <a:rPr lang="en-US" sz="850">
                <a:solidFill>
                  <a:srgbClr val="898989"/>
                </a:solidFill>
                <a:latin typeface="Calibri"/>
                <a:ea typeface="Calibri"/>
                <a:cs typeface="Calibri"/>
              </a:rPr>
              <a:t>7</a:t>
            </a:r>
            <a:endParaRPr lang="en-US" sz="850"/>
          </a:p>
        </p:txBody>
      </p:sp>
      <p:sp>
        <p:nvSpPr>
          <p:cNvPr id="1466844907" name="Text 2"/>
          <p:cNvSpPr/>
          <p:nvPr/>
        </p:nvSpPr>
        <p:spPr bwMode="auto">
          <a:xfrm>
            <a:off x="315663" y="646186"/>
            <a:ext cx="315106" cy="13447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p>
            <a:pPr marL="0" indent="0" algn="l">
              <a:lnSpc>
                <a:spcPct val="80000"/>
              </a:lnSpc>
              <a:buNone/>
              <a:defRPr/>
            </a:pPr>
            <a:r>
              <a:rPr lang="en-US" sz="11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S.NO</a:t>
            </a:r>
            <a:endParaRPr sz="14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8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577463413" name="Image 0" descr="preencoded.png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568680119" name="Shape 0"/>
          <p:cNvSpPr/>
          <p:nvPr/>
        </p:nvSpPr>
        <p:spPr bwMode="auto">
          <a:xfrm>
            <a:off x="114300" y="500063"/>
            <a:ext cx="642938" cy="614363"/>
          </a:xfrm>
          <a:prstGeom prst="rect">
            <a:avLst/>
          </a:prstGeom>
          <a:solidFill>
            <a:srgbClr val="000000"/>
          </a:solidFill>
        </p:spPr>
      </p:sp>
      <p:sp>
        <p:nvSpPr>
          <p:cNvPr id="125471199" name="Shape 1"/>
          <p:cNvSpPr/>
          <p:nvPr/>
        </p:nvSpPr>
        <p:spPr bwMode="auto">
          <a:xfrm>
            <a:off x="750094" y="500063"/>
            <a:ext cx="7144" cy="614363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1071910579" name="Text 2"/>
          <p:cNvSpPr/>
          <p:nvPr/>
        </p:nvSpPr>
        <p:spPr bwMode="auto">
          <a:xfrm>
            <a:off x="315663" y="650080"/>
            <a:ext cx="315106" cy="13447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p>
            <a:pPr marL="0" indent="0" algn="l">
              <a:lnSpc>
                <a:spcPct val="80000"/>
              </a:lnSpc>
              <a:buNone/>
              <a:defRPr/>
            </a:pPr>
            <a:r>
              <a:rPr lang="en-US" sz="11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S.NO</a:t>
            </a:r>
            <a:endParaRPr sz="1400"/>
          </a:p>
        </p:txBody>
      </p:sp>
      <p:sp>
        <p:nvSpPr>
          <p:cNvPr id="60159776" name="Text 3"/>
          <p:cNvSpPr/>
          <p:nvPr/>
        </p:nvSpPr>
        <p:spPr bwMode="auto">
          <a:xfrm>
            <a:off x="374627" y="807243"/>
            <a:ext cx="756" cy="13447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p>
            <a:pPr marL="0" indent="0" algn="l">
              <a:lnSpc>
                <a:spcPct val="80000"/>
              </a:lnSpc>
              <a:buNone/>
              <a:defRPr/>
            </a:pPr>
            <a:endParaRPr lang="en-US" sz="1100"/>
          </a:p>
        </p:txBody>
      </p:sp>
      <p:sp>
        <p:nvSpPr>
          <p:cNvPr id="893944897" name="Shape 4"/>
          <p:cNvSpPr/>
          <p:nvPr/>
        </p:nvSpPr>
        <p:spPr bwMode="auto">
          <a:xfrm>
            <a:off x="757238" y="500063"/>
            <a:ext cx="2571750" cy="614363"/>
          </a:xfrm>
          <a:prstGeom prst="rect">
            <a:avLst/>
          </a:prstGeom>
          <a:solidFill>
            <a:srgbClr val="000000"/>
          </a:solidFill>
        </p:spPr>
      </p:sp>
      <p:sp>
        <p:nvSpPr>
          <p:cNvPr id="1707962355" name="Shape 5"/>
          <p:cNvSpPr/>
          <p:nvPr/>
        </p:nvSpPr>
        <p:spPr bwMode="auto">
          <a:xfrm>
            <a:off x="3321844" y="500063"/>
            <a:ext cx="7144" cy="614363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94978012" name="Text 6"/>
          <p:cNvSpPr/>
          <p:nvPr/>
        </p:nvSpPr>
        <p:spPr bwMode="auto">
          <a:xfrm>
            <a:off x="750093" y="606741"/>
            <a:ext cx="2572470" cy="238103"/>
          </a:xfrm>
          <a:prstGeom prst="rect">
            <a:avLst/>
          </a:prstGeom>
          <a:noFill/>
        </p:spPr>
        <p:txBody>
          <a:bodyPr wrap="square" lIns="204089" tIns="0" rIns="0" bIns="0" rtlCol="0" anchor="t">
            <a:spAutoFit/>
          </a:bodyPr>
          <a:p>
            <a:pPr marL="0" indent="0" algn="l">
              <a:lnSpc>
                <a:spcPct val="120000"/>
              </a:lnSpc>
              <a:buNone/>
              <a:defRPr/>
            </a:pPr>
            <a:r>
              <a:rPr lang="en-US" sz="13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Title, Author, Year</a:t>
            </a:r>
            <a:endParaRPr sz="1300"/>
          </a:p>
        </p:txBody>
      </p:sp>
      <p:sp>
        <p:nvSpPr>
          <p:cNvPr id="2019039013" name="Shape 7"/>
          <p:cNvSpPr/>
          <p:nvPr/>
        </p:nvSpPr>
        <p:spPr bwMode="auto">
          <a:xfrm>
            <a:off x="3328988" y="500063"/>
            <a:ext cx="1571625" cy="614363"/>
          </a:xfrm>
          <a:prstGeom prst="rect">
            <a:avLst/>
          </a:prstGeom>
          <a:solidFill>
            <a:srgbClr val="000000"/>
          </a:solidFill>
        </p:spPr>
      </p:sp>
      <p:sp>
        <p:nvSpPr>
          <p:cNvPr id="676346901" name="Shape 8"/>
          <p:cNvSpPr/>
          <p:nvPr/>
        </p:nvSpPr>
        <p:spPr bwMode="auto">
          <a:xfrm>
            <a:off x="4893469" y="500063"/>
            <a:ext cx="7144" cy="614363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1042587679" name="Text 9"/>
          <p:cNvSpPr/>
          <p:nvPr/>
        </p:nvSpPr>
        <p:spPr bwMode="auto">
          <a:xfrm>
            <a:off x="3330067" y="621983"/>
            <a:ext cx="1571985" cy="238103"/>
          </a:xfrm>
          <a:prstGeom prst="rect">
            <a:avLst/>
          </a:prstGeom>
          <a:noFill/>
        </p:spPr>
        <p:txBody>
          <a:bodyPr wrap="square" lIns="204089" tIns="0" rIns="0" bIns="0" rtlCol="0" anchor="t">
            <a:spAutoFit/>
          </a:bodyPr>
          <a:p>
            <a:pPr marL="0" indent="0" algn="l">
              <a:lnSpc>
                <a:spcPct val="120000"/>
              </a:lnSpc>
              <a:buNone/>
              <a:defRPr/>
            </a:pPr>
            <a:r>
              <a:rPr lang="en-US" sz="13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Technique used</a:t>
            </a:r>
            <a:endParaRPr sz="1300"/>
          </a:p>
        </p:txBody>
      </p:sp>
      <p:sp>
        <p:nvSpPr>
          <p:cNvPr id="1719718773" name="Shape 10"/>
          <p:cNvSpPr/>
          <p:nvPr/>
        </p:nvSpPr>
        <p:spPr bwMode="auto">
          <a:xfrm>
            <a:off x="4900613" y="500063"/>
            <a:ext cx="3000375" cy="614363"/>
          </a:xfrm>
          <a:prstGeom prst="rect">
            <a:avLst/>
          </a:prstGeom>
          <a:solidFill>
            <a:srgbClr val="000000"/>
          </a:solidFill>
        </p:spPr>
      </p:sp>
      <p:sp>
        <p:nvSpPr>
          <p:cNvPr id="2057892" name="Shape 11"/>
          <p:cNvSpPr/>
          <p:nvPr/>
        </p:nvSpPr>
        <p:spPr bwMode="auto">
          <a:xfrm>
            <a:off x="7893844" y="500063"/>
            <a:ext cx="7144" cy="614363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1957450713" name="Text 12"/>
          <p:cNvSpPr/>
          <p:nvPr/>
        </p:nvSpPr>
        <p:spPr bwMode="auto">
          <a:xfrm>
            <a:off x="5688963" y="612478"/>
            <a:ext cx="3000735" cy="238103"/>
          </a:xfrm>
          <a:prstGeom prst="rect">
            <a:avLst/>
          </a:prstGeom>
          <a:noFill/>
        </p:spPr>
        <p:txBody>
          <a:bodyPr wrap="square" lIns="204089" tIns="0" rIns="0" bIns="0" rtlCol="0" anchor="t">
            <a:spAutoFit/>
          </a:bodyPr>
          <a:p>
            <a:pPr marL="0" indent="0" algn="l">
              <a:lnSpc>
                <a:spcPct val="120000"/>
              </a:lnSpc>
              <a:buNone/>
              <a:defRPr/>
            </a:pPr>
            <a:r>
              <a:rPr lang="en-US" sz="13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Description</a:t>
            </a:r>
            <a:endParaRPr sz="1300"/>
          </a:p>
        </p:txBody>
      </p:sp>
      <p:sp>
        <p:nvSpPr>
          <p:cNvPr id="13325995" name="Shape 13"/>
          <p:cNvSpPr/>
          <p:nvPr/>
        </p:nvSpPr>
        <p:spPr bwMode="auto">
          <a:xfrm>
            <a:off x="7900988" y="500063"/>
            <a:ext cx="1214438" cy="614363"/>
          </a:xfrm>
          <a:prstGeom prst="rect">
            <a:avLst/>
          </a:prstGeom>
          <a:solidFill>
            <a:srgbClr val="000000"/>
          </a:solidFill>
        </p:spPr>
      </p:sp>
      <p:sp>
        <p:nvSpPr>
          <p:cNvPr id="1835972604" name="Text 14"/>
          <p:cNvSpPr/>
          <p:nvPr/>
        </p:nvSpPr>
        <p:spPr bwMode="auto">
          <a:xfrm>
            <a:off x="7893843" y="606741"/>
            <a:ext cx="1214797" cy="238103"/>
          </a:xfrm>
          <a:prstGeom prst="rect">
            <a:avLst/>
          </a:prstGeom>
          <a:noFill/>
        </p:spPr>
        <p:txBody>
          <a:bodyPr wrap="square" lIns="204089" tIns="0" rIns="0" bIns="0" rtlCol="0" anchor="t">
            <a:spAutoFit/>
          </a:bodyPr>
          <a:p>
            <a:pPr marL="0" indent="0" algn="l">
              <a:lnSpc>
                <a:spcPct val="120000"/>
              </a:lnSpc>
              <a:buNone/>
              <a:defRPr/>
            </a:pPr>
            <a:r>
              <a:rPr lang="en-US" sz="13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Remarks</a:t>
            </a:r>
            <a:endParaRPr sz="1300"/>
          </a:p>
        </p:txBody>
      </p:sp>
      <p:sp>
        <p:nvSpPr>
          <p:cNvPr id="640365068" name="Shape 15"/>
          <p:cNvSpPr/>
          <p:nvPr/>
        </p:nvSpPr>
        <p:spPr bwMode="auto">
          <a:xfrm>
            <a:off x="114300" y="1114425"/>
            <a:ext cx="642938" cy="1750219"/>
          </a:xfrm>
          <a:prstGeom prst="rect">
            <a:avLst/>
          </a:prstGeom>
          <a:solidFill>
            <a:srgbClr val="CBCBCB"/>
          </a:solidFill>
        </p:spPr>
      </p:sp>
      <p:sp>
        <p:nvSpPr>
          <p:cNvPr id="1272233177" name="Shape 16"/>
          <p:cNvSpPr/>
          <p:nvPr/>
        </p:nvSpPr>
        <p:spPr bwMode="auto">
          <a:xfrm>
            <a:off x="750094" y="1114425"/>
            <a:ext cx="7144" cy="1750219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1374413670" name="Text 17"/>
          <p:cNvSpPr/>
          <p:nvPr/>
        </p:nvSpPr>
        <p:spPr bwMode="auto">
          <a:xfrm>
            <a:off x="114300" y="1114425"/>
            <a:ext cx="643297" cy="410697"/>
          </a:xfrm>
          <a:prstGeom prst="rect">
            <a:avLst/>
          </a:prstGeom>
          <a:noFill/>
        </p:spPr>
        <p:txBody>
          <a:bodyPr wrap="square" lIns="136017" tIns="136017" rIns="0" bIns="0" rtlCol="0" anchor="t">
            <a:spAutoFit/>
          </a:bodyPr>
          <a:p>
            <a:pPr marL="0" indent="0" algn="l">
              <a:lnSpc>
                <a:spcPct val="120000"/>
              </a:lnSpc>
              <a:buNone/>
              <a:defRPr/>
            </a:pPr>
            <a:r>
              <a:rPr lang="en-US" sz="15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9</a:t>
            </a:r>
            <a:endParaRPr lang="en-US" sz="1500"/>
          </a:p>
        </p:txBody>
      </p:sp>
      <p:sp>
        <p:nvSpPr>
          <p:cNvPr id="731850252" name="Shape 18"/>
          <p:cNvSpPr/>
          <p:nvPr/>
        </p:nvSpPr>
        <p:spPr bwMode="auto">
          <a:xfrm>
            <a:off x="757238" y="1114425"/>
            <a:ext cx="2571750" cy="1750219"/>
          </a:xfrm>
          <a:prstGeom prst="rect">
            <a:avLst/>
          </a:prstGeom>
          <a:solidFill>
            <a:srgbClr val="CBCBCB"/>
          </a:solidFill>
        </p:spPr>
      </p:sp>
      <p:sp>
        <p:nvSpPr>
          <p:cNvPr id="1259885560" name="Shape 19"/>
          <p:cNvSpPr/>
          <p:nvPr/>
        </p:nvSpPr>
        <p:spPr bwMode="auto">
          <a:xfrm>
            <a:off x="3321844" y="1114425"/>
            <a:ext cx="7144" cy="1750219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614081572" name="Text 20"/>
          <p:cNvSpPr/>
          <p:nvPr/>
        </p:nvSpPr>
        <p:spPr bwMode="auto">
          <a:xfrm>
            <a:off x="757237" y="1114425"/>
            <a:ext cx="2575350" cy="500994"/>
          </a:xfrm>
          <a:prstGeom prst="rect">
            <a:avLst/>
          </a:prstGeom>
          <a:noFill/>
        </p:spPr>
        <p:txBody>
          <a:bodyPr wrap="square" lIns="136017" tIns="136017" rIns="136017" bIns="136017" rtlCol="0" anchor="t">
            <a:spAutoFit/>
          </a:bodyPr>
          <a:p>
            <a:pPr>
              <a:defRPr/>
            </a:pPr>
            <a:r>
              <a:rPr sz="15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J. Cleland-Huang et al.,2010</a:t>
            </a:r>
            <a:r>
              <a:rPr sz="1500"/>
              <a:t> </a:t>
            </a:r>
            <a:endParaRPr sz="1500"/>
          </a:p>
        </p:txBody>
      </p:sp>
      <p:sp>
        <p:nvSpPr>
          <p:cNvPr id="1716779959" name="Shape 21"/>
          <p:cNvSpPr/>
          <p:nvPr/>
        </p:nvSpPr>
        <p:spPr bwMode="auto">
          <a:xfrm>
            <a:off x="3328988" y="1114425"/>
            <a:ext cx="1571625" cy="1750219"/>
          </a:xfrm>
          <a:prstGeom prst="rect">
            <a:avLst/>
          </a:prstGeom>
          <a:solidFill>
            <a:srgbClr val="CBCBCB"/>
          </a:solidFill>
        </p:spPr>
      </p:sp>
      <p:sp>
        <p:nvSpPr>
          <p:cNvPr id="1467327407" name="Shape 22"/>
          <p:cNvSpPr/>
          <p:nvPr/>
        </p:nvSpPr>
        <p:spPr bwMode="auto">
          <a:xfrm>
            <a:off x="4893469" y="1114425"/>
            <a:ext cx="7144" cy="1750219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1597049962" name="Text 23"/>
          <p:cNvSpPr/>
          <p:nvPr/>
        </p:nvSpPr>
        <p:spPr bwMode="auto">
          <a:xfrm>
            <a:off x="3328987" y="1114425"/>
            <a:ext cx="1572345" cy="546713"/>
          </a:xfrm>
          <a:prstGeom prst="rect">
            <a:avLst/>
          </a:prstGeom>
          <a:noFill/>
        </p:spPr>
        <p:txBody>
          <a:bodyPr wrap="square" lIns="136017" tIns="136017" rIns="136017" bIns="136017" rtlCol="0" anchor="t">
            <a:spAutoFit/>
          </a:bodyPr>
          <a:p>
            <a:pPr marL="0" indent="0" algn="l">
              <a:lnSpc>
                <a:spcPct val="120000"/>
              </a:lnSpc>
              <a:buNone/>
              <a:defRPr/>
            </a:pPr>
            <a:r>
              <a:rPr lang="en-US" sz="15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ML Compliance</a:t>
            </a:r>
            <a:endParaRPr sz="1500">
              <a:latin typeface="Times New Roman"/>
              <a:cs typeface="Times New Roman"/>
            </a:endParaRPr>
          </a:p>
        </p:txBody>
      </p:sp>
      <p:sp>
        <p:nvSpPr>
          <p:cNvPr id="1114049048" name="Shape 24"/>
          <p:cNvSpPr/>
          <p:nvPr/>
        </p:nvSpPr>
        <p:spPr bwMode="auto">
          <a:xfrm>
            <a:off x="4900613" y="1114425"/>
            <a:ext cx="3000375" cy="1750219"/>
          </a:xfrm>
          <a:prstGeom prst="rect">
            <a:avLst/>
          </a:prstGeom>
          <a:solidFill>
            <a:srgbClr val="CBCBCB"/>
          </a:solidFill>
        </p:spPr>
      </p:sp>
      <p:sp>
        <p:nvSpPr>
          <p:cNvPr id="635999034" name="Shape 25"/>
          <p:cNvSpPr/>
          <p:nvPr/>
        </p:nvSpPr>
        <p:spPr bwMode="auto">
          <a:xfrm>
            <a:off x="7893844" y="1114425"/>
            <a:ext cx="7144" cy="1750219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738553559" name="Text 26"/>
          <p:cNvSpPr/>
          <p:nvPr/>
        </p:nvSpPr>
        <p:spPr bwMode="auto">
          <a:xfrm>
            <a:off x="4900612" y="1114425"/>
            <a:ext cx="3001095" cy="821034"/>
          </a:xfrm>
          <a:prstGeom prst="rect">
            <a:avLst/>
          </a:prstGeom>
          <a:noFill/>
        </p:spPr>
        <p:txBody>
          <a:bodyPr wrap="square" lIns="136017" tIns="136017" rIns="136017" bIns="136017" rtlCol="0" anchor="t">
            <a:spAutoFit/>
          </a:bodyPr>
          <a:p>
            <a:pPr marL="0" indent="0" algn="l">
              <a:lnSpc>
                <a:spcPct val="120000"/>
              </a:lnSpc>
              <a:buNone/>
              <a:defRPr/>
            </a:pPr>
            <a:r>
              <a:rPr lang="en-US" sz="15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Regulatory mapping for machine learning systems.</a:t>
            </a:r>
            <a:endParaRPr sz="1500">
              <a:latin typeface="Times New Roman"/>
              <a:cs typeface="Times New Roman"/>
            </a:endParaRPr>
          </a:p>
        </p:txBody>
      </p:sp>
      <p:sp>
        <p:nvSpPr>
          <p:cNvPr id="930374508" name="Shape 27"/>
          <p:cNvSpPr/>
          <p:nvPr/>
        </p:nvSpPr>
        <p:spPr bwMode="auto">
          <a:xfrm>
            <a:off x="7900988" y="1114425"/>
            <a:ext cx="1214438" cy="1750219"/>
          </a:xfrm>
          <a:prstGeom prst="rect">
            <a:avLst/>
          </a:prstGeom>
          <a:solidFill>
            <a:srgbClr val="CBCBCB"/>
          </a:solidFill>
        </p:spPr>
      </p:sp>
      <p:sp>
        <p:nvSpPr>
          <p:cNvPr id="1425852361" name="Text 28"/>
          <p:cNvSpPr/>
          <p:nvPr/>
        </p:nvSpPr>
        <p:spPr bwMode="auto">
          <a:xfrm>
            <a:off x="7900987" y="1114425"/>
            <a:ext cx="1215157" cy="821034"/>
          </a:xfrm>
          <a:prstGeom prst="rect">
            <a:avLst/>
          </a:prstGeom>
          <a:noFill/>
        </p:spPr>
        <p:txBody>
          <a:bodyPr wrap="square" lIns="136017" tIns="136017" rIns="136017" bIns="136017" rtlCol="0" anchor="t">
            <a:spAutoFit/>
          </a:bodyPr>
          <a:p>
            <a:pPr marL="0" indent="0" algn="l">
              <a:lnSpc>
                <a:spcPct val="120000"/>
              </a:lnSpc>
              <a:buNone/>
              <a:defRPr/>
            </a:pPr>
            <a:r>
              <a:rPr lang="en-US" sz="15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Governance support</a:t>
            </a:r>
            <a:endParaRPr sz="1500">
              <a:latin typeface="Times New Roman"/>
              <a:cs typeface="Times New Roman"/>
            </a:endParaRPr>
          </a:p>
        </p:txBody>
      </p:sp>
      <p:sp>
        <p:nvSpPr>
          <p:cNvPr id="434830097" name="Shape 29"/>
          <p:cNvSpPr/>
          <p:nvPr/>
        </p:nvSpPr>
        <p:spPr bwMode="auto">
          <a:xfrm>
            <a:off x="114300" y="2864644"/>
            <a:ext cx="642938" cy="1750219"/>
          </a:xfrm>
          <a:prstGeom prst="rect">
            <a:avLst/>
          </a:prstGeom>
          <a:solidFill>
            <a:srgbClr val="E7E7E7"/>
          </a:solidFill>
        </p:spPr>
      </p:sp>
      <p:sp>
        <p:nvSpPr>
          <p:cNvPr id="768574411" name="Shape 30"/>
          <p:cNvSpPr/>
          <p:nvPr/>
        </p:nvSpPr>
        <p:spPr bwMode="auto">
          <a:xfrm>
            <a:off x="114300" y="2864644"/>
            <a:ext cx="642938" cy="7144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1260467707" name="Shape 31"/>
          <p:cNvSpPr/>
          <p:nvPr/>
        </p:nvSpPr>
        <p:spPr bwMode="auto">
          <a:xfrm>
            <a:off x="750094" y="2864644"/>
            <a:ext cx="7144" cy="1750219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1524892655" name="Text 32"/>
          <p:cNvSpPr/>
          <p:nvPr/>
        </p:nvSpPr>
        <p:spPr bwMode="auto">
          <a:xfrm>
            <a:off x="114300" y="2864643"/>
            <a:ext cx="643297" cy="410697"/>
          </a:xfrm>
          <a:prstGeom prst="rect">
            <a:avLst/>
          </a:prstGeom>
          <a:noFill/>
        </p:spPr>
        <p:txBody>
          <a:bodyPr wrap="square" lIns="136017" tIns="136017" rIns="0" bIns="0" rtlCol="0" anchor="t">
            <a:spAutoFit/>
          </a:bodyPr>
          <a:p>
            <a:pPr marL="0" indent="0" algn="l">
              <a:lnSpc>
                <a:spcPct val="120000"/>
              </a:lnSpc>
              <a:buNone/>
              <a:defRPr/>
            </a:pPr>
            <a:r>
              <a:rPr lang="en-US" sz="15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10</a:t>
            </a:r>
            <a:endParaRPr sz="1500">
              <a:latin typeface="Times New Roman"/>
              <a:cs typeface="Times New Roman"/>
            </a:endParaRPr>
          </a:p>
        </p:txBody>
      </p:sp>
      <p:sp>
        <p:nvSpPr>
          <p:cNvPr id="1909818901" name="Shape 33"/>
          <p:cNvSpPr/>
          <p:nvPr/>
        </p:nvSpPr>
        <p:spPr bwMode="auto">
          <a:xfrm>
            <a:off x="757238" y="2864644"/>
            <a:ext cx="2571750" cy="1750219"/>
          </a:xfrm>
          <a:prstGeom prst="rect">
            <a:avLst/>
          </a:prstGeom>
          <a:solidFill>
            <a:srgbClr val="E7E7E7"/>
          </a:solidFill>
        </p:spPr>
      </p:sp>
      <p:sp>
        <p:nvSpPr>
          <p:cNvPr id="1087508898" name="Shape 34"/>
          <p:cNvSpPr/>
          <p:nvPr/>
        </p:nvSpPr>
        <p:spPr bwMode="auto">
          <a:xfrm>
            <a:off x="757238" y="2864644"/>
            <a:ext cx="2571750" cy="7144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2110075909" name="Shape 35"/>
          <p:cNvSpPr/>
          <p:nvPr/>
        </p:nvSpPr>
        <p:spPr bwMode="auto">
          <a:xfrm>
            <a:off x="3321844" y="2864644"/>
            <a:ext cx="7144" cy="1750219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1265752013" name="Text 36"/>
          <p:cNvSpPr/>
          <p:nvPr/>
        </p:nvSpPr>
        <p:spPr bwMode="auto">
          <a:xfrm>
            <a:off x="757237" y="2864643"/>
            <a:ext cx="2572470" cy="546713"/>
          </a:xfrm>
          <a:prstGeom prst="rect">
            <a:avLst/>
          </a:prstGeom>
          <a:noFill/>
        </p:spPr>
        <p:txBody>
          <a:bodyPr wrap="square" lIns="136017" tIns="136017" rIns="136017" bIns="136017" rtlCol="0" anchor="t">
            <a:spAutoFit/>
          </a:bodyPr>
          <a:p>
            <a:pPr marL="0" indent="0" algn="l">
              <a:lnSpc>
                <a:spcPct val="120000"/>
              </a:lnSpc>
              <a:buNone/>
              <a:defRPr/>
            </a:pPr>
            <a:r>
              <a:rPr lang="en-US" sz="15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WHO ICD API Docs</a:t>
            </a:r>
            <a:endParaRPr sz="1500">
              <a:latin typeface="Times New Roman"/>
              <a:cs typeface="Times New Roman"/>
            </a:endParaRPr>
          </a:p>
        </p:txBody>
      </p:sp>
      <p:sp>
        <p:nvSpPr>
          <p:cNvPr id="460808833" name="Shape 37"/>
          <p:cNvSpPr/>
          <p:nvPr/>
        </p:nvSpPr>
        <p:spPr bwMode="auto">
          <a:xfrm>
            <a:off x="3328988" y="2864644"/>
            <a:ext cx="1571625" cy="1750219"/>
          </a:xfrm>
          <a:prstGeom prst="rect">
            <a:avLst/>
          </a:prstGeom>
          <a:solidFill>
            <a:srgbClr val="E7E7E7"/>
          </a:solidFill>
        </p:spPr>
      </p:sp>
      <p:sp>
        <p:nvSpPr>
          <p:cNvPr id="1028039117" name="Shape 38"/>
          <p:cNvSpPr/>
          <p:nvPr/>
        </p:nvSpPr>
        <p:spPr bwMode="auto">
          <a:xfrm>
            <a:off x="3328988" y="2864644"/>
            <a:ext cx="1571625" cy="7144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687393331" name="Shape 39"/>
          <p:cNvSpPr/>
          <p:nvPr/>
        </p:nvSpPr>
        <p:spPr bwMode="auto">
          <a:xfrm>
            <a:off x="4893469" y="2864644"/>
            <a:ext cx="7144" cy="1750219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1588541227" name="Text 40"/>
          <p:cNvSpPr/>
          <p:nvPr/>
        </p:nvSpPr>
        <p:spPr bwMode="auto">
          <a:xfrm>
            <a:off x="3328987" y="2864643"/>
            <a:ext cx="1572345" cy="546713"/>
          </a:xfrm>
          <a:prstGeom prst="rect">
            <a:avLst/>
          </a:prstGeom>
          <a:noFill/>
        </p:spPr>
        <p:txBody>
          <a:bodyPr wrap="square" lIns="136017" tIns="136017" rIns="136017" bIns="136017" rtlCol="0" anchor="t">
            <a:spAutoFit/>
          </a:bodyPr>
          <a:p>
            <a:pPr marL="0" indent="0" algn="l">
              <a:lnSpc>
                <a:spcPct val="120000"/>
              </a:lnSpc>
              <a:buNone/>
              <a:defRPr/>
            </a:pPr>
            <a:r>
              <a:rPr lang="en-US" sz="15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REST APIs</a:t>
            </a:r>
            <a:endParaRPr sz="1500">
              <a:latin typeface="Times New Roman"/>
              <a:cs typeface="Times New Roman"/>
            </a:endParaRPr>
          </a:p>
        </p:txBody>
      </p:sp>
      <p:sp>
        <p:nvSpPr>
          <p:cNvPr id="1161617940" name="Shape 41"/>
          <p:cNvSpPr/>
          <p:nvPr/>
        </p:nvSpPr>
        <p:spPr bwMode="auto">
          <a:xfrm>
            <a:off x="4900613" y="2864644"/>
            <a:ext cx="3000375" cy="1750219"/>
          </a:xfrm>
          <a:prstGeom prst="rect">
            <a:avLst/>
          </a:prstGeom>
          <a:solidFill>
            <a:srgbClr val="E7E7E7"/>
          </a:solidFill>
        </p:spPr>
      </p:sp>
      <p:sp>
        <p:nvSpPr>
          <p:cNvPr id="1453567078" name="Shape 42"/>
          <p:cNvSpPr/>
          <p:nvPr/>
        </p:nvSpPr>
        <p:spPr bwMode="auto">
          <a:xfrm>
            <a:off x="4900613" y="2864644"/>
            <a:ext cx="3000375" cy="7144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2078861081" name="Shape 43"/>
          <p:cNvSpPr/>
          <p:nvPr/>
        </p:nvSpPr>
        <p:spPr bwMode="auto">
          <a:xfrm>
            <a:off x="7893844" y="2864644"/>
            <a:ext cx="7144" cy="1750219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1921096778" name="Text 44"/>
          <p:cNvSpPr/>
          <p:nvPr/>
        </p:nvSpPr>
        <p:spPr bwMode="auto">
          <a:xfrm>
            <a:off x="4900612" y="2864643"/>
            <a:ext cx="3001095" cy="821034"/>
          </a:xfrm>
          <a:prstGeom prst="rect">
            <a:avLst/>
          </a:prstGeom>
          <a:noFill/>
        </p:spPr>
        <p:txBody>
          <a:bodyPr wrap="square" lIns="136017" tIns="136017" rIns="136017" bIns="136017" rtlCol="0" anchor="t">
            <a:spAutoFit/>
          </a:bodyPr>
          <a:p>
            <a:pPr marL="0" indent="0" algn="l">
              <a:lnSpc>
                <a:spcPct val="120000"/>
              </a:lnSpc>
              <a:buNone/>
              <a:defRPr/>
            </a:pPr>
            <a:r>
              <a:rPr lang="en-US" sz="15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Official documentation for ICD retrieval via REST APIs.</a:t>
            </a:r>
            <a:endParaRPr sz="1500">
              <a:latin typeface="Times New Roman"/>
              <a:cs typeface="Times New Roman"/>
            </a:endParaRPr>
          </a:p>
        </p:txBody>
      </p:sp>
      <p:sp>
        <p:nvSpPr>
          <p:cNvPr id="1716084905" name="Shape 45"/>
          <p:cNvSpPr/>
          <p:nvPr/>
        </p:nvSpPr>
        <p:spPr bwMode="auto">
          <a:xfrm>
            <a:off x="7900988" y="2864644"/>
            <a:ext cx="1214438" cy="1750219"/>
          </a:xfrm>
          <a:prstGeom prst="rect">
            <a:avLst/>
          </a:prstGeom>
          <a:solidFill>
            <a:srgbClr val="E7E7E7"/>
          </a:solidFill>
        </p:spPr>
      </p:sp>
      <p:sp>
        <p:nvSpPr>
          <p:cNvPr id="467652005" name="Shape 46"/>
          <p:cNvSpPr/>
          <p:nvPr/>
        </p:nvSpPr>
        <p:spPr bwMode="auto">
          <a:xfrm>
            <a:off x="7900988" y="2864644"/>
            <a:ext cx="1214438" cy="7144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894190985" name="Text 47"/>
          <p:cNvSpPr/>
          <p:nvPr/>
        </p:nvSpPr>
        <p:spPr bwMode="auto">
          <a:xfrm>
            <a:off x="7900987" y="2864643"/>
            <a:ext cx="1215157" cy="821034"/>
          </a:xfrm>
          <a:prstGeom prst="rect">
            <a:avLst/>
          </a:prstGeom>
          <a:noFill/>
        </p:spPr>
        <p:txBody>
          <a:bodyPr wrap="square" lIns="136017" tIns="136017" rIns="136017" bIns="136017" rtlCol="0" anchor="t">
            <a:spAutoFit/>
          </a:bodyPr>
          <a:p>
            <a:pPr marL="0" indent="0" algn="l">
              <a:lnSpc>
                <a:spcPct val="120000"/>
              </a:lnSpc>
              <a:buNone/>
              <a:defRPr/>
            </a:pPr>
            <a:r>
              <a:rPr lang="en-US" sz="15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Real-time access</a:t>
            </a:r>
            <a:endParaRPr sz="1500">
              <a:latin typeface="Times New Roman"/>
              <a:cs typeface="Times New Roman"/>
            </a:endParaRPr>
          </a:p>
        </p:txBody>
      </p:sp>
      <p:sp>
        <p:nvSpPr>
          <p:cNvPr id="898466456" name="Text 48"/>
          <p:cNvSpPr/>
          <p:nvPr/>
        </p:nvSpPr>
        <p:spPr bwMode="auto">
          <a:xfrm>
            <a:off x="8972550" y="4879181"/>
            <a:ext cx="63500" cy="13716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p>
            <a:pPr marL="0" indent="0" algn="l">
              <a:lnSpc>
                <a:spcPct val="120000"/>
              </a:lnSpc>
              <a:buNone/>
              <a:defRPr/>
            </a:pPr>
            <a:r>
              <a:rPr lang="en-US" sz="850">
                <a:solidFill>
                  <a:srgbClr val="898989"/>
                </a:solidFill>
                <a:latin typeface="Calibri"/>
                <a:ea typeface="Calibri"/>
                <a:cs typeface="Calibri"/>
              </a:rPr>
              <a:t>8</a:t>
            </a:r>
            <a:endParaRPr lang="en-US" sz="85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9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929737530" name="Image 0" descr="preencoded.png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0" y="0"/>
            <a:ext cx="9144000" cy="5486037"/>
          </a:xfrm>
          <a:prstGeom prst="rect">
            <a:avLst/>
          </a:prstGeom>
        </p:spPr>
      </p:pic>
      <p:pic>
        <p:nvPicPr>
          <p:cNvPr id="1602116072" name="Image 1" descr="preencoded.png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>
            <a:off x="0" y="0"/>
            <a:ext cx="9144000" cy="1071563"/>
          </a:xfrm>
          <a:prstGeom prst="rect">
            <a:avLst/>
          </a:prstGeom>
        </p:spPr>
      </p:pic>
      <p:sp>
        <p:nvSpPr>
          <p:cNvPr id="1647148730" name="Text 0"/>
          <p:cNvSpPr/>
          <p:nvPr/>
        </p:nvSpPr>
        <p:spPr bwMode="auto">
          <a:xfrm>
            <a:off x="628649" y="1185862"/>
            <a:ext cx="2239259" cy="346002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p>
            <a:pPr marL="0" indent="0" algn="l">
              <a:lnSpc>
                <a:spcPct val="84000"/>
              </a:lnSpc>
              <a:buNone/>
              <a:defRPr/>
            </a:pPr>
            <a:r>
              <a:rPr lang="en-US" sz="27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Existing System</a:t>
            </a:r>
            <a:endParaRPr sz="2700"/>
          </a:p>
        </p:txBody>
      </p:sp>
      <p:sp>
        <p:nvSpPr>
          <p:cNvPr id="268813166" name="Text 1"/>
          <p:cNvSpPr/>
          <p:nvPr/>
        </p:nvSpPr>
        <p:spPr bwMode="auto">
          <a:xfrm>
            <a:off x="864394" y="1978456"/>
            <a:ext cx="76200" cy="21336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p>
            <a:pPr marL="0" indent="0" algn="l">
              <a:lnSpc>
                <a:spcPct val="120000"/>
              </a:lnSpc>
              <a:buNone/>
              <a:defRPr/>
            </a:pPr>
            <a:r>
              <a:rPr lang="en-US" sz="125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•</a:t>
            </a:r>
            <a:endParaRPr lang="en-US" sz="1250"/>
          </a:p>
        </p:txBody>
      </p:sp>
      <p:sp>
        <p:nvSpPr>
          <p:cNvPr id="196840354" name="Text 2"/>
          <p:cNvSpPr/>
          <p:nvPr/>
        </p:nvSpPr>
        <p:spPr bwMode="auto">
          <a:xfrm>
            <a:off x="1064418" y="1978455"/>
            <a:ext cx="6397259" cy="256392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p>
            <a:pPr marL="0" indent="0" algn="l">
              <a:lnSpc>
                <a:spcPct val="112000"/>
              </a:lnSpc>
              <a:buNone/>
              <a:defRPr/>
            </a:pPr>
            <a:r>
              <a:rPr lang="en-US" sz="15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Clinicians manually assign both NAMASTE and ICD-11 codes for every diagnosis.</a:t>
            </a:r>
            <a:endParaRPr sz="1500"/>
          </a:p>
        </p:txBody>
      </p:sp>
      <p:sp>
        <p:nvSpPr>
          <p:cNvPr id="560717004" name="Text 3"/>
          <p:cNvSpPr/>
          <p:nvPr/>
        </p:nvSpPr>
        <p:spPr bwMode="auto">
          <a:xfrm>
            <a:off x="864394" y="2407081"/>
            <a:ext cx="76200" cy="21336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p>
            <a:pPr marL="0" indent="0" algn="l">
              <a:lnSpc>
                <a:spcPct val="120000"/>
              </a:lnSpc>
              <a:buNone/>
              <a:defRPr/>
            </a:pPr>
            <a:r>
              <a:rPr lang="en-US" sz="125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•</a:t>
            </a:r>
            <a:endParaRPr lang="en-US" sz="1250"/>
          </a:p>
        </p:txBody>
      </p:sp>
      <p:sp>
        <p:nvSpPr>
          <p:cNvPr id="1955293323" name="Text 4"/>
          <p:cNvSpPr/>
          <p:nvPr/>
        </p:nvSpPr>
        <p:spPr bwMode="auto">
          <a:xfrm>
            <a:off x="1064418" y="2407080"/>
            <a:ext cx="6078099" cy="256392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p>
            <a:pPr marL="0" indent="0" algn="l">
              <a:lnSpc>
                <a:spcPct val="112000"/>
              </a:lnSpc>
              <a:buNone/>
              <a:defRPr/>
            </a:pPr>
            <a:r>
              <a:rPr lang="en-US" sz="15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Heavy reliance on manual records and basic spreadsheets for data management.</a:t>
            </a:r>
            <a:endParaRPr sz="1500"/>
          </a:p>
        </p:txBody>
      </p:sp>
      <p:sp>
        <p:nvSpPr>
          <p:cNvPr id="2051586439" name="Text 5"/>
          <p:cNvSpPr/>
          <p:nvPr/>
        </p:nvSpPr>
        <p:spPr bwMode="auto">
          <a:xfrm>
            <a:off x="864394" y="2835706"/>
            <a:ext cx="76200" cy="21336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p>
            <a:pPr marL="0" indent="0" algn="l">
              <a:lnSpc>
                <a:spcPct val="120000"/>
              </a:lnSpc>
              <a:buNone/>
              <a:defRPr/>
            </a:pPr>
            <a:r>
              <a:rPr lang="en-US" sz="125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•</a:t>
            </a:r>
            <a:endParaRPr lang="en-US" sz="1250"/>
          </a:p>
        </p:txBody>
      </p:sp>
      <p:sp>
        <p:nvSpPr>
          <p:cNvPr id="785240100" name="Text 6"/>
          <p:cNvSpPr/>
          <p:nvPr/>
        </p:nvSpPr>
        <p:spPr bwMode="auto">
          <a:xfrm>
            <a:off x="1064418" y="2835705"/>
            <a:ext cx="6047030" cy="256392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p>
            <a:pPr marL="0" indent="0" algn="l">
              <a:lnSpc>
                <a:spcPct val="112000"/>
              </a:lnSpc>
              <a:buNone/>
              <a:defRPr/>
            </a:pPr>
            <a:r>
              <a:rPr lang="en-US" sz="15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Complete absence of AI assistance or semantic understanding of clinical terms.</a:t>
            </a:r>
            <a:endParaRPr sz="1500"/>
          </a:p>
        </p:txBody>
      </p:sp>
      <p:sp>
        <p:nvSpPr>
          <p:cNvPr id="466407366" name="Text 7"/>
          <p:cNvSpPr/>
          <p:nvPr/>
        </p:nvSpPr>
        <p:spPr bwMode="auto">
          <a:xfrm>
            <a:off x="864394" y="3264331"/>
            <a:ext cx="76200" cy="21336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p>
            <a:pPr marL="0" indent="0" algn="l">
              <a:lnSpc>
                <a:spcPct val="120000"/>
              </a:lnSpc>
              <a:buNone/>
              <a:defRPr/>
            </a:pPr>
            <a:r>
              <a:rPr lang="en-US" sz="125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•</a:t>
            </a:r>
            <a:endParaRPr lang="en-US" sz="1250"/>
          </a:p>
        </p:txBody>
      </p:sp>
      <p:sp>
        <p:nvSpPr>
          <p:cNvPr id="1928576966" name="Text 8"/>
          <p:cNvSpPr/>
          <p:nvPr/>
        </p:nvSpPr>
        <p:spPr bwMode="auto">
          <a:xfrm>
            <a:off x="1064418" y="3264330"/>
            <a:ext cx="4804162" cy="256392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p>
            <a:pPr marL="0" indent="0" algn="l">
              <a:lnSpc>
                <a:spcPct val="112000"/>
              </a:lnSpc>
              <a:buNone/>
              <a:defRPr/>
            </a:pPr>
            <a:r>
              <a:rPr lang="en-US" sz="15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No support for healthcare interoperability standards like FHIR.</a:t>
            </a:r>
            <a:endParaRPr sz="1500"/>
          </a:p>
        </p:txBody>
      </p:sp>
      <p:sp>
        <p:nvSpPr>
          <p:cNvPr id="1054242525" name="Text 9"/>
          <p:cNvSpPr/>
          <p:nvPr/>
        </p:nvSpPr>
        <p:spPr bwMode="auto">
          <a:xfrm>
            <a:off x="864394" y="3692956"/>
            <a:ext cx="76200" cy="21336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p>
            <a:pPr marL="0" indent="0" algn="l">
              <a:lnSpc>
                <a:spcPct val="120000"/>
              </a:lnSpc>
              <a:buNone/>
              <a:defRPr/>
            </a:pPr>
            <a:r>
              <a:rPr lang="en-US" sz="125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•</a:t>
            </a:r>
            <a:endParaRPr lang="en-US" sz="1250"/>
          </a:p>
        </p:txBody>
      </p:sp>
      <p:sp>
        <p:nvSpPr>
          <p:cNvPr id="243300677" name="Text 10"/>
          <p:cNvSpPr/>
          <p:nvPr/>
        </p:nvSpPr>
        <p:spPr bwMode="auto">
          <a:xfrm>
            <a:off x="1064418" y="3692955"/>
            <a:ext cx="6491084" cy="256392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p>
            <a:pPr marL="0" indent="0" algn="l">
              <a:lnSpc>
                <a:spcPct val="112000"/>
              </a:lnSpc>
              <a:buNone/>
              <a:defRPr/>
            </a:pPr>
            <a:r>
              <a:rPr lang="en-US" sz="15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Process is not scalable for large-scale healthcare deployments or national integration.</a:t>
            </a:r>
            <a:endParaRPr sz="1500"/>
          </a:p>
        </p:txBody>
      </p:sp>
      <p:pic>
        <p:nvPicPr>
          <p:cNvPr id="1445298937" name="Image 2" descr="preencoded.png"/>
          <p:cNvPicPr>
            <a:picLocks noChangeAspect="1"/>
          </p:cNvPicPr>
          <p:nvPr/>
        </p:nvPicPr>
        <p:blipFill rotWithShape="1">
          <a:blip r:embed="rId5"/>
          <a:stretch/>
        </p:blipFill>
        <p:spPr bwMode="auto">
          <a:xfrm flipH="0" flipV="0">
            <a:off x="0" y="4466581"/>
            <a:ext cx="9144000" cy="684693"/>
          </a:xfrm>
          <a:prstGeom prst="rect">
            <a:avLst/>
          </a:prstGeom>
        </p:spPr>
      </p:pic>
      <p:sp>
        <p:nvSpPr>
          <p:cNvPr id="907892087" name="Text 11"/>
          <p:cNvSpPr/>
          <p:nvPr/>
        </p:nvSpPr>
        <p:spPr bwMode="auto">
          <a:xfrm>
            <a:off x="8972550" y="5221718"/>
            <a:ext cx="63500" cy="13716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p>
            <a:pPr marL="0" indent="0" algn="l">
              <a:lnSpc>
                <a:spcPct val="120000"/>
              </a:lnSpc>
              <a:buNone/>
              <a:defRPr/>
            </a:pPr>
            <a:r>
              <a:rPr lang="en-US" sz="850">
                <a:solidFill>
                  <a:srgbClr val="898989"/>
                </a:solidFill>
                <a:latin typeface="Calibri"/>
                <a:ea typeface="Calibri"/>
                <a:cs typeface="Calibri"/>
              </a:rPr>
              <a:t>9</a:t>
            </a:r>
            <a:endParaRPr lang="en-US" sz="85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10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103119755" name="Image 0" descr="preencoded.png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594598562" name="Image 1" descr="preencoded.png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>
            <a:off x="0" y="0"/>
            <a:ext cx="9144000" cy="1071563"/>
          </a:xfrm>
          <a:prstGeom prst="rect">
            <a:avLst/>
          </a:prstGeom>
        </p:spPr>
      </p:pic>
      <p:sp>
        <p:nvSpPr>
          <p:cNvPr id="599771142" name="Text 0"/>
          <p:cNvSpPr/>
          <p:nvPr/>
        </p:nvSpPr>
        <p:spPr bwMode="auto">
          <a:xfrm>
            <a:off x="628649" y="1243012"/>
            <a:ext cx="1543086" cy="346002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p>
            <a:pPr marL="0" indent="0" algn="l">
              <a:lnSpc>
                <a:spcPct val="84000"/>
              </a:lnSpc>
              <a:buNone/>
              <a:defRPr/>
            </a:pPr>
            <a:r>
              <a:rPr lang="en-US" sz="27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Drawbacks</a:t>
            </a:r>
            <a:endParaRPr sz="2700"/>
          </a:p>
        </p:txBody>
      </p:sp>
      <p:sp>
        <p:nvSpPr>
          <p:cNvPr id="101039464" name="Text 1"/>
          <p:cNvSpPr/>
          <p:nvPr/>
        </p:nvSpPr>
        <p:spPr bwMode="auto">
          <a:xfrm>
            <a:off x="628649" y="1971311"/>
            <a:ext cx="2000060" cy="329543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p>
            <a:pPr marL="0" indent="0" algn="l">
              <a:lnSpc>
                <a:spcPct val="120000"/>
              </a:lnSpc>
              <a:buNone/>
              <a:defRPr/>
            </a:pPr>
            <a:r>
              <a:rPr lang="en-US" sz="18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Process Inefficiencies</a:t>
            </a:r>
            <a:endParaRPr sz="1800" b="0"/>
          </a:p>
        </p:txBody>
      </p:sp>
      <p:sp>
        <p:nvSpPr>
          <p:cNvPr id="1491068508" name="Text 2"/>
          <p:cNvSpPr/>
          <p:nvPr/>
        </p:nvSpPr>
        <p:spPr bwMode="auto">
          <a:xfrm>
            <a:off x="628650" y="2499950"/>
            <a:ext cx="76200" cy="21336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p>
            <a:pPr marL="0" indent="0" algn="l">
              <a:lnSpc>
                <a:spcPct val="120000"/>
              </a:lnSpc>
              <a:buNone/>
              <a:defRPr/>
            </a:pPr>
            <a:r>
              <a:rPr lang="en-US" sz="125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•</a:t>
            </a:r>
            <a:endParaRPr lang="en-US" sz="1250"/>
          </a:p>
        </p:txBody>
      </p:sp>
      <p:sp>
        <p:nvSpPr>
          <p:cNvPr id="127018936" name="Text 3"/>
          <p:cNvSpPr/>
          <p:nvPr/>
        </p:nvSpPr>
        <p:spPr bwMode="auto">
          <a:xfrm>
            <a:off x="800100" y="2499949"/>
            <a:ext cx="3143174" cy="22896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p>
            <a:pPr marL="0" indent="0" algn="l">
              <a:lnSpc>
                <a:spcPct val="100000"/>
              </a:lnSpc>
              <a:buNone/>
              <a:defRPr/>
            </a:pPr>
            <a:r>
              <a:rPr lang="en-US" sz="15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Time-consuming manual coding process.</a:t>
            </a:r>
            <a:endParaRPr sz="1500"/>
          </a:p>
        </p:txBody>
      </p:sp>
      <p:sp>
        <p:nvSpPr>
          <p:cNvPr id="1094400546" name="Text 4"/>
          <p:cNvSpPr/>
          <p:nvPr/>
        </p:nvSpPr>
        <p:spPr bwMode="auto">
          <a:xfrm>
            <a:off x="628650" y="2871425"/>
            <a:ext cx="76200" cy="21336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p>
            <a:pPr marL="0" indent="0" algn="l">
              <a:lnSpc>
                <a:spcPct val="120000"/>
              </a:lnSpc>
              <a:buNone/>
              <a:defRPr/>
            </a:pPr>
            <a:r>
              <a:rPr lang="en-US" sz="125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•</a:t>
            </a:r>
            <a:endParaRPr lang="en-US" sz="1250"/>
          </a:p>
        </p:txBody>
      </p:sp>
      <p:sp>
        <p:nvSpPr>
          <p:cNvPr id="324052413" name="Text 5"/>
          <p:cNvSpPr/>
          <p:nvPr/>
        </p:nvSpPr>
        <p:spPr bwMode="auto">
          <a:xfrm>
            <a:off x="800100" y="2871424"/>
            <a:ext cx="3143273" cy="22896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p>
            <a:pPr marL="0" indent="0" algn="l">
              <a:lnSpc>
                <a:spcPct val="100000"/>
              </a:lnSpc>
              <a:buNone/>
              <a:defRPr/>
            </a:pPr>
            <a:r>
              <a:rPr lang="en-US" sz="15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High probability of human coding errors.</a:t>
            </a:r>
            <a:endParaRPr sz="1500"/>
          </a:p>
        </p:txBody>
      </p:sp>
      <p:sp>
        <p:nvSpPr>
          <p:cNvPr id="699367797" name="Text 6"/>
          <p:cNvSpPr/>
          <p:nvPr/>
        </p:nvSpPr>
        <p:spPr bwMode="auto">
          <a:xfrm>
            <a:off x="628650" y="3242899"/>
            <a:ext cx="76200" cy="21336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p>
            <a:pPr marL="0" indent="0" algn="l">
              <a:lnSpc>
                <a:spcPct val="120000"/>
              </a:lnSpc>
              <a:buNone/>
              <a:defRPr/>
            </a:pPr>
            <a:r>
              <a:rPr lang="en-US" sz="125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•</a:t>
            </a:r>
            <a:endParaRPr lang="en-US" sz="1250"/>
          </a:p>
        </p:txBody>
      </p:sp>
      <p:sp>
        <p:nvSpPr>
          <p:cNvPr id="420764072" name="Text 7"/>
          <p:cNvSpPr/>
          <p:nvPr/>
        </p:nvSpPr>
        <p:spPr bwMode="auto">
          <a:xfrm>
            <a:off x="800100" y="3242899"/>
            <a:ext cx="3327990" cy="22896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p>
            <a:pPr marL="0" indent="0" algn="l">
              <a:lnSpc>
                <a:spcPct val="100000"/>
              </a:lnSpc>
              <a:buNone/>
              <a:defRPr/>
            </a:pPr>
            <a:r>
              <a:rPr lang="en-US" sz="15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Poor scalability for large-scale deployment.</a:t>
            </a:r>
            <a:endParaRPr sz="1500"/>
          </a:p>
        </p:txBody>
      </p:sp>
      <p:sp>
        <p:nvSpPr>
          <p:cNvPr id="868284427" name="Text 8"/>
          <p:cNvSpPr/>
          <p:nvPr/>
        </p:nvSpPr>
        <p:spPr bwMode="auto">
          <a:xfrm>
            <a:off x="628650" y="3614375"/>
            <a:ext cx="76200" cy="21336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p>
            <a:pPr marL="0" indent="0" algn="l">
              <a:lnSpc>
                <a:spcPct val="120000"/>
              </a:lnSpc>
              <a:buNone/>
              <a:defRPr/>
            </a:pPr>
            <a:r>
              <a:rPr lang="en-US" sz="125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•</a:t>
            </a:r>
            <a:endParaRPr lang="en-US" sz="1250"/>
          </a:p>
        </p:txBody>
      </p:sp>
      <p:sp>
        <p:nvSpPr>
          <p:cNvPr id="1968696194" name="Text 9"/>
          <p:cNvSpPr/>
          <p:nvPr/>
        </p:nvSpPr>
        <p:spPr bwMode="auto">
          <a:xfrm>
            <a:off x="800100" y="3614374"/>
            <a:ext cx="3397013" cy="22896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p>
            <a:pPr marL="0" indent="0" algn="l">
              <a:lnSpc>
                <a:spcPct val="100000"/>
              </a:lnSpc>
              <a:buNone/>
              <a:defRPr/>
            </a:pPr>
            <a:r>
              <a:rPr lang="en-US" sz="15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No AI assistance or semantic understanding.</a:t>
            </a:r>
            <a:endParaRPr sz="1500"/>
          </a:p>
        </p:txBody>
      </p:sp>
      <p:sp>
        <p:nvSpPr>
          <p:cNvPr id="613460213" name="Text 10"/>
          <p:cNvSpPr/>
          <p:nvPr/>
        </p:nvSpPr>
        <p:spPr bwMode="auto">
          <a:xfrm>
            <a:off x="4743449" y="1971311"/>
            <a:ext cx="1428791" cy="329543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p>
            <a:pPr marL="0" indent="0" algn="l">
              <a:lnSpc>
                <a:spcPct val="120000"/>
              </a:lnSpc>
              <a:buNone/>
              <a:defRPr/>
            </a:pPr>
            <a:r>
              <a:rPr lang="en-US" sz="18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Technical Gaps</a:t>
            </a:r>
            <a:endParaRPr sz="1800" b="0"/>
          </a:p>
        </p:txBody>
      </p:sp>
      <p:sp>
        <p:nvSpPr>
          <p:cNvPr id="1022295887" name="Text 11"/>
          <p:cNvSpPr/>
          <p:nvPr/>
        </p:nvSpPr>
        <p:spPr bwMode="auto">
          <a:xfrm>
            <a:off x="4743450" y="2499950"/>
            <a:ext cx="76200" cy="21336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p>
            <a:pPr marL="0" indent="0" algn="l">
              <a:lnSpc>
                <a:spcPct val="120000"/>
              </a:lnSpc>
              <a:buNone/>
              <a:defRPr/>
            </a:pPr>
            <a:r>
              <a:rPr lang="en-US" sz="125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•</a:t>
            </a:r>
            <a:endParaRPr lang="en-US" sz="1250"/>
          </a:p>
        </p:txBody>
      </p:sp>
      <p:sp>
        <p:nvSpPr>
          <p:cNvPr id="904325389" name="Text 12"/>
          <p:cNvSpPr/>
          <p:nvPr/>
        </p:nvSpPr>
        <p:spPr bwMode="auto">
          <a:xfrm>
            <a:off x="4914900" y="2499949"/>
            <a:ext cx="3211913" cy="22896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p>
            <a:pPr marL="0" indent="0" algn="l">
              <a:lnSpc>
                <a:spcPct val="100000"/>
              </a:lnSpc>
              <a:buNone/>
              <a:defRPr/>
            </a:pPr>
            <a:r>
              <a:rPr lang="en-US" sz="15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Lack of version control and audit logging.</a:t>
            </a:r>
            <a:endParaRPr sz="1500"/>
          </a:p>
        </p:txBody>
      </p:sp>
      <p:sp>
        <p:nvSpPr>
          <p:cNvPr id="1346190418" name="Text 13"/>
          <p:cNvSpPr/>
          <p:nvPr/>
        </p:nvSpPr>
        <p:spPr bwMode="auto">
          <a:xfrm>
            <a:off x="4743450" y="2871425"/>
            <a:ext cx="76200" cy="21336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p>
            <a:pPr marL="0" indent="0" algn="l">
              <a:lnSpc>
                <a:spcPct val="120000"/>
              </a:lnSpc>
              <a:buNone/>
              <a:defRPr/>
            </a:pPr>
            <a:r>
              <a:rPr lang="en-US" sz="125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•</a:t>
            </a:r>
            <a:endParaRPr lang="en-US" sz="1250"/>
          </a:p>
        </p:txBody>
      </p:sp>
      <p:sp>
        <p:nvSpPr>
          <p:cNvPr id="418015932" name="Text 14"/>
          <p:cNvSpPr/>
          <p:nvPr/>
        </p:nvSpPr>
        <p:spPr bwMode="auto">
          <a:xfrm>
            <a:off x="4914900" y="2871424"/>
            <a:ext cx="3127365" cy="22896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p>
            <a:pPr marL="0" indent="0" algn="l">
              <a:lnSpc>
                <a:spcPct val="100000"/>
              </a:lnSpc>
              <a:buNone/>
              <a:defRPr/>
            </a:pPr>
            <a:r>
              <a:rPr lang="en-US" sz="15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No FHIR integration for interoperability.</a:t>
            </a:r>
            <a:endParaRPr sz="1500"/>
          </a:p>
        </p:txBody>
      </p:sp>
      <p:sp>
        <p:nvSpPr>
          <p:cNvPr id="2001510558" name="Text 15"/>
          <p:cNvSpPr/>
          <p:nvPr/>
        </p:nvSpPr>
        <p:spPr bwMode="auto">
          <a:xfrm>
            <a:off x="4743450" y="3242899"/>
            <a:ext cx="76200" cy="21336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p>
            <a:pPr marL="0" indent="0" algn="l">
              <a:lnSpc>
                <a:spcPct val="120000"/>
              </a:lnSpc>
              <a:buNone/>
              <a:defRPr/>
            </a:pPr>
            <a:r>
              <a:rPr lang="en-US" sz="125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•</a:t>
            </a:r>
            <a:endParaRPr lang="en-US" sz="1250"/>
          </a:p>
        </p:txBody>
      </p:sp>
      <p:sp>
        <p:nvSpPr>
          <p:cNvPr id="1175996242" name="Text 16"/>
          <p:cNvSpPr/>
          <p:nvPr/>
        </p:nvSpPr>
        <p:spPr bwMode="auto">
          <a:xfrm>
            <a:off x="4914900" y="3242899"/>
            <a:ext cx="2672320" cy="22896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p>
            <a:pPr marL="0" indent="0" algn="l">
              <a:lnSpc>
                <a:spcPct val="100000"/>
              </a:lnSpc>
              <a:buNone/>
              <a:defRPr/>
            </a:pPr>
            <a:r>
              <a:rPr lang="en-US" sz="15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Significant security vulnerabilities.</a:t>
            </a:r>
            <a:endParaRPr sz="1500"/>
          </a:p>
        </p:txBody>
      </p:sp>
      <p:sp>
        <p:nvSpPr>
          <p:cNvPr id="888504919" name="Text 17"/>
          <p:cNvSpPr/>
          <p:nvPr/>
        </p:nvSpPr>
        <p:spPr bwMode="auto">
          <a:xfrm>
            <a:off x="4743450" y="3614375"/>
            <a:ext cx="76200" cy="21336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p>
            <a:pPr marL="0" indent="0" algn="l">
              <a:lnSpc>
                <a:spcPct val="120000"/>
              </a:lnSpc>
              <a:buNone/>
              <a:defRPr/>
            </a:pPr>
            <a:r>
              <a:rPr lang="en-US" sz="125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•</a:t>
            </a:r>
            <a:endParaRPr lang="en-US" sz="1250"/>
          </a:p>
        </p:txBody>
      </p:sp>
      <p:sp>
        <p:nvSpPr>
          <p:cNvPr id="755495818" name="Text 18"/>
          <p:cNvSpPr/>
          <p:nvPr/>
        </p:nvSpPr>
        <p:spPr bwMode="auto">
          <a:xfrm>
            <a:off x="4914900" y="3614374"/>
            <a:ext cx="3253870" cy="22896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p>
            <a:pPr marL="0" indent="0" algn="l">
              <a:lnSpc>
                <a:spcPct val="100000"/>
              </a:lnSpc>
              <a:buNone/>
              <a:defRPr/>
            </a:pPr>
            <a:r>
              <a:rPr lang="en-US" sz="15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Absence of formal governance workflows.</a:t>
            </a:r>
            <a:endParaRPr sz="1500"/>
          </a:p>
        </p:txBody>
      </p:sp>
      <p:sp>
        <p:nvSpPr>
          <p:cNvPr id="1970010468" name="Text 19"/>
          <p:cNvSpPr/>
          <p:nvPr/>
        </p:nvSpPr>
        <p:spPr bwMode="auto">
          <a:xfrm>
            <a:off x="8915400" y="4879181"/>
            <a:ext cx="101600" cy="13716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p>
            <a:pPr marL="0" indent="0" algn="l">
              <a:lnSpc>
                <a:spcPct val="120000"/>
              </a:lnSpc>
              <a:buNone/>
              <a:defRPr/>
            </a:pPr>
            <a:r>
              <a:rPr lang="en-US" sz="850">
                <a:solidFill>
                  <a:srgbClr val="898989"/>
                </a:solidFill>
                <a:latin typeface="Calibri"/>
                <a:ea typeface="Calibri"/>
                <a:cs typeface="Calibri"/>
              </a:rPr>
              <a:t>10</a:t>
            </a:r>
            <a:endParaRPr lang="en-US" sz="85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11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403465393" name="Image 0" descr="preencoded.png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720" y="0"/>
            <a:ext cx="9144000" cy="5795367"/>
          </a:xfrm>
          <a:prstGeom prst="rect">
            <a:avLst/>
          </a:prstGeom>
        </p:spPr>
      </p:pic>
      <p:pic>
        <p:nvPicPr>
          <p:cNvPr id="1056999873" name="Image 1" descr="preencoded.png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>
            <a:off x="0" y="0"/>
            <a:ext cx="9144000" cy="1071563"/>
          </a:xfrm>
          <a:prstGeom prst="rect">
            <a:avLst/>
          </a:prstGeom>
        </p:spPr>
      </p:pic>
      <p:sp>
        <p:nvSpPr>
          <p:cNvPr id="79391247" name="Text 0"/>
          <p:cNvSpPr/>
          <p:nvPr/>
        </p:nvSpPr>
        <p:spPr bwMode="auto">
          <a:xfrm>
            <a:off x="628649" y="1243012"/>
            <a:ext cx="2372533" cy="411839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p>
            <a:pPr marL="0" indent="0" algn="l">
              <a:lnSpc>
                <a:spcPct val="100000"/>
              </a:lnSpc>
              <a:buNone/>
              <a:defRPr/>
            </a:pPr>
            <a:r>
              <a:rPr lang="en-US" sz="27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Proposed System</a:t>
            </a:r>
            <a:endParaRPr sz="2700"/>
          </a:p>
        </p:txBody>
      </p:sp>
      <p:sp>
        <p:nvSpPr>
          <p:cNvPr id="1751086847" name="Text 1"/>
          <p:cNvSpPr/>
          <p:nvPr/>
        </p:nvSpPr>
        <p:spPr bwMode="auto">
          <a:xfrm flipH="0" flipV="0">
            <a:off x="1035843" y="2066329"/>
            <a:ext cx="3214683" cy="987912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marL="0" indent="0" algn="l">
              <a:lnSpc>
                <a:spcPct val="130000"/>
              </a:lnSpc>
              <a:buNone/>
              <a:defRPr/>
            </a:pPr>
            <a:r>
              <a:rPr lang="en-US" sz="15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AI-Powered Semantic Mapping </a:t>
            </a:r>
            <a:endParaRPr lang="en-US" sz="1500" b="0" i="0" u="none" strike="noStrike" cap="none" spc="0">
              <a:solidFill>
                <a:srgbClr val="000000"/>
              </a:solidFill>
              <a:latin typeface="Times New Roman"/>
              <a:cs typeface="Times New Roman"/>
            </a:endParaRPr>
          </a:p>
          <a:p>
            <a:pPr marL="0" indent="0" algn="l">
              <a:lnSpc>
                <a:spcPct val="130000"/>
              </a:lnSpc>
              <a:buNone/>
              <a:defRPr/>
            </a:pPr>
            <a:r>
              <a:rPr lang="en-US" sz="1050" b="0" i="0" u="none" strike="noStrike" cap="none" spc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Utilizes BioClinical BERT embeddings for deep clinical terminology understanding.</a:t>
            </a:r>
            <a:endParaRPr sz="1500">
              <a:latin typeface="Times New Roman"/>
              <a:cs typeface="Times New Roman"/>
            </a:endParaRPr>
          </a:p>
          <a:p>
            <a:pPr marL="0" indent="0" algn="l">
              <a:lnSpc>
                <a:spcPct val="120000"/>
              </a:lnSpc>
              <a:buNone/>
              <a:defRPr/>
            </a:pPr>
            <a:endParaRPr sz="1500" b="0"/>
          </a:p>
        </p:txBody>
      </p:sp>
      <p:sp>
        <p:nvSpPr>
          <p:cNvPr id="1652382519" name="Text 2"/>
          <p:cNvSpPr/>
          <p:nvPr/>
        </p:nvSpPr>
        <p:spPr bwMode="auto">
          <a:xfrm>
            <a:off x="959572" y="4472662"/>
            <a:ext cx="3366145" cy="274679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>
              <a:defRPr/>
            </a:pPr>
            <a:endParaRPr/>
          </a:p>
        </p:txBody>
      </p:sp>
      <p:sp>
        <p:nvSpPr>
          <p:cNvPr id="1027781344" name="Text 3"/>
          <p:cNvSpPr/>
          <p:nvPr/>
        </p:nvSpPr>
        <p:spPr bwMode="auto">
          <a:xfrm flipH="0" flipV="0">
            <a:off x="1035843" y="2897683"/>
            <a:ext cx="3157086" cy="987912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marL="0" indent="0" algn="l">
              <a:lnSpc>
                <a:spcPct val="130000"/>
              </a:lnSpc>
              <a:buNone/>
              <a:defRPr/>
            </a:pPr>
            <a:r>
              <a:rPr lang="en-US" sz="15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FHIR R4 Interoperability  </a:t>
            </a:r>
            <a:endParaRPr lang="en-US" sz="1500" b="0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  <a:p>
            <a:pPr marL="0" indent="0" algn="l">
              <a:lnSpc>
                <a:spcPct val="130000"/>
              </a:lnSpc>
              <a:buNone/>
              <a:defRPr/>
            </a:pPr>
            <a:r>
              <a:rPr lang="en-US" sz="1050" b="0" i="0" u="none" strike="noStrike" cap="none" spc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Standardized healthcare data exchange for global compatibility.</a:t>
            </a:r>
            <a:endParaRPr lang="en-US" sz="1050" b="0" i="0" u="none" strike="noStrike" cap="none" spc="0">
              <a:solidFill>
                <a:srgbClr val="000000"/>
              </a:solidFill>
              <a:latin typeface="Times New Roman"/>
              <a:cs typeface="Times New Roman"/>
            </a:endParaRPr>
          </a:p>
          <a:p>
            <a:pPr marL="0" indent="0" algn="l">
              <a:lnSpc>
                <a:spcPct val="120000"/>
              </a:lnSpc>
              <a:buNone/>
              <a:defRPr/>
            </a:pPr>
            <a:endParaRPr sz="1500" b="0"/>
          </a:p>
        </p:txBody>
      </p:sp>
      <p:sp>
        <p:nvSpPr>
          <p:cNvPr id="1881894309" name="Text 4"/>
          <p:cNvSpPr/>
          <p:nvPr/>
        </p:nvSpPr>
        <p:spPr bwMode="auto">
          <a:xfrm>
            <a:off x="961012" y="4888207"/>
            <a:ext cx="3365065" cy="274679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>
              <a:defRPr/>
            </a:pPr>
            <a:endParaRPr/>
          </a:p>
        </p:txBody>
      </p:sp>
      <p:sp>
        <p:nvSpPr>
          <p:cNvPr id="1802724405" name="Text 5"/>
          <p:cNvSpPr/>
          <p:nvPr/>
        </p:nvSpPr>
        <p:spPr bwMode="auto">
          <a:xfrm flipH="0" flipV="0">
            <a:off x="1032603" y="3823871"/>
            <a:ext cx="3539395" cy="987912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marL="0" indent="0" algn="l">
              <a:lnSpc>
                <a:spcPct val="130000"/>
              </a:lnSpc>
              <a:buNone/>
              <a:defRPr/>
            </a:pPr>
            <a:r>
              <a:rPr lang="en-US" sz="15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Ontology Validation </a:t>
            </a:r>
            <a:endParaRPr lang="en-US" sz="1500" b="0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  <a:p>
            <a:pPr marL="0" indent="0" algn="l">
              <a:lnSpc>
                <a:spcPct val="130000"/>
              </a:lnSpc>
              <a:buNone/>
              <a:defRPr/>
            </a:pPr>
            <a:r>
              <a:rPr lang="en-US" sz="1050" b="0" i="0" u="none" strike="noStrike" cap="none" spc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Rule-based validation ensures clinical accuracy and logical consistency.</a:t>
            </a:r>
            <a:endParaRPr sz="1500"/>
          </a:p>
          <a:p>
            <a:pPr marL="0" indent="0" algn="l">
              <a:lnSpc>
                <a:spcPct val="120000"/>
              </a:lnSpc>
              <a:buNone/>
              <a:defRPr/>
            </a:pPr>
            <a:endParaRPr sz="1500" b="0"/>
          </a:p>
        </p:txBody>
      </p:sp>
      <p:sp>
        <p:nvSpPr>
          <p:cNvPr id="277770821" name="Text 6"/>
          <p:cNvSpPr/>
          <p:nvPr/>
        </p:nvSpPr>
        <p:spPr bwMode="auto">
          <a:xfrm>
            <a:off x="1035843" y="4843937"/>
            <a:ext cx="3365065" cy="274679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>
              <a:defRPr/>
            </a:pPr>
            <a:endParaRPr/>
          </a:p>
        </p:txBody>
      </p:sp>
      <p:sp>
        <p:nvSpPr>
          <p:cNvPr id="1565650593" name="Text 7"/>
          <p:cNvSpPr/>
          <p:nvPr/>
        </p:nvSpPr>
        <p:spPr bwMode="auto">
          <a:xfrm>
            <a:off x="4914900" y="2066329"/>
            <a:ext cx="1550750" cy="274679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p>
            <a:pPr marL="0" indent="0" algn="l">
              <a:lnSpc>
                <a:spcPct val="120000"/>
              </a:lnSpc>
              <a:buNone/>
              <a:defRPr/>
            </a:pPr>
            <a:r>
              <a:rPr lang="en-US" sz="15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Approval Workflow</a:t>
            </a:r>
            <a:endParaRPr sz="1500" b="0"/>
          </a:p>
        </p:txBody>
      </p:sp>
      <p:sp>
        <p:nvSpPr>
          <p:cNvPr id="236464628" name="Text 8"/>
          <p:cNvSpPr/>
          <p:nvPr/>
        </p:nvSpPr>
        <p:spPr bwMode="auto">
          <a:xfrm>
            <a:off x="4914900" y="2427697"/>
            <a:ext cx="3366505" cy="20838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marL="0" indent="0" algn="l">
              <a:lnSpc>
                <a:spcPct val="130000"/>
              </a:lnSpc>
              <a:buNone/>
              <a:defRPr/>
            </a:pPr>
            <a:r>
              <a:rPr lang="en-US" sz="105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Confidence-based system for human-in-the-loop verification.</a:t>
            </a:r>
            <a:endParaRPr sz="1050">
              <a:latin typeface="Times New Roman"/>
              <a:cs typeface="Times New Roman"/>
            </a:endParaRPr>
          </a:p>
        </p:txBody>
      </p:sp>
      <p:sp>
        <p:nvSpPr>
          <p:cNvPr id="1260939289" name="Text 9"/>
          <p:cNvSpPr/>
          <p:nvPr/>
        </p:nvSpPr>
        <p:spPr bwMode="auto">
          <a:xfrm>
            <a:off x="4914900" y="2959297"/>
            <a:ext cx="1869977" cy="274679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p>
            <a:pPr marL="0" indent="0" algn="l">
              <a:lnSpc>
                <a:spcPct val="120000"/>
              </a:lnSpc>
              <a:buNone/>
              <a:defRPr/>
            </a:pPr>
            <a:r>
              <a:rPr lang="en-US" sz="15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OAuth2 + JWT Security</a:t>
            </a:r>
            <a:endParaRPr sz="1500" b="0"/>
          </a:p>
        </p:txBody>
      </p:sp>
      <p:sp>
        <p:nvSpPr>
          <p:cNvPr id="2144313610" name="Text 10"/>
          <p:cNvSpPr/>
          <p:nvPr/>
        </p:nvSpPr>
        <p:spPr bwMode="auto">
          <a:xfrm>
            <a:off x="4914900" y="3303947"/>
            <a:ext cx="3365065" cy="416411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marL="0" indent="0" algn="l">
              <a:lnSpc>
                <a:spcPct val="130000"/>
              </a:lnSpc>
              <a:buNone/>
              <a:defRPr/>
            </a:pPr>
            <a:r>
              <a:rPr lang="en-US" sz="105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Robust authentication and authorization for sensitive medical data.</a:t>
            </a:r>
            <a:endParaRPr sz="1050">
              <a:latin typeface="Times New Roman"/>
              <a:cs typeface="Times New Roman"/>
            </a:endParaRPr>
          </a:p>
        </p:txBody>
      </p:sp>
      <p:sp>
        <p:nvSpPr>
          <p:cNvPr id="1213607415" name="Text 11"/>
          <p:cNvSpPr/>
          <p:nvPr/>
        </p:nvSpPr>
        <p:spPr bwMode="auto">
          <a:xfrm>
            <a:off x="4914900" y="3852266"/>
            <a:ext cx="2095913" cy="274679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p>
            <a:pPr marL="0" indent="0" algn="l">
              <a:lnSpc>
                <a:spcPct val="120000"/>
              </a:lnSpc>
              <a:buNone/>
              <a:defRPr/>
            </a:pPr>
            <a:r>
              <a:rPr lang="en-US" sz="15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FHIR ConceptMap Storage</a:t>
            </a:r>
            <a:endParaRPr sz="1500" b="0"/>
          </a:p>
        </p:txBody>
      </p:sp>
      <p:sp>
        <p:nvSpPr>
          <p:cNvPr id="629576483" name="Text 12"/>
          <p:cNvSpPr/>
          <p:nvPr/>
        </p:nvSpPr>
        <p:spPr bwMode="auto">
          <a:xfrm>
            <a:off x="4914900" y="4126946"/>
            <a:ext cx="3365065" cy="20838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marL="0" indent="0" algn="l">
              <a:lnSpc>
                <a:spcPct val="130000"/>
              </a:lnSpc>
              <a:buNone/>
              <a:defRPr/>
            </a:pPr>
            <a:r>
              <a:rPr lang="en-US" sz="105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Final mappings stored as standardized, queryable resources.</a:t>
            </a:r>
            <a:endParaRPr sz="1050">
              <a:latin typeface="Times New Roman"/>
              <a:cs typeface="Times New Roman"/>
            </a:endParaRPr>
          </a:p>
        </p:txBody>
      </p:sp>
      <p:sp>
        <p:nvSpPr>
          <p:cNvPr id="1278530882" name="Text 13"/>
          <p:cNvSpPr/>
          <p:nvPr/>
        </p:nvSpPr>
        <p:spPr bwMode="auto">
          <a:xfrm>
            <a:off x="8915400" y="5531048"/>
            <a:ext cx="76200" cy="13716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p>
            <a:pPr marL="0" indent="0" algn="l">
              <a:lnSpc>
                <a:spcPct val="120000"/>
              </a:lnSpc>
              <a:buNone/>
              <a:defRPr/>
            </a:pPr>
            <a:r>
              <a:rPr lang="en-US" sz="850">
                <a:solidFill>
                  <a:srgbClr val="898989"/>
                </a:solidFill>
                <a:latin typeface="Calibri"/>
                <a:ea typeface="Calibri"/>
                <a:cs typeface="Calibri"/>
              </a:rPr>
              <a:t>11</a:t>
            </a:r>
            <a:endParaRPr lang="en-US" sz="85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12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605409052" name="Image 0" descr="preencoded.png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0" y="0"/>
            <a:ext cx="9144000" cy="6221843"/>
          </a:xfrm>
          <a:prstGeom prst="rect">
            <a:avLst/>
          </a:prstGeom>
        </p:spPr>
      </p:pic>
      <p:pic>
        <p:nvPicPr>
          <p:cNvPr id="1231400643" name="Image 1" descr="preencoded.png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>
            <a:off x="0" y="0"/>
            <a:ext cx="9144000" cy="1071563"/>
          </a:xfrm>
          <a:prstGeom prst="rect">
            <a:avLst/>
          </a:prstGeom>
        </p:spPr>
      </p:pic>
      <p:sp>
        <p:nvSpPr>
          <p:cNvPr id="866499887" name="Text 0"/>
          <p:cNvSpPr/>
          <p:nvPr/>
        </p:nvSpPr>
        <p:spPr bwMode="auto">
          <a:xfrm>
            <a:off x="628649" y="1185862"/>
            <a:ext cx="2219837" cy="346002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p>
            <a:pPr marL="0" indent="0" algn="l">
              <a:lnSpc>
                <a:spcPct val="84000"/>
              </a:lnSpc>
              <a:buNone/>
              <a:defRPr/>
            </a:pPr>
            <a:r>
              <a:rPr lang="en-US" sz="27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Algorithm Used</a:t>
            </a:r>
            <a:endParaRPr sz="2700"/>
          </a:p>
        </p:txBody>
      </p:sp>
      <p:sp>
        <p:nvSpPr>
          <p:cNvPr id="181123547" name="Text 1"/>
          <p:cNvSpPr/>
          <p:nvPr/>
        </p:nvSpPr>
        <p:spPr bwMode="auto">
          <a:xfrm>
            <a:off x="807243" y="2115795"/>
            <a:ext cx="1413541" cy="274679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p>
            <a:pPr marL="0" indent="0" algn="l">
              <a:lnSpc>
                <a:spcPct val="120000"/>
              </a:lnSpc>
              <a:buNone/>
              <a:defRPr/>
            </a:pPr>
            <a:r>
              <a:rPr lang="en-US" sz="15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BioClinical BERT</a:t>
            </a:r>
            <a:endParaRPr sz="1500" b="0"/>
          </a:p>
        </p:txBody>
      </p:sp>
      <p:sp>
        <p:nvSpPr>
          <p:cNvPr id="164236387" name="Text 2"/>
          <p:cNvSpPr/>
          <p:nvPr/>
        </p:nvSpPr>
        <p:spPr bwMode="auto">
          <a:xfrm>
            <a:off x="807243" y="2560432"/>
            <a:ext cx="2158852" cy="475847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marL="0" indent="0" algn="l">
              <a:lnSpc>
                <a:spcPct val="120000"/>
              </a:lnSpc>
              <a:buNone/>
              <a:defRPr/>
            </a:pPr>
            <a:r>
              <a:rPr lang="en-US" sz="13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• Generates deep semantic embeddings for clinical text.</a:t>
            </a:r>
            <a:endParaRPr sz="1300"/>
          </a:p>
        </p:txBody>
      </p:sp>
      <p:sp>
        <p:nvSpPr>
          <p:cNvPr id="478866955" name="Text 3"/>
          <p:cNvSpPr/>
          <p:nvPr/>
        </p:nvSpPr>
        <p:spPr bwMode="auto">
          <a:xfrm>
            <a:off x="807243" y="3183568"/>
            <a:ext cx="2159212" cy="713591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marL="0" indent="0" algn="l">
              <a:lnSpc>
                <a:spcPct val="120000"/>
              </a:lnSpc>
              <a:buNone/>
              <a:defRPr/>
            </a:pPr>
            <a:r>
              <a:rPr lang="en-US" sz="13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• Pre-trained on large-scale medical corporation (MIMIC-III).</a:t>
            </a:r>
            <a:endParaRPr sz="1300"/>
          </a:p>
        </p:txBody>
      </p:sp>
      <p:sp>
        <p:nvSpPr>
          <p:cNvPr id="1017950768" name="Text 4"/>
          <p:cNvSpPr/>
          <p:nvPr/>
        </p:nvSpPr>
        <p:spPr bwMode="auto">
          <a:xfrm>
            <a:off x="808683" y="3992286"/>
            <a:ext cx="2157772" cy="475847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marL="0" indent="0" algn="l">
              <a:lnSpc>
                <a:spcPct val="120000"/>
              </a:lnSpc>
              <a:buNone/>
              <a:defRPr/>
            </a:pPr>
            <a:r>
              <a:rPr lang="en-US" sz="13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• Captures complex medical terminology nuances.</a:t>
            </a:r>
            <a:endParaRPr sz="1300"/>
          </a:p>
        </p:txBody>
      </p:sp>
      <p:sp>
        <p:nvSpPr>
          <p:cNvPr id="786398282" name="Text 5"/>
          <p:cNvSpPr/>
          <p:nvPr/>
        </p:nvSpPr>
        <p:spPr bwMode="auto">
          <a:xfrm>
            <a:off x="3541890" y="2115795"/>
            <a:ext cx="1339498" cy="274679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p>
            <a:pPr marL="0" indent="0" algn="l">
              <a:lnSpc>
                <a:spcPct val="120000"/>
              </a:lnSpc>
              <a:buNone/>
              <a:defRPr/>
            </a:pPr>
            <a:r>
              <a:rPr lang="en-US" sz="15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Cosine Similarity</a:t>
            </a:r>
            <a:endParaRPr sz="1500" b="0"/>
          </a:p>
        </p:txBody>
      </p:sp>
      <p:sp>
        <p:nvSpPr>
          <p:cNvPr id="1500480135" name="Text 6"/>
          <p:cNvSpPr/>
          <p:nvPr/>
        </p:nvSpPr>
        <p:spPr bwMode="auto">
          <a:xfrm>
            <a:off x="3493293" y="2598934"/>
            <a:ext cx="2157772" cy="475847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marL="0" indent="0" algn="l">
              <a:lnSpc>
                <a:spcPct val="120000"/>
              </a:lnSpc>
              <a:buNone/>
              <a:defRPr/>
            </a:pPr>
            <a:r>
              <a:rPr lang="en-US" sz="13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• Measures the angular distance between concept vectors.</a:t>
            </a:r>
            <a:endParaRPr sz="1300"/>
          </a:p>
        </p:txBody>
      </p:sp>
      <p:sp>
        <p:nvSpPr>
          <p:cNvPr id="579012384" name="Text 7"/>
          <p:cNvSpPr/>
          <p:nvPr/>
        </p:nvSpPr>
        <p:spPr bwMode="auto">
          <a:xfrm>
            <a:off x="3493293" y="3183568"/>
            <a:ext cx="2157772" cy="713591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marL="0" indent="0" algn="l">
              <a:lnSpc>
                <a:spcPct val="120000"/>
              </a:lnSpc>
              <a:buNone/>
              <a:defRPr/>
            </a:pPr>
            <a:r>
              <a:rPr lang="en-US" sz="13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• Determines the semantic closeness of NAMASTE and ICD-11.</a:t>
            </a:r>
            <a:endParaRPr sz="1300"/>
          </a:p>
        </p:txBody>
      </p:sp>
      <p:sp>
        <p:nvSpPr>
          <p:cNvPr id="533409815" name="Text 8"/>
          <p:cNvSpPr/>
          <p:nvPr/>
        </p:nvSpPr>
        <p:spPr bwMode="auto">
          <a:xfrm>
            <a:off x="3493293" y="3992286"/>
            <a:ext cx="2157772" cy="475847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marL="0" indent="0" algn="l">
              <a:lnSpc>
                <a:spcPct val="120000"/>
              </a:lnSpc>
              <a:buNone/>
              <a:defRPr/>
            </a:pPr>
            <a:r>
              <a:rPr lang="en-US" sz="13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• Robust to variations in text length and phrasing.</a:t>
            </a:r>
            <a:endParaRPr sz="1300"/>
          </a:p>
        </p:txBody>
      </p:sp>
      <p:sp>
        <p:nvSpPr>
          <p:cNvPr id="1064533645" name="Text 9"/>
          <p:cNvSpPr/>
          <p:nvPr/>
        </p:nvSpPr>
        <p:spPr bwMode="auto">
          <a:xfrm>
            <a:off x="6179343" y="2067198"/>
            <a:ext cx="1180634" cy="274679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p>
            <a:pPr marL="0" indent="0" algn="l">
              <a:lnSpc>
                <a:spcPct val="120000"/>
              </a:lnSpc>
              <a:buNone/>
              <a:defRPr/>
            </a:pPr>
            <a:r>
              <a:rPr lang="en-US" sz="15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Hybrid Scoring</a:t>
            </a:r>
            <a:endParaRPr sz="1500" b="0"/>
          </a:p>
        </p:txBody>
      </p:sp>
      <p:sp>
        <p:nvSpPr>
          <p:cNvPr id="1342481568" name="Text 10"/>
          <p:cNvSpPr/>
          <p:nvPr/>
        </p:nvSpPr>
        <p:spPr bwMode="auto">
          <a:xfrm>
            <a:off x="6179343" y="2630716"/>
            <a:ext cx="2157772" cy="475847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marL="0" indent="0" algn="l">
              <a:lnSpc>
                <a:spcPct val="120000"/>
              </a:lnSpc>
              <a:buNone/>
              <a:defRPr/>
            </a:pPr>
            <a:r>
              <a:rPr lang="en-US" sz="13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• Combines neural similarity with rule-based validation.</a:t>
            </a:r>
            <a:endParaRPr sz="1300"/>
          </a:p>
        </p:txBody>
      </p:sp>
      <p:sp>
        <p:nvSpPr>
          <p:cNvPr id="835201145" name="Text 11"/>
          <p:cNvSpPr/>
          <p:nvPr/>
        </p:nvSpPr>
        <p:spPr bwMode="auto">
          <a:xfrm>
            <a:off x="6179343" y="3244124"/>
            <a:ext cx="2157772" cy="475847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marL="0" indent="0" algn="l">
              <a:lnSpc>
                <a:spcPct val="120000"/>
              </a:lnSpc>
              <a:buNone/>
              <a:defRPr/>
            </a:pPr>
            <a:r>
              <a:rPr lang="en-US" sz="13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• Confidence Calibration for approval workflows.</a:t>
            </a:r>
            <a:endParaRPr sz="1300"/>
          </a:p>
        </p:txBody>
      </p:sp>
      <p:sp>
        <p:nvSpPr>
          <p:cNvPr id="1583604515" name="Text 12"/>
          <p:cNvSpPr/>
          <p:nvPr/>
        </p:nvSpPr>
        <p:spPr bwMode="auto">
          <a:xfrm>
            <a:off x="6179343" y="3914531"/>
            <a:ext cx="2157772" cy="475847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marL="0" indent="0" algn="l">
              <a:lnSpc>
                <a:spcPct val="120000"/>
              </a:lnSpc>
              <a:buNone/>
              <a:defRPr/>
            </a:pPr>
            <a:r>
              <a:rPr lang="en-US" sz="13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• Ensures high precision in final code suggestions.</a:t>
            </a:r>
            <a:endParaRPr sz="1300"/>
          </a:p>
        </p:txBody>
      </p:sp>
      <p:sp>
        <p:nvSpPr>
          <p:cNvPr id="976915532" name="Text 13"/>
          <p:cNvSpPr/>
          <p:nvPr/>
        </p:nvSpPr>
        <p:spPr bwMode="auto">
          <a:xfrm>
            <a:off x="8915400" y="5114562"/>
            <a:ext cx="88900" cy="13716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p>
            <a:pPr marL="0" indent="0" algn="l">
              <a:lnSpc>
                <a:spcPct val="120000"/>
              </a:lnSpc>
              <a:buNone/>
              <a:defRPr/>
            </a:pPr>
            <a:r>
              <a:rPr lang="en-US" sz="850">
                <a:solidFill>
                  <a:srgbClr val="898989"/>
                </a:solidFill>
                <a:latin typeface="Calibri"/>
                <a:ea typeface="Calibri"/>
                <a:cs typeface="Calibri"/>
              </a:rPr>
              <a:t>12</a:t>
            </a:r>
            <a:endParaRPr lang="en-US" sz="850"/>
          </a:p>
        </p:txBody>
      </p:sp>
      <p:pic>
        <p:nvPicPr>
          <p:cNvPr id="1845588044" name="Image 2" descr="preencoded.png"/>
          <p:cNvPicPr>
            <a:picLocks noChangeAspect="1"/>
          </p:cNvPicPr>
          <p:nvPr/>
        </p:nvPicPr>
        <p:blipFill rotWithShape="1">
          <a:blip r:embed="rId5"/>
          <a:stretch/>
        </p:blipFill>
        <p:spPr bwMode="auto">
          <a:xfrm>
            <a:off x="0" y="5336018"/>
            <a:ext cx="9144000" cy="88582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1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677329973" name="Image 0" descr="preencoded.png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0" y="0"/>
            <a:ext cx="8868076" cy="4951563"/>
          </a:xfrm>
          <a:prstGeom prst="rect">
            <a:avLst/>
          </a:prstGeom>
        </p:spPr>
      </p:pic>
      <p:pic>
        <p:nvPicPr>
          <p:cNvPr id="968461921" name="Image 1" descr="preencoded.png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>
            <a:off x="0" y="0"/>
            <a:ext cx="9144000" cy="1071563"/>
          </a:xfrm>
          <a:prstGeom prst="rect">
            <a:avLst/>
          </a:prstGeom>
        </p:spPr>
      </p:pic>
      <p:sp>
        <p:nvSpPr>
          <p:cNvPr id="867567431" name="Text 0"/>
          <p:cNvSpPr/>
          <p:nvPr/>
        </p:nvSpPr>
        <p:spPr bwMode="auto">
          <a:xfrm>
            <a:off x="628649" y="1185862"/>
            <a:ext cx="1619432" cy="346002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p>
            <a:pPr marL="0" indent="0" algn="l">
              <a:lnSpc>
                <a:spcPct val="84000"/>
              </a:lnSpc>
              <a:buNone/>
              <a:defRPr/>
            </a:pPr>
            <a:r>
              <a:rPr lang="en-US" sz="27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Advantages</a:t>
            </a:r>
            <a:endParaRPr sz="2700"/>
          </a:p>
        </p:txBody>
      </p:sp>
      <p:sp>
        <p:nvSpPr>
          <p:cNvPr id="1705242184" name="Text 3"/>
          <p:cNvSpPr/>
          <p:nvPr/>
        </p:nvSpPr>
        <p:spPr bwMode="auto">
          <a:xfrm flipH="0" flipV="0">
            <a:off x="942254" y="1857011"/>
            <a:ext cx="7487370" cy="832067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marL="0" indent="0" algn="l">
              <a:lnSpc>
                <a:spcPct val="120000"/>
              </a:lnSpc>
              <a:buNone/>
              <a:defRPr/>
            </a:pPr>
            <a:r>
              <a:rPr lang="en-US" sz="1500" b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Reduces Clinician Workload - </a:t>
            </a:r>
            <a:r>
              <a:rPr lang="en-US" sz="1500" b="0" i="0" u="none" strike="noStrike" cap="none" spc="0">
                <a:solidFill>
                  <a:srgbClr val="374151"/>
                </a:solidFill>
                <a:latin typeface="Calibri"/>
                <a:ea typeface="Calibri"/>
                <a:cs typeface="Calibri"/>
              </a:rPr>
              <a:t>Automates the tedious process of mapping clinical terms to ICD-11 codes.</a:t>
            </a:r>
            <a:endParaRPr sz="1500"/>
          </a:p>
          <a:p>
            <a:pPr marL="0" indent="0" algn="l">
              <a:lnSpc>
                <a:spcPct val="120000"/>
              </a:lnSpc>
              <a:buNone/>
              <a:defRPr/>
            </a:pPr>
            <a:r>
              <a:rPr lang="en-US" sz="1500" b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 </a:t>
            </a:r>
            <a:endParaRPr sz="1500" b="0">
              <a:solidFill>
                <a:schemeClr val="tx1"/>
              </a:solidFill>
              <a:latin typeface="Times New Roman"/>
              <a:cs typeface="Times New Roman"/>
            </a:endParaRPr>
          </a:p>
        </p:txBody>
      </p:sp>
      <p:sp>
        <p:nvSpPr>
          <p:cNvPr id="815857690" name="Text 4"/>
          <p:cNvSpPr/>
          <p:nvPr/>
        </p:nvSpPr>
        <p:spPr bwMode="auto">
          <a:xfrm>
            <a:off x="4572000" y="1227065"/>
            <a:ext cx="3365065" cy="274679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>
              <a:defRPr/>
            </a:pPr>
            <a:endParaRPr/>
          </a:p>
        </p:txBody>
      </p:sp>
      <p:sp>
        <p:nvSpPr>
          <p:cNvPr id="1594660104" name="Text 7"/>
          <p:cNvSpPr/>
          <p:nvPr/>
        </p:nvSpPr>
        <p:spPr bwMode="auto">
          <a:xfrm>
            <a:off x="3760439" y="1224550"/>
            <a:ext cx="756" cy="274679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p>
            <a:pPr>
              <a:defRPr/>
            </a:pPr>
            <a:endParaRPr/>
          </a:p>
        </p:txBody>
      </p:sp>
      <p:sp>
        <p:nvSpPr>
          <p:cNvPr id="1125095349" name="Text 8"/>
          <p:cNvSpPr/>
          <p:nvPr/>
        </p:nvSpPr>
        <p:spPr bwMode="auto">
          <a:xfrm>
            <a:off x="5047059" y="1422851"/>
            <a:ext cx="3365065" cy="274679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>
              <a:defRPr/>
            </a:pPr>
            <a:endParaRPr/>
          </a:p>
        </p:txBody>
      </p:sp>
      <p:sp>
        <p:nvSpPr>
          <p:cNvPr id="1157718930" name="Text 11"/>
          <p:cNvSpPr/>
          <p:nvPr/>
        </p:nvSpPr>
        <p:spPr bwMode="auto">
          <a:xfrm flipH="0" flipV="0">
            <a:off x="942254" y="2506825"/>
            <a:ext cx="7368233" cy="557747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marL="0" indent="0" algn="l">
              <a:lnSpc>
                <a:spcPct val="120000"/>
              </a:lnSpc>
              <a:buNone/>
              <a:defRPr/>
            </a:pPr>
            <a:r>
              <a:rPr lang="en-US" sz="1500" b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Explainable AI Decisions - </a:t>
            </a:r>
            <a:r>
              <a:rPr lang="en-US" sz="1500" b="0" i="0" u="none" strike="noStrike" cap="none" spc="0">
                <a:solidFill>
                  <a:srgbClr val="374151"/>
                </a:solidFill>
                <a:latin typeface="Calibri"/>
                <a:ea typeface="Calibri"/>
                <a:cs typeface="Calibri"/>
              </a:rPr>
              <a:t>Provides transparency and reasoning for every suggested mapping.</a:t>
            </a:r>
            <a:endParaRPr sz="1500"/>
          </a:p>
          <a:p>
            <a:pPr marL="0" indent="0" algn="l">
              <a:lnSpc>
                <a:spcPct val="120000"/>
              </a:lnSpc>
              <a:buNone/>
              <a:defRPr/>
            </a:pPr>
            <a:r>
              <a:rPr lang="en-US" sz="1500" b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 </a:t>
            </a:r>
            <a:endParaRPr sz="1500" b="0">
              <a:solidFill>
                <a:schemeClr val="tx1"/>
              </a:solidFill>
              <a:latin typeface="Times New Roman"/>
              <a:cs typeface="Times New Roman"/>
            </a:endParaRPr>
          </a:p>
        </p:txBody>
      </p:sp>
      <p:sp>
        <p:nvSpPr>
          <p:cNvPr id="352783669" name="Text 12"/>
          <p:cNvSpPr/>
          <p:nvPr/>
        </p:nvSpPr>
        <p:spPr bwMode="auto">
          <a:xfrm>
            <a:off x="5902449" y="1437911"/>
            <a:ext cx="3344355" cy="274679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>
              <a:defRPr/>
            </a:pPr>
            <a:endParaRPr/>
          </a:p>
        </p:txBody>
      </p:sp>
      <p:sp>
        <p:nvSpPr>
          <p:cNvPr id="650752725" name="Text 15"/>
          <p:cNvSpPr/>
          <p:nvPr/>
        </p:nvSpPr>
        <p:spPr bwMode="auto">
          <a:xfrm>
            <a:off x="942254" y="3563150"/>
            <a:ext cx="7391128" cy="557747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p>
            <a:pPr marL="0" indent="0" algn="l">
              <a:lnSpc>
                <a:spcPct val="120000"/>
              </a:lnSpc>
              <a:buNone/>
              <a:defRPr/>
            </a:pPr>
            <a:r>
              <a:rPr lang="en-US" sz="1500" b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Real-time Semantic Mapping - </a:t>
            </a:r>
            <a:r>
              <a:rPr lang="en-US" sz="1500" b="0" i="0" u="none" strike="noStrike" cap="none" spc="0">
                <a:solidFill>
                  <a:srgbClr val="374151"/>
                </a:solidFill>
                <a:latin typeface="Calibri"/>
                <a:ea typeface="Calibri"/>
                <a:cs typeface="Calibri"/>
              </a:rPr>
              <a:t>Instantaneous processing of clinical concepts for immediate use.</a:t>
            </a:r>
            <a:endParaRPr sz="1500"/>
          </a:p>
          <a:p>
            <a:pPr marL="0" indent="0" algn="l">
              <a:lnSpc>
                <a:spcPct val="120000"/>
              </a:lnSpc>
              <a:buNone/>
              <a:defRPr/>
            </a:pPr>
            <a:r>
              <a:rPr lang="en-US" sz="1500" b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 </a:t>
            </a:r>
            <a:endParaRPr sz="1500" b="0">
              <a:solidFill>
                <a:schemeClr val="tx1"/>
              </a:solidFill>
              <a:latin typeface="Times New Roman"/>
              <a:cs typeface="Times New Roman"/>
            </a:endParaRPr>
          </a:p>
        </p:txBody>
      </p:sp>
      <p:sp>
        <p:nvSpPr>
          <p:cNvPr id="478578265" name="Text 16"/>
          <p:cNvSpPr/>
          <p:nvPr/>
        </p:nvSpPr>
        <p:spPr bwMode="auto">
          <a:xfrm>
            <a:off x="4709961" y="1575251"/>
            <a:ext cx="3343635" cy="274679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>
              <a:defRPr/>
            </a:pPr>
            <a:endParaRPr/>
          </a:p>
        </p:txBody>
      </p:sp>
      <p:sp>
        <p:nvSpPr>
          <p:cNvPr id="1339621554" name="Text 19"/>
          <p:cNvSpPr/>
          <p:nvPr/>
        </p:nvSpPr>
        <p:spPr bwMode="auto">
          <a:xfrm flipH="0" flipV="0">
            <a:off x="942254" y="3093773"/>
            <a:ext cx="7341098" cy="557747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marL="0" indent="0" algn="l">
              <a:lnSpc>
                <a:spcPct val="120000"/>
              </a:lnSpc>
              <a:buNone/>
              <a:defRPr/>
            </a:pPr>
            <a:r>
              <a:rPr lang="en-US" sz="1500" b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Secure &amp; Scalable - </a:t>
            </a:r>
            <a:r>
              <a:rPr lang="en-US" sz="1500" b="0" i="0" u="none" strike="noStrike" cap="none" spc="0">
                <a:solidFill>
                  <a:srgbClr val="374151"/>
                </a:solidFill>
                <a:latin typeface="Calibri"/>
                <a:ea typeface="Calibri"/>
                <a:cs typeface="Calibri"/>
              </a:rPr>
              <a:t>Enterprise-grade architecture designed to grow with healthcare needs.</a:t>
            </a:r>
            <a:endParaRPr sz="1500"/>
          </a:p>
          <a:p>
            <a:pPr marL="0" indent="0" algn="l">
              <a:lnSpc>
                <a:spcPct val="120000"/>
              </a:lnSpc>
              <a:buNone/>
              <a:defRPr/>
            </a:pPr>
            <a:r>
              <a:rPr lang="en-US" sz="1500" b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 </a:t>
            </a:r>
            <a:endParaRPr sz="1500" b="0">
              <a:solidFill>
                <a:schemeClr val="tx1"/>
              </a:solidFill>
              <a:latin typeface="Times New Roman"/>
              <a:cs typeface="Times New Roman"/>
            </a:endParaRPr>
          </a:p>
        </p:txBody>
      </p:sp>
      <p:sp>
        <p:nvSpPr>
          <p:cNvPr id="2041608259" name="Text 20"/>
          <p:cNvSpPr/>
          <p:nvPr/>
        </p:nvSpPr>
        <p:spPr bwMode="auto">
          <a:xfrm>
            <a:off x="5241603" y="1133111"/>
            <a:ext cx="3343635" cy="274679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>
              <a:defRPr/>
            </a:pPr>
            <a:endParaRPr/>
          </a:p>
        </p:txBody>
      </p:sp>
      <p:sp>
        <p:nvSpPr>
          <p:cNvPr id="344410887" name="Text 23"/>
          <p:cNvSpPr/>
          <p:nvPr/>
        </p:nvSpPr>
        <p:spPr bwMode="auto">
          <a:xfrm>
            <a:off x="942254" y="4120898"/>
            <a:ext cx="7531129" cy="557747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p>
            <a:pPr marL="0" indent="0" algn="l">
              <a:lnSpc>
                <a:spcPct val="120000"/>
              </a:lnSpc>
              <a:buNone/>
              <a:defRPr/>
            </a:pPr>
            <a:r>
              <a:rPr lang="en-US" sz="1500" b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Supports ABHA Standards - </a:t>
            </a:r>
            <a:r>
              <a:rPr lang="en-US" sz="1500" b="0" i="0" u="none" strike="noStrike" cap="none" spc="0">
                <a:solidFill>
                  <a:srgbClr val="374151"/>
                </a:solidFill>
                <a:latin typeface="Calibri"/>
                <a:ea typeface="Calibri"/>
                <a:cs typeface="Calibri"/>
              </a:rPr>
              <a:t>Fully compliant with national digital health ecosystem requirements.</a:t>
            </a:r>
            <a:endParaRPr sz="1500"/>
          </a:p>
          <a:p>
            <a:pPr marL="0" indent="0" algn="l">
              <a:lnSpc>
                <a:spcPct val="120000"/>
              </a:lnSpc>
              <a:buNone/>
              <a:defRPr/>
            </a:pPr>
            <a:r>
              <a:rPr lang="en-US" sz="1500" b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 </a:t>
            </a:r>
            <a:endParaRPr sz="1500" b="0">
              <a:solidFill>
                <a:schemeClr val="tx1"/>
              </a:solidFill>
              <a:latin typeface="Times New Roman"/>
              <a:cs typeface="Times New Roman"/>
            </a:endParaRPr>
          </a:p>
        </p:txBody>
      </p:sp>
      <p:sp>
        <p:nvSpPr>
          <p:cNvPr id="2012855374" name="Text 24"/>
          <p:cNvSpPr/>
          <p:nvPr/>
        </p:nvSpPr>
        <p:spPr bwMode="auto">
          <a:xfrm>
            <a:off x="4550927" y="1545131"/>
            <a:ext cx="3386497" cy="274679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>
              <a:defRPr/>
            </a:pPr>
            <a:endParaRPr/>
          </a:p>
        </p:txBody>
      </p:sp>
      <p:sp>
        <p:nvSpPr>
          <p:cNvPr id="1788238876" name="Text 27"/>
          <p:cNvSpPr/>
          <p:nvPr/>
        </p:nvSpPr>
        <p:spPr bwMode="auto">
          <a:xfrm>
            <a:off x="1298989" y="6937664"/>
            <a:ext cx="0" cy="21336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p>
            <a:pPr marL="0" indent="0" algn="l">
              <a:lnSpc>
                <a:spcPct val="120000"/>
              </a:lnSpc>
              <a:buNone/>
              <a:defRPr/>
            </a:pPr>
            <a:endParaRPr lang="en-US" sz="1200"/>
          </a:p>
        </p:txBody>
      </p:sp>
      <p:sp>
        <p:nvSpPr>
          <p:cNvPr id="69704652" name="Text 33"/>
          <p:cNvSpPr/>
          <p:nvPr/>
        </p:nvSpPr>
        <p:spPr bwMode="auto">
          <a:xfrm>
            <a:off x="8915400" y="5057412"/>
            <a:ext cx="101600" cy="13716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p>
            <a:pPr marL="0" indent="0" algn="l">
              <a:lnSpc>
                <a:spcPct val="120000"/>
              </a:lnSpc>
              <a:buNone/>
              <a:defRPr/>
            </a:pPr>
            <a:r>
              <a:rPr lang="en-US" sz="850">
                <a:solidFill>
                  <a:srgbClr val="898989"/>
                </a:solidFill>
                <a:latin typeface="Calibri"/>
                <a:ea typeface="Calibri"/>
                <a:cs typeface="Calibri"/>
              </a:rPr>
              <a:t>13</a:t>
            </a:r>
            <a:endParaRPr lang="en-US" sz="850"/>
          </a:p>
        </p:txBody>
      </p:sp>
      <p:sp>
        <p:nvSpPr>
          <p:cNvPr id="209941048" name="Text 3"/>
          <p:cNvSpPr/>
          <p:nvPr/>
        </p:nvSpPr>
        <p:spPr bwMode="auto">
          <a:xfrm>
            <a:off x="739402" y="1879489"/>
            <a:ext cx="89271" cy="25639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p>
            <a:pPr marL="0" indent="0" algn="l">
              <a:lnSpc>
                <a:spcPct val="120000"/>
              </a:lnSpc>
              <a:buNone/>
              <a:defRPr/>
            </a:pPr>
            <a:r>
              <a:rPr lang="en-US" sz="140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•</a:t>
            </a:r>
            <a:endParaRPr lang="en-US" sz="1400"/>
          </a:p>
        </p:txBody>
      </p:sp>
      <p:sp>
        <p:nvSpPr>
          <p:cNvPr id="213887919" name="Text 3"/>
          <p:cNvSpPr/>
          <p:nvPr/>
        </p:nvSpPr>
        <p:spPr bwMode="auto">
          <a:xfrm>
            <a:off x="739402" y="2529307"/>
            <a:ext cx="89271" cy="25639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p>
            <a:pPr marL="0" indent="0" algn="l">
              <a:lnSpc>
                <a:spcPct val="120000"/>
              </a:lnSpc>
              <a:buNone/>
              <a:defRPr/>
            </a:pPr>
            <a:r>
              <a:rPr lang="en-US" sz="140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•</a:t>
            </a:r>
            <a:endParaRPr lang="en-US" sz="1400"/>
          </a:p>
        </p:txBody>
      </p:sp>
      <p:sp>
        <p:nvSpPr>
          <p:cNvPr id="956744131" name="Text 3"/>
          <p:cNvSpPr/>
          <p:nvPr/>
        </p:nvSpPr>
        <p:spPr bwMode="auto">
          <a:xfrm>
            <a:off x="739402" y="3116255"/>
            <a:ext cx="89271" cy="25639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p>
            <a:pPr marL="0" indent="0" algn="l">
              <a:lnSpc>
                <a:spcPct val="120000"/>
              </a:lnSpc>
              <a:buNone/>
              <a:defRPr/>
            </a:pPr>
            <a:r>
              <a:rPr lang="en-US" sz="140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•</a:t>
            </a:r>
            <a:endParaRPr lang="en-US" sz="1400"/>
          </a:p>
        </p:txBody>
      </p:sp>
      <p:sp>
        <p:nvSpPr>
          <p:cNvPr id="1326366974" name="Text 3"/>
          <p:cNvSpPr/>
          <p:nvPr/>
        </p:nvSpPr>
        <p:spPr bwMode="auto">
          <a:xfrm>
            <a:off x="739402" y="3572294"/>
            <a:ext cx="89271" cy="25639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p>
            <a:pPr marL="0" indent="0" algn="l">
              <a:lnSpc>
                <a:spcPct val="120000"/>
              </a:lnSpc>
              <a:buNone/>
              <a:defRPr/>
            </a:pPr>
            <a:r>
              <a:rPr lang="en-US" sz="140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•</a:t>
            </a:r>
            <a:endParaRPr lang="en-US" sz="1400"/>
          </a:p>
        </p:txBody>
      </p:sp>
      <p:sp>
        <p:nvSpPr>
          <p:cNvPr id="1042133113" name="Text 3"/>
          <p:cNvSpPr/>
          <p:nvPr/>
        </p:nvSpPr>
        <p:spPr bwMode="auto">
          <a:xfrm>
            <a:off x="739402" y="4120898"/>
            <a:ext cx="89271" cy="25639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p>
            <a:pPr marL="0" indent="0" algn="l">
              <a:lnSpc>
                <a:spcPct val="120000"/>
              </a:lnSpc>
              <a:buNone/>
              <a:defRPr/>
            </a:pPr>
            <a:r>
              <a:rPr lang="en-US" sz="140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•</a:t>
            </a:r>
            <a:endParaRPr lang="en-US" sz="14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2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62523651" name="Image 0" descr="preencoded.png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0" y="0"/>
            <a:ext cx="9144000" cy="5314587"/>
          </a:xfrm>
          <a:prstGeom prst="rect">
            <a:avLst/>
          </a:prstGeom>
        </p:spPr>
      </p:pic>
      <p:pic>
        <p:nvPicPr>
          <p:cNvPr id="919776330" name="Image 1" descr="preencoded.png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>
            <a:off x="0" y="0"/>
            <a:ext cx="9144000" cy="1071563"/>
          </a:xfrm>
          <a:prstGeom prst="rect">
            <a:avLst/>
          </a:prstGeom>
        </p:spPr>
      </p:pic>
      <p:sp>
        <p:nvSpPr>
          <p:cNvPr id="1857741484" name="Text 0"/>
          <p:cNvSpPr/>
          <p:nvPr/>
        </p:nvSpPr>
        <p:spPr bwMode="auto">
          <a:xfrm>
            <a:off x="628649" y="1185862"/>
            <a:ext cx="3000732" cy="346002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p>
            <a:pPr marL="0" indent="0" algn="l">
              <a:lnSpc>
                <a:spcPct val="84000"/>
              </a:lnSpc>
              <a:buNone/>
              <a:defRPr/>
            </a:pPr>
            <a:r>
              <a:rPr lang="en-US" sz="27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System Requirements</a:t>
            </a:r>
            <a:endParaRPr sz="2700"/>
          </a:p>
        </p:txBody>
      </p:sp>
      <p:sp>
        <p:nvSpPr>
          <p:cNvPr id="158099747" name="Text 1"/>
          <p:cNvSpPr/>
          <p:nvPr/>
        </p:nvSpPr>
        <p:spPr bwMode="auto">
          <a:xfrm>
            <a:off x="628649" y="1857011"/>
            <a:ext cx="2228661" cy="329543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p>
            <a:pPr marL="0" indent="0" algn="l">
              <a:lnSpc>
                <a:spcPct val="120000"/>
              </a:lnSpc>
              <a:buNone/>
              <a:defRPr/>
            </a:pPr>
            <a:r>
              <a:rPr lang="en-US" sz="18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Hardware Requirements</a:t>
            </a:r>
            <a:endParaRPr sz="1800" b="0"/>
          </a:p>
        </p:txBody>
      </p:sp>
      <p:sp>
        <p:nvSpPr>
          <p:cNvPr id="1912445274" name="Text 2"/>
          <p:cNvSpPr/>
          <p:nvPr/>
        </p:nvSpPr>
        <p:spPr bwMode="auto">
          <a:xfrm>
            <a:off x="800100" y="2328499"/>
            <a:ext cx="1878839" cy="274679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p>
            <a:pPr marL="127000" indent="-127000" algn="l">
              <a:lnSpc>
                <a:spcPct val="120000"/>
              </a:lnSpc>
              <a:buSzPct val="100000"/>
              <a:buChar char="•"/>
              <a:defRPr/>
            </a:pPr>
            <a:r>
              <a:rPr lang="en-US" sz="15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Intel Core i5 Processor</a:t>
            </a:r>
            <a:endParaRPr sz="1500"/>
          </a:p>
        </p:txBody>
      </p:sp>
      <p:sp>
        <p:nvSpPr>
          <p:cNvPr id="1590400911" name="Text 3"/>
          <p:cNvSpPr/>
          <p:nvPr/>
        </p:nvSpPr>
        <p:spPr bwMode="auto">
          <a:xfrm>
            <a:off x="800100" y="2642824"/>
            <a:ext cx="1112118" cy="274679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p>
            <a:pPr marL="127000" indent="-127000" algn="l">
              <a:lnSpc>
                <a:spcPct val="120000"/>
              </a:lnSpc>
              <a:buSzPct val="100000"/>
              <a:buChar char="•"/>
              <a:defRPr/>
            </a:pPr>
            <a:r>
              <a:rPr lang="en-US" sz="15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16 GB RAM</a:t>
            </a:r>
            <a:endParaRPr sz="1500"/>
          </a:p>
        </p:txBody>
      </p:sp>
      <p:sp>
        <p:nvSpPr>
          <p:cNvPr id="23134159" name="Text 4"/>
          <p:cNvSpPr/>
          <p:nvPr/>
        </p:nvSpPr>
        <p:spPr bwMode="auto">
          <a:xfrm>
            <a:off x="800100" y="2957149"/>
            <a:ext cx="1122813" cy="274679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p>
            <a:pPr marL="127000" indent="-127000" algn="l">
              <a:lnSpc>
                <a:spcPct val="120000"/>
              </a:lnSpc>
              <a:buSzPct val="100000"/>
              <a:buChar char="•"/>
              <a:defRPr/>
            </a:pPr>
            <a:r>
              <a:rPr lang="en-US" sz="15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256 GB SSD</a:t>
            </a:r>
            <a:endParaRPr sz="1500"/>
          </a:p>
        </p:txBody>
      </p:sp>
      <p:sp>
        <p:nvSpPr>
          <p:cNvPr id="1478818026" name="Text 5"/>
          <p:cNvSpPr/>
          <p:nvPr/>
        </p:nvSpPr>
        <p:spPr bwMode="auto">
          <a:xfrm>
            <a:off x="800100" y="3271474"/>
            <a:ext cx="2513785" cy="274679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p>
            <a:pPr marL="127000" indent="-127000" algn="l">
              <a:lnSpc>
                <a:spcPct val="120000"/>
              </a:lnSpc>
              <a:buSzPct val="100000"/>
              <a:buChar char="•"/>
              <a:defRPr/>
            </a:pPr>
            <a:r>
              <a:rPr lang="en-US" sz="15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NVIDIA GTX 1650 (Optional)</a:t>
            </a:r>
            <a:endParaRPr sz="1500"/>
          </a:p>
        </p:txBody>
      </p:sp>
      <p:sp>
        <p:nvSpPr>
          <p:cNvPr id="2087183035" name="Text 6"/>
          <p:cNvSpPr/>
          <p:nvPr/>
        </p:nvSpPr>
        <p:spPr bwMode="auto">
          <a:xfrm>
            <a:off x="4943475" y="1857011"/>
            <a:ext cx="2152758" cy="329543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p>
            <a:pPr marL="0" indent="0" algn="l">
              <a:lnSpc>
                <a:spcPct val="120000"/>
              </a:lnSpc>
              <a:buNone/>
              <a:defRPr/>
            </a:pPr>
            <a:r>
              <a:rPr lang="en-US" sz="18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Software Requirements</a:t>
            </a:r>
            <a:endParaRPr sz="1800" b="0"/>
          </a:p>
        </p:txBody>
      </p:sp>
      <p:sp>
        <p:nvSpPr>
          <p:cNvPr id="3347232" name="Text 7"/>
          <p:cNvSpPr/>
          <p:nvPr/>
        </p:nvSpPr>
        <p:spPr bwMode="auto">
          <a:xfrm>
            <a:off x="5114925" y="2328499"/>
            <a:ext cx="1873913" cy="274679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p>
            <a:pPr marL="127000" indent="-127000" algn="l">
              <a:lnSpc>
                <a:spcPct val="120000"/>
              </a:lnSpc>
              <a:buSzPct val="100000"/>
              <a:buChar char="•"/>
              <a:defRPr/>
            </a:pPr>
            <a:r>
              <a:rPr lang="en-US" sz="15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Java 17 &amp; Spring Boot</a:t>
            </a:r>
            <a:endParaRPr sz="1500"/>
          </a:p>
        </p:txBody>
      </p:sp>
      <p:sp>
        <p:nvSpPr>
          <p:cNvPr id="905694298" name="Text 8"/>
          <p:cNvSpPr/>
          <p:nvPr/>
        </p:nvSpPr>
        <p:spPr bwMode="auto">
          <a:xfrm>
            <a:off x="5114925" y="2642824"/>
            <a:ext cx="1156018" cy="274679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p>
            <a:pPr marL="127000" indent="-127000" algn="l">
              <a:lnSpc>
                <a:spcPct val="120000"/>
              </a:lnSpc>
              <a:buSzPct val="100000"/>
              <a:buChar char="•"/>
              <a:defRPr/>
            </a:pPr>
            <a:r>
              <a:rPr lang="en-US" sz="15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Python 3.10+</a:t>
            </a:r>
            <a:endParaRPr sz="1500"/>
          </a:p>
        </p:txBody>
      </p:sp>
      <p:sp>
        <p:nvSpPr>
          <p:cNvPr id="489652471" name="Text 9"/>
          <p:cNvSpPr/>
          <p:nvPr/>
        </p:nvSpPr>
        <p:spPr bwMode="auto">
          <a:xfrm>
            <a:off x="5114925" y="2957149"/>
            <a:ext cx="736041" cy="274679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p>
            <a:pPr marL="127000" indent="-127000" algn="l">
              <a:lnSpc>
                <a:spcPct val="120000"/>
              </a:lnSpc>
              <a:buSzPct val="100000"/>
              <a:buChar char="•"/>
              <a:defRPr/>
            </a:pPr>
            <a:r>
              <a:rPr lang="en-US" sz="15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React.js</a:t>
            </a:r>
            <a:endParaRPr sz="1500"/>
          </a:p>
        </p:txBody>
      </p:sp>
      <p:sp>
        <p:nvSpPr>
          <p:cNvPr id="1507499369" name="Text 10"/>
          <p:cNvSpPr/>
          <p:nvPr/>
        </p:nvSpPr>
        <p:spPr bwMode="auto">
          <a:xfrm>
            <a:off x="5114925" y="3271474"/>
            <a:ext cx="1059092" cy="274679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p>
            <a:pPr marL="127000" indent="-127000" algn="l">
              <a:lnSpc>
                <a:spcPct val="120000"/>
              </a:lnSpc>
              <a:buSzPct val="100000"/>
              <a:buChar char="•"/>
              <a:defRPr/>
            </a:pPr>
            <a:r>
              <a:rPr lang="en-US" sz="15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PostgreSQL</a:t>
            </a:r>
            <a:endParaRPr sz="1500"/>
          </a:p>
        </p:txBody>
      </p:sp>
      <p:sp>
        <p:nvSpPr>
          <p:cNvPr id="2002217456" name="Text 11"/>
          <p:cNvSpPr/>
          <p:nvPr/>
        </p:nvSpPr>
        <p:spPr bwMode="auto">
          <a:xfrm>
            <a:off x="5114925" y="3585799"/>
            <a:ext cx="831670" cy="274679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p>
            <a:pPr marL="127000" indent="-127000" algn="l">
              <a:lnSpc>
                <a:spcPct val="120000"/>
              </a:lnSpc>
              <a:buSzPct val="100000"/>
              <a:buChar char="•"/>
              <a:defRPr/>
            </a:pPr>
            <a:r>
              <a:rPr lang="en-US" sz="15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FHIR R4</a:t>
            </a:r>
            <a:endParaRPr sz="1500"/>
          </a:p>
        </p:txBody>
      </p:sp>
      <p:sp>
        <p:nvSpPr>
          <p:cNvPr id="1638362158" name="Text 12"/>
          <p:cNvSpPr/>
          <p:nvPr/>
        </p:nvSpPr>
        <p:spPr bwMode="auto">
          <a:xfrm>
            <a:off x="5114925" y="3900124"/>
            <a:ext cx="1314520" cy="274679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p>
            <a:pPr marL="127000" indent="-127000" algn="l">
              <a:lnSpc>
                <a:spcPct val="120000"/>
              </a:lnSpc>
              <a:buSzPct val="100000"/>
              <a:buChar char="•"/>
              <a:defRPr/>
            </a:pPr>
            <a:r>
              <a:rPr lang="en-US" sz="15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OAuth2 + JWT</a:t>
            </a:r>
            <a:endParaRPr sz="1500"/>
          </a:p>
        </p:txBody>
      </p:sp>
      <p:sp>
        <p:nvSpPr>
          <p:cNvPr id="229628631" name="Text 13"/>
          <p:cNvSpPr/>
          <p:nvPr/>
        </p:nvSpPr>
        <p:spPr bwMode="auto">
          <a:xfrm>
            <a:off x="8915400" y="4207306"/>
            <a:ext cx="101600" cy="13716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p>
            <a:pPr marL="0" indent="0" algn="l">
              <a:lnSpc>
                <a:spcPct val="120000"/>
              </a:lnSpc>
              <a:buNone/>
              <a:defRPr/>
            </a:pPr>
            <a:r>
              <a:rPr lang="en-US" sz="850">
                <a:solidFill>
                  <a:srgbClr val="898989"/>
                </a:solidFill>
                <a:latin typeface="Calibri"/>
                <a:ea typeface="Calibri"/>
                <a:cs typeface="Calibri"/>
              </a:rPr>
              <a:t>14</a:t>
            </a:r>
            <a:endParaRPr lang="en-US" sz="850"/>
          </a:p>
        </p:txBody>
      </p:sp>
      <p:pic>
        <p:nvPicPr>
          <p:cNvPr id="1066682563" name="Image 2" descr="preencoded.png"/>
          <p:cNvPicPr>
            <a:picLocks noChangeAspect="1"/>
          </p:cNvPicPr>
          <p:nvPr/>
        </p:nvPicPr>
        <p:blipFill rotWithShape="1">
          <a:blip r:embed="rId5"/>
          <a:stretch/>
        </p:blipFill>
        <p:spPr bwMode="auto">
          <a:xfrm flipH="0" flipV="0">
            <a:off x="0" y="4344465"/>
            <a:ext cx="9144000" cy="80680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3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928235697" name="Image 0" descr="preencoded.png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 flipH="0" flipV="0">
            <a:off x="0" y="0"/>
            <a:ext cx="9144000" cy="5637244"/>
          </a:xfrm>
          <a:prstGeom prst="rect">
            <a:avLst/>
          </a:prstGeom>
        </p:spPr>
      </p:pic>
      <p:pic>
        <p:nvPicPr>
          <p:cNvPr id="25735820" name="Image 1" descr="preencoded.png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>
            <a:off x="0" y="0"/>
            <a:ext cx="9144000" cy="1071563"/>
          </a:xfrm>
          <a:prstGeom prst="rect">
            <a:avLst/>
          </a:prstGeom>
        </p:spPr>
      </p:pic>
      <p:sp>
        <p:nvSpPr>
          <p:cNvPr id="294897234" name="Text 0"/>
          <p:cNvSpPr/>
          <p:nvPr/>
        </p:nvSpPr>
        <p:spPr bwMode="auto">
          <a:xfrm>
            <a:off x="628649" y="1128712"/>
            <a:ext cx="2809690" cy="411839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p>
            <a:pPr marL="0" indent="0" algn="l">
              <a:lnSpc>
                <a:spcPct val="100000"/>
              </a:lnSpc>
              <a:buNone/>
              <a:defRPr/>
            </a:pPr>
            <a:r>
              <a:rPr lang="en-US" sz="27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System Architecture</a:t>
            </a:r>
            <a:endParaRPr sz="2700"/>
          </a:p>
        </p:txBody>
      </p:sp>
      <p:sp>
        <p:nvSpPr>
          <p:cNvPr id="1584918836" name="Text 1"/>
          <p:cNvSpPr/>
          <p:nvPr/>
        </p:nvSpPr>
        <p:spPr bwMode="auto">
          <a:xfrm>
            <a:off x="628649" y="1769863"/>
            <a:ext cx="1571479" cy="274679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p>
            <a:pPr marL="0" indent="0" algn="l">
              <a:lnSpc>
                <a:spcPct val="120000"/>
              </a:lnSpc>
              <a:buNone/>
              <a:defRPr/>
            </a:pPr>
            <a:r>
              <a:rPr lang="en-US" sz="15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Architectural Layers</a:t>
            </a:r>
            <a:endParaRPr sz="1500" b="0"/>
          </a:p>
        </p:txBody>
      </p:sp>
      <p:sp>
        <p:nvSpPr>
          <p:cNvPr id="1032753702" name="Shape 2"/>
          <p:cNvSpPr/>
          <p:nvPr/>
        </p:nvSpPr>
        <p:spPr bwMode="auto">
          <a:xfrm>
            <a:off x="628650" y="2184202"/>
            <a:ext cx="3771900" cy="342900"/>
          </a:xfrm>
          <a:prstGeom prst="rect">
            <a:avLst/>
          </a:prstGeom>
          <a:solidFill>
            <a:srgbClr val="F0F4FF"/>
          </a:solidFill>
          <a:ln w="18288">
            <a:solidFill>
              <a:srgbClr val="1E3A8A"/>
            </a:solidFill>
            <a:prstDash val="solid"/>
          </a:ln>
        </p:spPr>
      </p:sp>
      <p:sp>
        <p:nvSpPr>
          <p:cNvPr id="1751939528" name="Text 3"/>
          <p:cNvSpPr/>
          <p:nvPr/>
        </p:nvSpPr>
        <p:spPr bwMode="auto">
          <a:xfrm>
            <a:off x="628649" y="2184201"/>
            <a:ext cx="3773700" cy="371707"/>
          </a:xfrm>
          <a:prstGeom prst="rect">
            <a:avLst/>
          </a:prstGeom>
          <a:noFill/>
        </p:spPr>
        <p:txBody>
          <a:bodyPr wrap="square" lIns="85090" tIns="85090" rIns="85090" bIns="85090" rtlCol="0" anchor="t">
            <a:spAutoFit/>
          </a:bodyPr>
          <a:p>
            <a:pPr marL="0" indent="0" algn="ctr">
              <a:lnSpc>
                <a:spcPct val="120000"/>
              </a:lnSpc>
              <a:buNone/>
              <a:defRPr/>
            </a:pPr>
            <a:r>
              <a:rPr lang="en-US" sz="1100" b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5. Persistence Layer (FHIR ConceptMap)</a:t>
            </a:r>
            <a:endParaRPr sz="1100" b="0">
              <a:solidFill>
                <a:schemeClr val="tx1"/>
              </a:solidFill>
              <a:latin typeface="Times New Roman"/>
              <a:cs typeface="Times New Roman"/>
            </a:endParaRPr>
          </a:p>
        </p:txBody>
      </p:sp>
      <p:sp>
        <p:nvSpPr>
          <p:cNvPr id="726311342" name="Shape 4"/>
          <p:cNvSpPr/>
          <p:nvPr/>
        </p:nvSpPr>
        <p:spPr bwMode="auto">
          <a:xfrm>
            <a:off x="628650" y="2555677"/>
            <a:ext cx="3771900" cy="342900"/>
          </a:xfrm>
          <a:prstGeom prst="rect">
            <a:avLst/>
          </a:prstGeom>
          <a:solidFill>
            <a:srgbClr val="F0F4FF"/>
          </a:solidFill>
          <a:ln w="18288">
            <a:solidFill>
              <a:srgbClr val="1E3A8A"/>
            </a:solidFill>
            <a:prstDash val="solid"/>
          </a:ln>
        </p:spPr>
      </p:sp>
      <p:sp>
        <p:nvSpPr>
          <p:cNvPr id="88167470" name="Text 5"/>
          <p:cNvSpPr/>
          <p:nvPr/>
        </p:nvSpPr>
        <p:spPr bwMode="auto">
          <a:xfrm>
            <a:off x="628649" y="2555676"/>
            <a:ext cx="3774780" cy="371707"/>
          </a:xfrm>
          <a:prstGeom prst="rect">
            <a:avLst/>
          </a:prstGeom>
          <a:noFill/>
        </p:spPr>
        <p:txBody>
          <a:bodyPr wrap="square" lIns="85090" tIns="85090" rIns="85090" bIns="85090" rtlCol="0" anchor="t">
            <a:spAutoFit/>
          </a:bodyPr>
          <a:p>
            <a:pPr marL="0" indent="0" algn="ctr">
              <a:lnSpc>
                <a:spcPct val="120000"/>
              </a:lnSpc>
              <a:buNone/>
              <a:defRPr/>
            </a:pPr>
            <a:r>
              <a:rPr lang="en-US" sz="1100" b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4. Governance Layer (Review Workflow)</a:t>
            </a:r>
            <a:endParaRPr sz="1100" b="0">
              <a:solidFill>
                <a:schemeClr val="tx1"/>
              </a:solidFill>
              <a:latin typeface="Times New Roman"/>
              <a:cs typeface="Times New Roman"/>
            </a:endParaRPr>
          </a:p>
        </p:txBody>
      </p:sp>
      <p:sp>
        <p:nvSpPr>
          <p:cNvPr id="1233232128" name="Shape 6"/>
          <p:cNvSpPr/>
          <p:nvPr/>
        </p:nvSpPr>
        <p:spPr bwMode="auto">
          <a:xfrm>
            <a:off x="628650" y="2927152"/>
            <a:ext cx="3771900" cy="342900"/>
          </a:xfrm>
          <a:prstGeom prst="rect">
            <a:avLst/>
          </a:prstGeom>
          <a:solidFill>
            <a:srgbClr val="F0F4FF"/>
          </a:solidFill>
          <a:ln w="18288">
            <a:solidFill>
              <a:srgbClr val="1E3A8A"/>
            </a:solidFill>
            <a:prstDash val="solid"/>
          </a:ln>
        </p:spPr>
      </p:sp>
      <p:sp>
        <p:nvSpPr>
          <p:cNvPr id="257090942" name="Text 7"/>
          <p:cNvSpPr/>
          <p:nvPr/>
        </p:nvSpPr>
        <p:spPr bwMode="auto">
          <a:xfrm>
            <a:off x="628649" y="2927151"/>
            <a:ext cx="3773340" cy="371707"/>
          </a:xfrm>
          <a:prstGeom prst="rect">
            <a:avLst/>
          </a:prstGeom>
          <a:noFill/>
        </p:spPr>
        <p:txBody>
          <a:bodyPr wrap="square" lIns="85090" tIns="85090" rIns="85090" bIns="85090" rtlCol="0" anchor="t">
            <a:spAutoFit/>
          </a:bodyPr>
          <a:p>
            <a:pPr marL="0" indent="0" algn="ctr">
              <a:lnSpc>
                <a:spcPct val="120000"/>
              </a:lnSpc>
              <a:buNone/>
              <a:defRPr/>
            </a:pPr>
            <a:r>
              <a:rPr lang="en-US" sz="1100" b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3. Validation Layer (Rule Engine)</a:t>
            </a:r>
            <a:endParaRPr sz="1100" b="0">
              <a:solidFill>
                <a:schemeClr val="tx1"/>
              </a:solidFill>
              <a:latin typeface="Times New Roman"/>
              <a:cs typeface="Times New Roman"/>
            </a:endParaRPr>
          </a:p>
        </p:txBody>
      </p:sp>
      <p:sp>
        <p:nvSpPr>
          <p:cNvPr id="165636474" name="Shape 8"/>
          <p:cNvSpPr/>
          <p:nvPr/>
        </p:nvSpPr>
        <p:spPr bwMode="auto">
          <a:xfrm>
            <a:off x="628650" y="3298627"/>
            <a:ext cx="3771900" cy="342900"/>
          </a:xfrm>
          <a:prstGeom prst="rect">
            <a:avLst/>
          </a:prstGeom>
          <a:solidFill>
            <a:srgbClr val="F0F4FF"/>
          </a:solidFill>
          <a:ln w="18288">
            <a:solidFill>
              <a:srgbClr val="1E3A8A"/>
            </a:solidFill>
            <a:prstDash val="solid"/>
          </a:ln>
        </p:spPr>
      </p:sp>
      <p:sp>
        <p:nvSpPr>
          <p:cNvPr id="1470236354" name="Text 9"/>
          <p:cNvSpPr/>
          <p:nvPr/>
        </p:nvSpPr>
        <p:spPr bwMode="auto">
          <a:xfrm>
            <a:off x="628649" y="3298626"/>
            <a:ext cx="3773700" cy="371707"/>
          </a:xfrm>
          <a:prstGeom prst="rect">
            <a:avLst/>
          </a:prstGeom>
          <a:noFill/>
        </p:spPr>
        <p:txBody>
          <a:bodyPr wrap="square" lIns="85090" tIns="85090" rIns="85090" bIns="85090" rtlCol="0" anchor="t">
            <a:spAutoFit/>
          </a:bodyPr>
          <a:p>
            <a:pPr marL="0" indent="0" algn="ctr">
              <a:lnSpc>
                <a:spcPct val="120000"/>
              </a:lnSpc>
              <a:buNone/>
              <a:defRPr/>
            </a:pPr>
            <a:r>
              <a:rPr lang="en-US" sz="1100" b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2. Semantic Processing Layer (BioClinical BERT)</a:t>
            </a:r>
            <a:endParaRPr sz="1100" b="0">
              <a:solidFill>
                <a:schemeClr val="tx1"/>
              </a:solidFill>
              <a:latin typeface="Times New Roman"/>
              <a:cs typeface="Times New Roman"/>
            </a:endParaRPr>
          </a:p>
        </p:txBody>
      </p:sp>
      <p:sp>
        <p:nvSpPr>
          <p:cNvPr id="1688204296" name="Shape 10"/>
          <p:cNvSpPr/>
          <p:nvPr/>
        </p:nvSpPr>
        <p:spPr bwMode="auto">
          <a:xfrm>
            <a:off x="628650" y="3670101"/>
            <a:ext cx="3771900" cy="342900"/>
          </a:xfrm>
          <a:prstGeom prst="rect">
            <a:avLst/>
          </a:prstGeom>
          <a:solidFill>
            <a:srgbClr val="F0F4FF"/>
          </a:solidFill>
          <a:ln w="18288">
            <a:solidFill>
              <a:srgbClr val="1E3A8A"/>
            </a:solidFill>
            <a:prstDash val="solid"/>
          </a:ln>
        </p:spPr>
      </p:sp>
      <p:sp>
        <p:nvSpPr>
          <p:cNvPr id="1247474346" name="Text 11"/>
          <p:cNvSpPr/>
          <p:nvPr/>
        </p:nvSpPr>
        <p:spPr bwMode="auto">
          <a:xfrm flipH="0" flipV="0">
            <a:off x="628649" y="3670101"/>
            <a:ext cx="3774060" cy="371707"/>
          </a:xfrm>
          <a:prstGeom prst="rect">
            <a:avLst/>
          </a:prstGeom>
          <a:noFill/>
        </p:spPr>
        <p:txBody>
          <a:bodyPr wrap="square" lIns="85089" tIns="85089" rIns="85089" bIns="85089" rtlCol="0" anchor="t">
            <a:spAutoFit/>
          </a:bodyPr>
          <a:p>
            <a:pPr marL="0" indent="0" algn="ctr">
              <a:lnSpc>
                <a:spcPct val="120000"/>
              </a:lnSpc>
              <a:buNone/>
              <a:defRPr/>
            </a:pPr>
            <a:r>
              <a:rPr lang="en-US" sz="1100" b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1. Terminology Ingestion Layer (NAMASTE/ICD-11)</a:t>
            </a:r>
            <a:endParaRPr sz="1100" b="0">
              <a:solidFill>
                <a:schemeClr val="tx1"/>
              </a:solidFill>
              <a:latin typeface="Times New Roman"/>
              <a:cs typeface="Times New Roman"/>
            </a:endParaRPr>
          </a:p>
        </p:txBody>
      </p:sp>
      <p:sp>
        <p:nvSpPr>
          <p:cNvPr id="2120056317" name="Text 12"/>
          <p:cNvSpPr/>
          <p:nvPr/>
        </p:nvSpPr>
        <p:spPr bwMode="auto">
          <a:xfrm>
            <a:off x="5025312" y="1769863"/>
            <a:ext cx="1392246" cy="274679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p>
            <a:pPr marL="0" indent="0" algn="l">
              <a:lnSpc>
                <a:spcPct val="120000"/>
              </a:lnSpc>
              <a:buNone/>
              <a:defRPr/>
            </a:pPr>
            <a:r>
              <a:rPr lang="en-US" sz="15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System Workflow</a:t>
            </a:r>
            <a:endParaRPr sz="1500" b="0"/>
          </a:p>
        </p:txBody>
      </p:sp>
      <p:sp>
        <p:nvSpPr>
          <p:cNvPr id="328540991" name="Shape 13"/>
          <p:cNvSpPr/>
          <p:nvPr/>
        </p:nvSpPr>
        <p:spPr bwMode="auto">
          <a:xfrm>
            <a:off x="6073973" y="2298502"/>
            <a:ext cx="1110853" cy="285750"/>
          </a:xfrm>
          <a:prstGeom prst="rect">
            <a:avLst/>
          </a:prstGeom>
          <a:solidFill>
            <a:srgbClr val="1E3A8A"/>
          </a:solidFill>
        </p:spPr>
      </p:sp>
      <p:sp>
        <p:nvSpPr>
          <p:cNvPr id="954664592" name="Text 14"/>
          <p:cNvSpPr/>
          <p:nvPr/>
        </p:nvSpPr>
        <p:spPr bwMode="auto">
          <a:xfrm>
            <a:off x="6073972" y="2310948"/>
            <a:ext cx="1424120" cy="273304"/>
          </a:xfrm>
          <a:prstGeom prst="rect">
            <a:avLst/>
          </a:prstGeom>
          <a:noFill/>
        </p:spPr>
        <p:txBody>
          <a:bodyPr wrap="square" lIns="102108" tIns="68072" rIns="102108" bIns="68072" rtlCol="0" anchor="t">
            <a:spAutoFit/>
          </a:bodyPr>
          <a:p>
            <a:pPr marL="0" indent="0" algn="l">
              <a:lnSpc>
                <a:spcPct val="120000"/>
              </a:lnSpc>
              <a:buNone/>
              <a:defRPr/>
            </a:pPr>
            <a:r>
              <a:rPr lang="en-US" sz="8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NAMASTE Concepts</a:t>
            </a:r>
            <a:endParaRPr lang="en-US" sz="800"/>
          </a:p>
        </p:txBody>
      </p:sp>
      <p:pic>
        <p:nvPicPr>
          <p:cNvPr id="1314428404" name="Image 2" descr="preencoded.png"/>
          <p:cNvPicPr>
            <a:picLocks noChangeAspect="1"/>
          </p:cNvPicPr>
          <p:nvPr/>
        </p:nvPicPr>
        <p:blipFill rotWithShape="1">
          <a:blip r:embed="rId5"/>
          <a:stretch/>
        </p:blipFill>
        <p:spPr bwMode="auto">
          <a:xfrm>
            <a:off x="6575822" y="2698552"/>
            <a:ext cx="107156" cy="200025"/>
          </a:xfrm>
          <a:prstGeom prst="rect">
            <a:avLst/>
          </a:prstGeom>
        </p:spPr>
      </p:pic>
      <p:sp>
        <p:nvSpPr>
          <p:cNvPr id="1999496860" name="Shape 15"/>
          <p:cNvSpPr/>
          <p:nvPr/>
        </p:nvSpPr>
        <p:spPr bwMode="auto">
          <a:xfrm flipH="0" flipV="0">
            <a:off x="6073972" y="3012876"/>
            <a:ext cx="1118052" cy="285750"/>
          </a:xfrm>
          <a:prstGeom prst="rect">
            <a:avLst/>
          </a:prstGeom>
          <a:solidFill>
            <a:srgbClr val="1E3A8A"/>
          </a:solidFill>
        </p:spPr>
      </p:sp>
      <p:sp>
        <p:nvSpPr>
          <p:cNvPr id="1917677207" name="Text 16"/>
          <p:cNvSpPr/>
          <p:nvPr/>
        </p:nvSpPr>
        <p:spPr bwMode="auto">
          <a:xfrm flipH="0" flipV="0">
            <a:off x="6022180" y="3025321"/>
            <a:ext cx="1170564" cy="282807"/>
          </a:xfrm>
          <a:prstGeom prst="rect">
            <a:avLst/>
          </a:prstGeom>
          <a:noFill/>
        </p:spPr>
        <p:txBody>
          <a:bodyPr wrap="square" lIns="102107" tIns="68071" rIns="102107" bIns="68071" rtlCol="0" anchor="t">
            <a:spAutoFit/>
          </a:bodyPr>
          <a:p>
            <a:pPr marL="0" indent="0" algn="l">
              <a:lnSpc>
                <a:spcPct val="120000"/>
              </a:lnSpc>
              <a:buNone/>
              <a:defRPr/>
            </a:pPr>
            <a:r>
              <a:rPr lang="en-US" sz="8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          AI Semantic </a:t>
            </a:r>
            <a:endParaRPr lang="en-US" sz="800"/>
          </a:p>
        </p:txBody>
      </p:sp>
      <p:pic>
        <p:nvPicPr>
          <p:cNvPr id="1920456302" name="Image 3" descr="preencoded.png"/>
          <p:cNvPicPr>
            <a:picLocks noChangeAspect="1"/>
          </p:cNvPicPr>
          <p:nvPr/>
        </p:nvPicPr>
        <p:blipFill rotWithShape="1">
          <a:blip r:embed="rId5"/>
          <a:stretch/>
        </p:blipFill>
        <p:spPr bwMode="auto">
          <a:xfrm>
            <a:off x="6575822" y="3412927"/>
            <a:ext cx="107156" cy="200025"/>
          </a:xfrm>
          <a:prstGeom prst="rect">
            <a:avLst/>
          </a:prstGeom>
        </p:spPr>
      </p:pic>
      <p:sp>
        <p:nvSpPr>
          <p:cNvPr id="854451299" name="Shape 17"/>
          <p:cNvSpPr/>
          <p:nvPr/>
        </p:nvSpPr>
        <p:spPr bwMode="auto">
          <a:xfrm flipH="0" flipV="0">
            <a:off x="6073972" y="3759001"/>
            <a:ext cx="1162645" cy="253999"/>
          </a:xfrm>
          <a:prstGeom prst="rect">
            <a:avLst/>
          </a:prstGeom>
          <a:solidFill>
            <a:srgbClr val="1E3A8A"/>
          </a:solidFill>
        </p:spPr>
      </p:sp>
      <p:sp>
        <p:nvSpPr>
          <p:cNvPr id="162547747" name="Text 18"/>
          <p:cNvSpPr/>
          <p:nvPr/>
        </p:nvSpPr>
        <p:spPr bwMode="auto">
          <a:xfrm flipH="0" flipV="0">
            <a:off x="6073972" y="3759001"/>
            <a:ext cx="1120932" cy="282807"/>
          </a:xfrm>
          <a:prstGeom prst="rect">
            <a:avLst/>
          </a:prstGeom>
          <a:noFill/>
        </p:spPr>
        <p:txBody>
          <a:bodyPr wrap="square" lIns="102107" tIns="68071" rIns="102107" bIns="68071" rtlCol="0" anchor="t">
            <a:spAutoFit/>
          </a:bodyPr>
          <a:p>
            <a:pPr marL="0" indent="0" algn="l">
              <a:lnSpc>
                <a:spcPct val="120000"/>
              </a:lnSpc>
              <a:buNone/>
              <a:defRPr/>
            </a:pPr>
            <a:r>
              <a:rPr lang="en-US" sz="8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    ICD-11 Mapping </a:t>
            </a:r>
            <a:endParaRPr lang="en-US" sz="800"/>
          </a:p>
        </p:txBody>
      </p:sp>
      <p:pic>
        <p:nvPicPr>
          <p:cNvPr id="1936215976" name="Image 4" descr="preencoded.png"/>
          <p:cNvPicPr>
            <a:picLocks noChangeAspect="1"/>
          </p:cNvPicPr>
          <p:nvPr/>
        </p:nvPicPr>
        <p:blipFill rotWithShape="1">
          <a:blip r:embed="rId5"/>
          <a:stretch/>
        </p:blipFill>
        <p:spPr bwMode="auto">
          <a:xfrm>
            <a:off x="6575821" y="4127301"/>
            <a:ext cx="107156" cy="200025"/>
          </a:xfrm>
          <a:prstGeom prst="rect">
            <a:avLst/>
          </a:prstGeom>
        </p:spPr>
      </p:pic>
      <p:sp>
        <p:nvSpPr>
          <p:cNvPr id="718180796" name="Shape 19"/>
          <p:cNvSpPr/>
          <p:nvPr/>
        </p:nvSpPr>
        <p:spPr bwMode="auto">
          <a:xfrm>
            <a:off x="6022181" y="4441627"/>
            <a:ext cx="1214438" cy="285750"/>
          </a:xfrm>
          <a:prstGeom prst="rect">
            <a:avLst/>
          </a:prstGeom>
          <a:solidFill>
            <a:srgbClr val="1E3A8A"/>
          </a:solidFill>
        </p:spPr>
      </p:sp>
      <p:sp>
        <p:nvSpPr>
          <p:cNvPr id="34195024" name="Text 20"/>
          <p:cNvSpPr/>
          <p:nvPr/>
        </p:nvSpPr>
        <p:spPr bwMode="auto">
          <a:xfrm flipH="0" flipV="0">
            <a:off x="6073972" y="4441626"/>
            <a:ext cx="1164085" cy="282807"/>
          </a:xfrm>
          <a:prstGeom prst="rect">
            <a:avLst/>
          </a:prstGeom>
          <a:noFill/>
        </p:spPr>
        <p:txBody>
          <a:bodyPr wrap="square" lIns="102107" tIns="68071" rIns="102107" bIns="68071" rtlCol="0" anchor="t">
            <a:spAutoFit/>
          </a:bodyPr>
          <a:p>
            <a:pPr marL="0" indent="0" algn="l">
              <a:lnSpc>
                <a:spcPct val="120000"/>
              </a:lnSpc>
              <a:buNone/>
              <a:defRPr/>
            </a:pPr>
            <a:r>
              <a:rPr lang="en-US" sz="8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Validation &amp; Approval</a:t>
            </a:r>
            <a:endParaRPr lang="en-US" sz="800"/>
          </a:p>
        </p:txBody>
      </p:sp>
      <p:pic>
        <p:nvPicPr>
          <p:cNvPr id="1330154800" name="Image 5" descr="preencoded.png"/>
          <p:cNvPicPr>
            <a:picLocks noChangeAspect="1"/>
          </p:cNvPicPr>
          <p:nvPr/>
        </p:nvPicPr>
        <p:blipFill rotWithShape="1">
          <a:blip r:embed="rId5"/>
          <a:stretch/>
        </p:blipFill>
        <p:spPr bwMode="auto">
          <a:xfrm flipH="0">
            <a:off x="5150600" y="7785821"/>
            <a:ext cx="64413" cy="120238"/>
          </a:xfrm>
          <a:prstGeom prst="rect">
            <a:avLst/>
          </a:prstGeom>
        </p:spPr>
      </p:pic>
      <p:sp>
        <p:nvSpPr>
          <p:cNvPr id="1768669304" name="Text 22"/>
          <p:cNvSpPr/>
          <p:nvPr/>
        </p:nvSpPr>
        <p:spPr bwMode="auto">
          <a:xfrm>
            <a:off x="6015038" y="5156002"/>
            <a:ext cx="1228725" cy="410464"/>
          </a:xfrm>
          <a:prstGeom prst="rect">
            <a:avLst/>
          </a:prstGeom>
          <a:noFill/>
        </p:spPr>
        <p:txBody>
          <a:bodyPr wrap="square" lIns="102108" tIns="68072" rIns="102108" bIns="68072" rtlCol="0" anchor="t">
            <a:spAutoFit/>
          </a:bodyPr>
          <a:p>
            <a:pPr marL="0" indent="0" algn="l">
              <a:lnSpc>
                <a:spcPct val="120000"/>
              </a:lnSpc>
              <a:buNone/>
              <a:defRPr/>
            </a:pPr>
            <a:r>
              <a:rPr lang="en-US" sz="8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FHIR Standard Storage</a:t>
            </a:r>
            <a:endParaRPr lang="en-US" sz="800"/>
          </a:p>
        </p:txBody>
      </p:sp>
      <p:sp>
        <p:nvSpPr>
          <p:cNvPr id="1217734967" name="Text 23"/>
          <p:cNvSpPr/>
          <p:nvPr/>
        </p:nvSpPr>
        <p:spPr bwMode="auto">
          <a:xfrm>
            <a:off x="8915400" y="5127427"/>
            <a:ext cx="101600" cy="13716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p>
            <a:pPr marL="0" indent="0" algn="l">
              <a:lnSpc>
                <a:spcPct val="120000"/>
              </a:lnSpc>
              <a:buNone/>
              <a:defRPr/>
            </a:pPr>
            <a:r>
              <a:rPr lang="en-US" sz="850">
                <a:solidFill>
                  <a:srgbClr val="898989"/>
                </a:solidFill>
                <a:latin typeface="Calibri"/>
                <a:ea typeface="Calibri"/>
                <a:cs typeface="Calibri"/>
              </a:rPr>
              <a:t>15</a:t>
            </a:r>
            <a:endParaRPr lang="en-US" sz="85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4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715140339" name="Image 0" descr="preencoded.png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0" y="0"/>
            <a:ext cx="9144000" cy="5879306"/>
          </a:xfrm>
          <a:prstGeom prst="rect">
            <a:avLst/>
          </a:prstGeom>
        </p:spPr>
      </p:pic>
      <p:pic>
        <p:nvPicPr>
          <p:cNvPr id="30587475" name="Image 1" descr="preencoded.png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>
            <a:off x="0" y="0"/>
            <a:ext cx="9144000" cy="1071563"/>
          </a:xfrm>
          <a:prstGeom prst="rect">
            <a:avLst/>
          </a:prstGeom>
        </p:spPr>
      </p:pic>
      <p:sp>
        <p:nvSpPr>
          <p:cNvPr id="2111574067" name="Text 0"/>
          <p:cNvSpPr/>
          <p:nvPr/>
        </p:nvSpPr>
        <p:spPr bwMode="auto">
          <a:xfrm>
            <a:off x="628649" y="1371600"/>
            <a:ext cx="1200859" cy="329543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p>
            <a:pPr marL="0" indent="0" algn="l">
              <a:lnSpc>
                <a:spcPct val="80000"/>
              </a:lnSpc>
              <a:buNone/>
              <a:defRPr/>
            </a:pPr>
            <a:r>
              <a:rPr lang="en-US" sz="27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Modules</a:t>
            </a:r>
            <a:endParaRPr sz="2700"/>
          </a:p>
        </p:txBody>
      </p:sp>
      <p:sp>
        <p:nvSpPr>
          <p:cNvPr id="685541562" name="Text 1"/>
          <p:cNvSpPr/>
          <p:nvPr/>
        </p:nvSpPr>
        <p:spPr bwMode="auto">
          <a:xfrm>
            <a:off x="971550" y="2021680"/>
            <a:ext cx="2535043" cy="402695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p>
            <a:pPr marL="127000" indent="-127000" algn="l">
              <a:lnSpc>
                <a:spcPct val="176000"/>
              </a:lnSpc>
              <a:buSzPct val="100000"/>
              <a:buFont typeface="+mj-lt"/>
              <a:buAutoNum type="arabicPeriod" startAt="1"/>
              <a:defRPr/>
            </a:pPr>
            <a:r>
              <a:rPr lang="en-US" sz="15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Terminology Ingestion Module</a:t>
            </a:r>
            <a:endParaRPr lang="en-US" sz="1700"/>
          </a:p>
        </p:txBody>
      </p:sp>
      <p:sp>
        <p:nvSpPr>
          <p:cNvPr id="1041700124" name="Text 2"/>
          <p:cNvSpPr/>
          <p:nvPr/>
        </p:nvSpPr>
        <p:spPr bwMode="auto">
          <a:xfrm>
            <a:off x="971550" y="2524590"/>
            <a:ext cx="2249287" cy="402695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p>
            <a:pPr marL="127000" indent="-127000" algn="l">
              <a:lnSpc>
                <a:spcPct val="176000"/>
              </a:lnSpc>
              <a:buSzPct val="100000"/>
              <a:buFont typeface="+mj-lt"/>
              <a:buAutoNum type="arabicPeriod" startAt="2"/>
              <a:defRPr/>
            </a:pPr>
            <a:r>
              <a:rPr lang="en-US" sz="15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Semantic Similarity Engine</a:t>
            </a:r>
            <a:endParaRPr sz="1500">
              <a:latin typeface="Times New Roman"/>
              <a:cs typeface="Times New Roman"/>
            </a:endParaRPr>
          </a:p>
        </p:txBody>
      </p:sp>
      <p:sp>
        <p:nvSpPr>
          <p:cNvPr id="1081612847" name="Text 3"/>
          <p:cNvSpPr/>
          <p:nvPr/>
        </p:nvSpPr>
        <p:spPr bwMode="auto">
          <a:xfrm>
            <a:off x="971550" y="3027498"/>
            <a:ext cx="1995362" cy="402695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p>
            <a:pPr marL="127000" indent="-127000" algn="l">
              <a:lnSpc>
                <a:spcPct val="176000"/>
              </a:lnSpc>
              <a:buSzPct val="100000"/>
              <a:buFont typeface="+mj-lt"/>
              <a:buAutoNum type="arabicPeriod" startAt="3"/>
              <a:defRPr/>
            </a:pPr>
            <a:r>
              <a:rPr lang="en-US" sz="15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Rule Validation Module</a:t>
            </a:r>
            <a:endParaRPr sz="1500">
              <a:latin typeface="Times New Roman"/>
              <a:cs typeface="Times New Roman"/>
            </a:endParaRPr>
          </a:p>
        </p:txBody>
      </p:sp>
      <p:sp>
        <p:nvSpPr>
          <p:cNvPr id="759790747" name="Text 4"/>
          <p:cNvSpPr/>
          <p:nvPr/>
        </p:nvSpPr>
        <p:spPr bwMode="auto">
          <a:xfrm>
            <a:off x="971550" y="3530407"/>
            <a:ext cx="2534584" cy="402695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p>
            <a:pPr marL="127000" indent="-127000" algn="l">
              <a:lnSpc>
                <a:spcPct val="176000"/>
              </a:lnSpc>
              <a:buSzPct val="100000"/>
              <a:buFont typeface="+mj-lt"/>
              <a:buAutoNum type="arabicPeriod" startAt="4"/>
              <a:defRPr/>
            </a:pPr>
            <a:r>
              <a:rPr lang="en-US" sz="15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Governance Workflow Module</a:t>
            </a:r>
            <a:endParaRPr sz="1500">
              <a:latin typeface="Times New Roman"/>
              <a:cs typeface="Times New Roman"/>
            </a:endParaRPr>
          </a:p>
        </p:txBody>
      </p:sp>
      <p:sp>
        <p:nvSpPr>
          <p:cNvPr id="1756896076" name="Text 5"/>
          <p:cNvSpPr/>
          <p:nvPr/>
        </p:nvSpPr>
        <p:spPr bwMode="auto">
          <a:xfrm>
            <a:off x="971550" y="4033316"/>
            <a:ext cx="2122421" cy="402695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p>
            <a:pPr marL="127000" indent="-127000" algn="l">
              <a:lnSpc>
                <a:spcPct val="176000"/>
              </a:lnSpc>
              <a:buSzPct val="100000"/>
              <a:buFont typeface="+mj-lt"/>
              <a:buAutoNum type="arabicPeriod" startAt="5"/>
              <a:defRPr/>
            </a:pPr>
            <a:r>
              <a:rPr lang="en-US" sz="15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FHIR Persistence Module</a:t>
            </a:r>
            <a:endParaRPr sz="1500">
              <a:latin typeface="Times New Roman"/>
              <a:cs typeface="Times New Roman"/>
            </a:endParaRPr>
          </a:p>
        </p:txBody>
      </p:sp>
      <p:pic>
        <p:nvPicPr>
          <p:cNvPr id="311299527" name="Image 2" descr="preencoded.png"/>
          <p:cNvPicPr>
            <a:picLocks noChangeAspect="1"/>
          </p:cNvPicPr>
          <p:nvPr/>
        </p:nvPicPr>
        <p:blipFill rotWithShape="1">
          <a:blip r:embed="rId5"/>
          <a:stretch/>
        </p:blipFill>
        <p:spPr bwMode="auto">
          <a:xfrm flipH="0" flipV="0">
            <a:off x="0" y="4436012"/>
            <a:ext cx="9144000" cy="734700"/>
          </a:xfrm>
          <a:prstGeom prst="rect">
            <a:avLst/>
          </a:prstGeom>
        </p:spPr>
      </p:pic>
      <p:sp>
        <p:nvSpPr>
          <p:cNvPr id="1757251838" name="Text 6"/>
          <p:cNvSpPr/>
          <p:nvPr/>
        </p:nvSpPr>
        <p:spPr bwMode="auto">
          <a:xfrm>
            <a:off x="8915400" y="5614988"/>
            <a:ext cx="101600" cy="13716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p>
            <a:pPr marL="0" indent="0" algn="l">
              <a:lnSpc>
                <a:spcPct val="120000"/>
              </a:lnSpc>
              <a:buNone/>
              <a:defRPr/>
            </a:pPr>
            <a:r>
              <a:rPr lang="en-US" sz="850">
                <a:solidFill>
                  <a:srgbClr val="898989"/>
                </a:solidFill>
                <a:latin typeface="Calibri"/>
                <a:ea typeface="Calibri"/>
                <a:cs typeface="Calibri"/>
              </a:rPr>
              <a:t>16</a:t>
            </a:r>
            <a:endParaRPr lang="en-US" sz="85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5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638619240" name="Image 0" descr="preencoded.png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0" y="0"/>
            <a:ext cx="9144000" cy="5695355"/>
          </a:xfrm>
          <a:prstGeom prst="rect">
            <a:avLst/>
          </a:prstGeom>
        </p:spPr>
      </p:pic>
      <p:pic>
        <p:nvPicPr>
          <p:cNvPr id="982475420" name="Image 1" descr="preencoded.png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>
            <a:off x="0" y="0"/>
            <a:ext cx="9144000" cy="1071563"/>
          </a:xfrm>
          <a:prstGeom prst="rect">
            <a:avLst/>
          </a:prstGeom>
        </p:spPr>
      </p:pic>
      <p:sp>
        <p:nvSpPr>
          <p:cNvPr id="891415151" name="Text 0"/>
          <p:cNvSpPr/>
          <p:nvPr/>
        </p:nvSpPr>
        <p:spPr bwMode="auto">
          <a:xfrm>
            <a:off x="629406" y="1145818"/>
            <a:ext cx="2752933" cy="411839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p>
            <a:pPr marL="0" indent="0" algn="l">
              <a:lnSpc>
                <a:spcPct val="100000"/>
              </a:lnSpc>
              <a:buNone/>
              <a:defRPr/>
            </a:pPr>
            <a:r>
              <a:rPr lang="en-US" sz="27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Module Description</a:t>
            </a:r>
            <a:endParaRPr lang="en-US" sz="2850"/>
          </a:p>
        </p:txBody>
      </p:sp>
      <p:sp>
        <p:nvSpPr>
          <p:cNvPr id="336956461" name="Text 1"/>
          <p:cNvSpPr/>
          <p:nvPr/>
        </p:nvSpPr>
        <p:spPr bwMode="auto">
          <a:xfrm>
            <a:off x="628649" y="1644847"/>
            <a:ext cx="756" cy="274679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p>
            <a:pPr>
              <a:defRPr/>
            </a:pPr>
            <a:endParaRPr/>
          </a:p>
        </p:txBody>
      </p:sp>
      <p:sp>
        <p:nvSpPr>
          <p:cNvPr id="1903221573" name="Shape 2"/>
          <p:cNvSpPr/>
          <p:nvPr/>
        </p:nvSpPr>
        <p:spPr bwMode="auto">
          <a:xfrm>
            <a:off x="628649" y="1715789"/>
            <a:ext cx="7886700" cy="3264694"/>
          </a:xfrm>
          <a:prstGeom prst="rect">
            <a:avLst/>
          </a:prstGeom>
          <a:solidFill>
            <a:srgbClr val="FFFFFF"/>
          </a:solidFill>
          <a:ln w="9144">
            <a:solidFill>
              <a:srgbClr val="898989"/>
            </a:solidFill>
            <a:prstDash val="solid"/>
          </a:ln>
        </p:spPr>
      </p:sp>
      <p:sp>
        <p:nvSpPr>
          <p:cNvPr id="1372290010" name="Text 3"/>
          <p:cNvSpPr/>
          <p:nvPr/>
        </p:nvSpPr>
        <p:spPr bwMode="auto">
          <a:xfrm>
            <a:off x="1085850" y="2701193"/>
            <a:ext cx="5735381" cy="292968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p>
            <a:pPr marL="127000" indent="-127000" algn="l">
              <a:lnSpc>
                <a:spcPct val="128000"/>
              </a:lnSpc>
              <a:buSzPct val="100000"/>
              <a:buChar char="•"/>
              <a:defRPr/>
            </a:pPr>
            <a:r>
              <a:rPr lang="en-US" sz="15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Loads NAMASTE concepts</a:t>
            </a:r>
            <a:r>
              <a:rPr lang="en-US" sz="15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directly from source files or integrated APIs.</a:t>
            </a:r>
            <a:endParaRPr sz="1500" b="0">
              <a:latin typeface="Times New Roman"/>
              <a:cs typeface="Times New Roman"/>
            </a:endParaRPr>
          </a:p>
        </p:txBody>
      </p:sp>
      <p:sp>
        <p:nvSpPr>
          <p:cNvPr id="1389678731" name="Text 4"/>
          <p:cNvSpPr/>
          <p:nvPr/>
        </p:nvSpPr>
        <p:spPr bwMode="auto">
          <a:xfrm>
            <a:off x="1085850" y="3126336"/>
            <a:ext cx="7145189" cy="58557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marL="127000" indent="-127000" algn="l">
              <a:lnSpc>
                <a:spcPct val="128000"/>
              </a:lnSpc>
              <a:buSzPct val="100000"/>
              <a:buChar char="•"/>
              <a:defRPr/>
            </a:pPr>
            <a:r>
              <a:rPr lang="en-US" sz="15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Retrieves ICD-11 entities</a:t>
            </a:r>
            <a:r>
              <a:rPr lang="en-US" sz="15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dynamically to ensure the system uses the most up-to-date terminology.</a:t>
            </a:r>
            <a:endParaRPr sz="1500" b="0">
              <a:latin typeface="Times New Roman"/>
              <a:cs typeface="Times New Roman"/>
            </a:endParaRPr>
          </a:p>
        </p:txBody>
      </p:sp>
      <p:sp>
        <p:nvSpPr>
          <p:cNvPr id="92348651" name="Text 5"/>
          <p:cNvSpPr/>
          <p:nvPr/>
        </p:nvSpPr>
        <p:spPr bwMode="auto">
          <a:xfrm>
            <a:off x="1085849" y="3829238"/>
            <a:ext cx="6078697" cy="292968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p>
            <a:pPr marL="127000" indent="-127000" algn="l">
              <a:lnSpc>
                <a:spcPct val="128000"/>
              </a:lnSpc>
              <a:buSzPct val="100000"/>
              <a:buChar char="•"/>
              <a:defRPr/>
            </a:pPr>
            <a:r>
              <a:rPr lang="en-US" sz="15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Uses WHO ICD API</a:t>
            </a:r>
            <a:r>
              <a:rPr lang="en-US" sz="15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for official and authoritative classification data retrieval.</a:t>
            </a:r>
            <a:endParaRPr sz="1500" b="0">
              <a:latin typeface="Times New Roman"/>
              <a:cs typeface="Times New Roman"/>
            </a:endParaRPr>
          </a:p>
        </p:txBody>
      </p:sp>
      <p:sp>
        <p:nvSpPr>
          <p:cNvPr id="282452353" name="Text 6"/>
          <p:cNvSpPr/>
          <p:nvPr/>
        </p:nvSpPr>
        <p:spPr bwMode="auto">
          <a:xfrm>
            <a:off x="1085850" y="4307432"/>
            <a:ext cx="7145189" cy="58557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marL="127000" indent="-127000" algn="l">
              <a:lnSpc>
                <a:spcPct val="128000"/>
              </a:lnSpc>
              <a:buSzPct val="100000"/>
              <a:buChar char="•"/>
              <a:defRPr/>
            </a:pPr>
            <a:r>
              <a:rPr lang="en-US" sz="15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Converts data into FHIR CodeSystem</a:t>
            </a:r>
            <a:r>
              <a:rPr lang="en-US" sz="15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resources for standardized internal representation and interoperability.</a:t>
            </a:r>
            <a:endParaRPr sz="1500" b="0">
              <a:latin typeface="Times New Roman"/>
              <a:cs typeface="Times New Roman"/>
            </a:endParaRPr>
          </a:p>
        </p:txBody>
      </p:sp>
      <p:sp>
        <p:nvSpPr>
          <p:cNvPr id="956995639" name="Text 7"/>
          <p:cNvSpPr/>
          <p:nvPr/>
        </p:nvSpPr>
        <p:spPr bwMode="auto">
          <a:xfrm>
            <a:off x="8915400" y="5431036"/>
            <a:ext cx="88900" cy="13716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p>
            <a:pPr marL="0" indent="0" algn="l">
              <a:lnSpc>
                <a:spcPct val="120000"/>
              </a:lnSpc>
              <a:buNone/>
              <a:defRPr/>
            </a:pPr>
            <a:r>
              <a:rPr lang="en-US" sz="850">
                <a:solidFill>
                  <a:srgbClr val="898989"/>
                </a:solidFill>
                <a:latin typeface="Calibri"/>
                <a:ea typeface="Calibri"/>
                <a:cs typeface="Calibri"/>
              </a:rPr>
              <a:t>17</a:t>
            </a:r>
            <a:endParaRPr lang="en-US" sz="850"/>
          </a:p>
        </p:txBody>
      </p:sp>
      <p:sp>
        <p:nvSpPr>
          <p:cNvPr id="463831516" name=""/>
          <p:cNvSpPr txBox="1"/>
          <p:nvPr/>
        </p:nvSpPr>
        <p:spPr bwMode="auto">
          <a:xfrm rot="0" flipH="0" flipV="0">
            <a:off x="900901" y="2063651"/>
            <a:ext cx="3052638" cy="420623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marL="0" indent="0" algn="l">
              <a:lnSpc>
                <a:spcPct val="120000"/>
              </a:lnSpc>
              <a:buNone/>
              <a:defRPr/>
            </a:pPr>
            <a:r>
              <a:rPr lang="en-US" b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T</a:t>
            </a:r>
            <a:r>
              <a:rPr lang="en-US" b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e</a:t>
            </a:r>
            <a:r>
              <a:rPr lang="en-US" b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rminology Ingestion Module</a:t>
            </a:r>
            <a:endParaRPr sz="1600" b="0">
              <a:solidFill>
                <a:schemeClr val="tx1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6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003410048" name="Image 0" descr="preencoded.png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 flipH="0" flipV="0">
            <a:off x="0" y="-31305"/>
            <a:ext cx="9144000" cy="5396407"/>
          </a:xfrm>
          <a:prstGeom prst="rect">
            <a:avLst/>
          </a:prstGeom>
        </p:spPr>
      </p:pic>
      <p:pic>
        <p:nvPicPr>
          <p:cNvPr id="1668396915" name="Image 1" descr="preencoded.png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>
            <a:off x="0" y="0"/>
            <a:ext cx="9144000" cy="1071563"/>
          </a:xfrm>
          <a:prstGeom prst="rect">
            <a:avLst/>
          </a:prstGeom>
        </p:spPr>
      </p:pic>
      <p:sp>
        <p:nvSpPr>
          <p:cNvPr id="1105263569" name="Text 0"/>
          <p:cNvSpPr/>
          <p:nvPr/>
        </p:nvSpPr>
        <p:spPr bwMode="auto">
          <a:xfrm>
            <a:off x="628649" y="1361595"/>
            <a:ext cx="2752933" cy="411839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p>
            <a:pPr marL="0" indent="0" algn="l">
              <a:lnSpc>
                <a:spcPct val="100000"/>
              </a:lnSpc>
              <a:buNone/>
              <a:defRPr/>
            </a:pPr>
            <a:r>
              <a:rPr lang="en-US" sz="27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Module Description</a:t>
            </a:r>
            <a:endParaRPr sz="2700"/>
          </a:p>
        </p:txBody>
      </p:sp>
      <p:sp>
        <p:nvSpPr>
          <p:cNvPr id="848119141" name="Text 1"/>
          <p:cNvSpPr/>
          <p:nvPr/>
        </p:nvSpPr>
        <p:spPr bwMode="auto">
          <a:xfrm>
            <a:off x="628650" y="1773436"/>
            <a:ext cx="0" cy="22352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p>
            <a:pPr marL="0" indent="0" algn="l">
              <a:lnSpc>
                <a:spcPct val="110000"/>
              </a:lnSpc>
              <a:buNone/>
              <a:defRPr/>
            </a:pPr>
            <a:endParaRPr lang="en-US" sz="1450"/>
          </a:p>
        </p:txBody>
      </p:sp>
      <p:sp>
        <p:nvSpPr>
          <p:cNvPr id="2084745390" name="Text 2"/>
          <p:cNvSpPr/>
          <p:nvPr/>
        </p:nvSpPr>
        <p:spPr bwMode="auto">
          <a:xfrm>
            <a:off x="921543" y="2187342"/>
            <a:ext cx="2948714" cy="384407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p>
            <a:pPr marL="0" indent="0" algn="l">
              <a:lnSpc>
                <a:spcPct val="120000"/>
              </a:lnSpc>
              <a:buNone/>
              <a:defRPr/>
            </a:pPr>
            <a:r>
              <a:rPr lang="en-US" sz="2100" b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Semantic Similarity Engine</a:t>
            </a:r>
            <a:endParaRPr sz="2100" b="0">
              <a:solidFill>
                <a:schemeClr val="tx1"/>
              </a:solidFill>
            </a:endParaRPr>
          </a:p>
        </p:txBody>
      </p:sp>
      <p:sp>
        <p:nvSpPr>
          <p:cNvPr id="918415721" name="Text 3"/>
          <p:cNvSpPr/>
          <p:nvPr/>
        </p:nvSpPr>
        <p:spPr bwMode="auto">
          <a:xfrm>
            <a:off x="1150143" y="2810242"/>
            <a:ext cx="7074112" cy="54900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marL="127000" indent="-127000" algn="l">
              <a:lnSpc>
                <a:spcPct val="120000"/>
              </a:lnSpc>
              <a:buSzPct val="100000"/>
              <a:buChar char="•"/>
              <a:defRPr/>
            </a:pPr>
            <a:r>
              <a:rPr lang="en-US" sz="15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Uses Bio Clinical BERT:</a:t>
            </a:r>
            <a:r>
              <a:rPr lang="en-US" sz="15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Leverages specialized transformer models pre-trained on medical corpora.</a:t>
            </a:r>
            <a:endParaRPr sz="1500" b="0">
              <a:latin typeface="Times New Roman"/>
              <a:cs typeface="Times New Roman"/>
            </a:endParaRPr>
          </a:p>
        </p:txBody>
      </p:sp>
      <p:sp>
        <p:nvSpPr>
          <p:cNvPr id="853919856" name="Text 4"/>
          <p:cNvSpPr/>
          <p:nvPr/>
        </p:nvSpPr>
        <p:spPr bwMode="auto">
          <a:xfrm>
            <a:off x="1150143" y="3561918"/>
            <a:ext cx="7074472" cy="274679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marL="127000" indent="-127000" algn="l">
              <a:lnSpc>
                <a:spcPct val="120000"/>
              </a:lnSpc>
              <a:buSzPct val="100000"/>
              <a:buChar char="•"/>
              <a:defRPr/>
            </a:pPr>
            <a:r>
              <a:rPr lang="en-US" sz="15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Text-to-Embeddings:</a:t>
            </a:r>
            <a:r>
              <a:rPr lang="en-US" sz="15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Converts clinical text into high-dimensional vector representations.</a:t>
            </a:r>
            <a:endParaRPr sz="1500" b="0">
              <a:latin typeface="Times New Roman"/>
              <a:cs typeface="Times New Roman"/>
            </a:endParaRPr>
          </a:p>
        </p:txBody>
      </p:sp>
      <p:sp>
        <p:nvSpPr>
          <p:cNvPr id="234887586" name="Text 5"/>
          <p:cNvSpPr/>
          <p:nvPr/>
        </p:nvSpPr>
        <p:spPr bwMode="auto">
          <a:xfrm>
            <a:off x="1149063" y="3934948"/>
            <a:ext cx="7074472" cy="54900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marL="127000" indent="-127000" algn="l">
              <a:lnSpc>
                <a:spcPct val="120000"/>
              </a:lnSpc>
              <a:buSzPct val="100000"/>
              <a:buChar char="•"/>
              <a:defRPr/>
            </a:pPr>
            <a:r>
              <a:rPr lang="en-US" sz="15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Cosine Similarity:</a:t>
            </a:r>
            <a:r>
              <a:rPr lang="en-US" sz="15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Computes mathematical proximity between NAMASTE and ICD-11 embeddings.</a:t>
            </a:r>
            <a:endParaRPr sz="1500" b="0">
              <a:latin typeface="Times New Roman"/>
              <a:cs typeface="Times New Roman"/>
            </a:endParaRPr>
          </a:p>
        </p:txBody>
      </p:sp>
      <p:sp>
        <p:nvSpPr>
          <p:cNvPr id="1935883812" name="Text 6"/>
          <p:cNvSpPr/>
          <p:nvPr/>
        </p:nvSpPr>
        <p:spPr bwMode="auto">
          <a:xfrm>
            <a:off x="1151223" y="4621288"/>
            <a:ext cx="7073392" cy="274679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marL="127000" indent="-127000" algn="l">
              <a:lnSpc>
                <a:spcPct val="120000"/>
              </a:lnSpc>
              <a:buSzPct val="100000"/>
              <a:buChar char="•"/>
              <a:defRPr/>
            </a:pPr>
            <a:r>
              <a:rPr lang="en-US" sz="1400" b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Top-3 Suggestions:</a:t>
            </a:r>
            <a:r>
              <a:rPr lang="en-US" sz="1500" b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 Generates the most relevant ICD-11 candidates for clinical validation.</a:t>
            </a:r>
            <a:endParaRPr sz="1400" b="0">
              <a:solidFill>
                <a:schemeClr val="tx1"/>
              </a:solidFill>
            </a:endParaRPr>
          </a:p>
        </p:txBody>
      </p:sp>
      <p:sp>
        <p:nvSpPr>
          <p:cNvPr id="1003599852" name="Text 7"/>
          <p:cNvSpPr/>
          <p:nvPr/>
        </p:nvSpPr>
        <p:spPr bwMode="auto">
          <a:xfrm>
            <a:off x="8915400" y="5453360"/>
            <a:ext cx="101600" cy="13716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p>
            <a:pPr marL="0" indent="0" algn="l">
              <a:lnSpc>
                <a:spcPct val="120000"/>
              </a:lnSpc>
              <a:buNone/>
              <a:defRPr/>
            </a:pPr>
            <a:r>
              <a:rPr lang="en-US" sz="850">
                <a:solidFill>
                  <a:srgbClr val="898989"/>
                </a:solidFill>
                <a:latin typeface="Calibri"/>
                <a:ea typeface="Calibri"/>
                <a:cs typeface="Calibri"/>
              </a:rPr>
              <a:t>18</a:t>
            </a:r>
            <a:endParaRPr lang="en-US" sz="850"/>
          </a:p>
        </p:txBody>
      </p:sp>
      <p:sp>
        <p:nvSpPr>
          <p:cNvPr id="768134941" name=""/>
          <p:cNvSpPr txBox="1"/>
          <p:nvPr/>
        </p:nvSpPr>
        <p:spPr bwMode="auto">
          <a:xfrm>
            <a:off x="7766205" y="6777811"/>
            <a:ext cx="4747168" cy="332741"/>
          </a:xfrm>
          <a:prstGeom prst="rect">
            <a:avLst/>
          </a:prstGeom>
        </p:spPr>
        <p:txBody>
          <a:bodyPr wrap="square" rtlCol="0">
            <a:spAutoFit/>
          </a:bodyPr>
          <a:p>
            <a:pPr>
              <a:defRPr/>
            </a:pPr>
            <a:r>
              <a:rPr lang="en-US" sz="1600" b="1">
                <a:solidFill>
                  <a:srgbClr val="002060"/>
                </a:solidFill>
              </a:rPr>
              <a:t>.</a:t>
            </a:r>
            <a:endParaRPr lang="en-GB" sz="1600" b="1">
              <a:solidFill>
                <a:srgbClr val="002060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7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127593361" name="Image 0" descr="preencoded.png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 flipH="0" flipV="0">
            <a:off x="0" y="0"/>
            <a:ext cx="9144000" cy="5394260"/>
          </a:xfrm>
          <a:prstGeom prst="rect">
            <a:avLst/>
          </a:prstGeom>
        </p:spPr>
      </p:pic>
      <p:pic>
        <p:nvPicPr>
          <p:cNvPr id="265524836" name="Image 1" descr="preencoded.png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>
            <a:off x="0" y="0"/>
            <a:ext cx="9144000" cy="1071563"/>
          </a:xfrm>
          <a:prstGeom prst="rect">
            <a:avLst/>
          </a:prstGeom>
        </p:spPr>
      </p:pic>
      <p:sp>
        <p:nvSpPr>
          <p:cNvPr id="471319803" name="Text 0"/>
          <p:cNvSpPr/>
          <p:nvPr/>
        </p:nvSpPr>
        <p:spPr bwMode="auto">
          <a:xfrm>
            <a:off x="478630" y="1243012"/>
            <a:ext cx="2752933" cy="411839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p>
            <a:pPr marL="0" indent="0" algn="l">
              <a:lnSpc>
                <a:spcPct val="100000"/>
              </a:lnSpc>
              <a:buNone/>
              <a:defRPr/>
            </a:pPr>
            <a:r>
              <a:rPr lang="en-US" sz="27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Module Description</a:t>
            </a:r>
            <a:endParaRPr lang="en-US" sz="2850"/>
          </a:p>
        </p:txBody>
      </p:sp>
      <p:sp>
        <p:nvSpPr>
          <p:cNvPr id="807003479" name="Text 1"/>
          <p:cNvSpPr/>
          <p:nvPr/>
        </p:nvSpPr>
        <p:spPr bwMode="auto">
          <a:xfrm>
            <a:off x="478631" y="1773436"/>
            <a:ext cx="1" cy="13716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p>
            <a:pPr marL="0" indent="0" algn="l">
              <a:lnSpc>
                <a:spcPct val="120000"/>
              </a:lnSpc>
              <a:buNone/>
              <a:defRPr/>
            </a:pPr>
            <a:endParaRPr lang="en-US" sz="850"/>
          </a:p>
        </p:txBody>
      </p:sp>
      <p:sp>
        <p:nvSpPr>
          <p:cNvPr id="517204399" name="Text 2"/>
          <p:cNvSpPr/>
          <p:nvPr/>
        </p:nvSpPr>
        <p:spPr bwMode="auto">
          <a:xfrm>
            <a:off x="771525" y="2294929"/>
            <a:ext cx="2593212" cy="384407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p>
            <a:pPr marL="0" indent="0" algn="l">
              <a:lnSpc>
                <a:spcPct val="120000"/>
              </a:lnSpc>
              <a:buNone/>
              <a:defRPr/>
            </a:pPr>
            <a:r>
              <a:rPr lang="en-US" sz="2100" b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Rule Validation Module</a:t>
            </a:r>
            <a:endParaRPr sz="2100" b="0">
              <a:solidFill>
                <a:schemeClr val="tx1"/>
              </a:solidFill>
            </a:endParaRPr>
          </a:p>
        </p:txBody>
      </p:sp>
      <p:sp>
        <p:nvSpPr>
          <p:cNvPr id="1124610493" name="Text 3"/>
          <p:cNvSpPr/>
          <p:nvPr/>
        </p:nvSpPr>
        <p:spPr bwMode="auto">
          <a:xfrm>
            <a:off x="1057275" y="2973585"/>
            <a:ext cx="4756477" cy="274679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p>
            <a:pPr marL="127000" indent="-127000" algn="l">
              <a:lnSpc>
                <a:spcPct val="120000"/>
              </a:lnSpc>
              <a:buSzPct val="100000"/>
              <a:buChar char="•"/>
              <a:defRPr/>
            </a:pPr>
            <a:r>
              <a:rPr lang="en-US" sz="1500" b="0">
                <a:solidFill>
                  <a:srgbClr val="1F2937"/>
                </a:solidFill>
                <a:latin typeface="Times New Roman"/>
                <a:ea typeface="Times New Roman"/>
                <a:cs typeface="Times New Roman"/>
              </a:rPr>
              <a:t>Validates hierarchy consistency</a:t>
            </a:r>
            <a:r>
              <a:rPr lang="en-US" sz="1500" b="0">
                <a:solidFill>
                  <a:srgbClr val="1F2937"/>
                </a:solidFill>
                <a:latin typeface="Times New Roman"/>
                <a:ea typeface="Times New Roman"/>
                <a:cs typeface="Times New Roman"/>
              </a:rPr>
              <a:t> within the ICD-11 structure.</a:t>
            </a:r>
            <a:endParaRPr sz="1500" b="0">
              <a:latin typeface="Times New Roman"/>
              <a:cs typeface="Times New Roman"/>
            </a:endParaRPr>
          </a:p>
        </p:txBody>
      </p:sp>
      <p:sp>
        <p:nvSpPr>
          <p:cNvPr id="1635842991" name="Text 4"/>
          <p:cNvSpPr/>
          <p:nvPr/>
        </p:nvSpPr>
        <p:spPr bwMode="auto">
          <a:xfrm>
            <a:off x="1057275" y="3487935"/>
            <a:ext cx="5756672" cy="274679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p>
            <a:pPr marL="127000" indent="-127000" algn="l">
              <a:lnSpc>
                <a:spcPct val="120000"/>
              </a:lnSpc>
              <a:buSzPct val="100000"/>
              <a:buChar char="•"/>
              <a:defRPr/>
            </a:pPr>
            <a:r>
              <a:rPr lang="en-US" sz="1500" b="0">
                <a:solidFill>
                  <a:srgbClr val="1F2937"/>
                </a:solidFill>
                <a:latin typeface="Times New Roman"/>
                <a:ea typeface="Times New Roman"/>
                <a:cs typeface="Times New Roman"/>
              </a:rPr>
              <a:t>Checks equivalence constraints</a:t>
            </a:r>
            <a:r>
              <a:rPr lang="en-US" sz="1500" b="0">
                <a:solidFill>
                  <a:srgbClr val="1F2937"/>
                </a:solidFill>
                <a:latin typeface="Times New Roman"/>
                <a:ea typeface="Times New Roman"/>
                <a:cs typeface="Times New Roman"/>
              </a:rPr>
              <a:t> to prevent logically impossible mappings.</a:t>
            </a:r>
            <a:endParaRPr sz="1500" b="0">
              <a:latin typeface="Times New Roman"/>
              <a:cs typeface="Times New Roman"/>
            </a:endParaRPr>
          </a:p>
        </p:txBody>
      </p:sp>
      <p:sp>
        <p:nvSpPr>
          <p:cNvPr id="997384213" name="Text 5"/>
          <p:cNvSpPr/>
          <p:nvPr/>
        </p:nvSpPr>
        <p:spPr bwMode="auto">
          <a:xfrm>
            <a:off x="1057275" y="4002285"/>
            <a:ext cx="4856653" cy="274679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p>
            <a:pPr marL="127000" indent="-127000" algn="l">
              <a:lnSpc>
                <a:spcPct val="120000"/>
              </a:lnSpc>
              <a:buSzPct val="100000"/>
              <a:buChar char="•"/>
              <a:defRPr/>
            </a:pPr>
            <a:r>
              <a:rPr lang="en-US" sz="1500" b="0">
                <a:solidFill>
                  <a:srgbClr val="1F2937"/>
                </a:solidFill>
                <a:latin typeface="Times New Roman"/>
                <a:ea typeface="Times New Roman"/>
                <a:cs typeface="Times New Roman"/>
              </a:rPr>
              <a:t>Performs keyword matching</a:t>
            </a:r>
            <a:r>
              <a:rPr lang="en-US" sz="1500" b="0">
                <a:solidFill>
                  <a:srgbClr val="1F2937"/>
                </a:solidFill>
                <a:latin typeface="Times New Roman"/>
                <a:ea typeface="Times New Roman"/>
                <a:cs typeface="Times New Roman"/>
              </a:rPr>
              <a:t> as a secondary verification layer.</a:t>
            </a:r>
            <a:endParaRPr sz="1500" b="0">
              <a:latin typeface="Times New Roman"/>
              <a:cs typeface="Times New Roman"/>
            </a:endParaRPr>
          </a:p>
        </p:txBody>
      </p:sp>
      <p:sp>
        <p:nvSpPr>
          <p:cNvPr id="941560142" name="Text 6"/>
          <p:cNvSpPr/>
          <p:nvPr/>
        </p:nvSpPr>
        <p:spPr bwMode="auto">
          <a:xfrm>
            <a:off x="1057275" y="4516635"/>
            <a:ext cx="7166620" cy="54900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marL="127000" indent="-127000" algn="l">
              <a:lnSpc>
                <a:spcPct val="120000"/>
              </a:lnSpc>
              <a:buSzPct val="100000"/>
              <a:buChar char="•"/>
              <a:defRPr/>
            </a:pPr>
            <a:r>
              <a:rPr lang="en-US" sz="1500" b="0">
                <a:solidFill>
                  <a:srgbClr val="1F2937"/>
                </a:solidFill>
                <a:latin typeface="Times New Roman"/>
                <a:ea typeface="Times New Roman"/>
                <a:cs typeface="Times New Roman"/>
              </a:rPr>
              <a:t>Improves mapping accuracy</a:t>
            </a:r>
            <a:r>
              <a:rPr lang="en-US" sz="1500" b="0">
                <a:solidFill>
                  <a:srgbClr val="1F2937"/>
                </a:solidFill>
                <a:latin typeface="Times New Roman"/>
                <a:ea typeface="Times New Roman"/>
                <a:cs typeface="Times New Roman"/>
              </a:rPr>
              <a:t> by filtering out semantically similar but clinically incorrect results.</a:t>
            </a:r>
            <a:endParaRPr sz="1500" b="0">
              <a:latin typeface="Times New Roman"/>
              <a:cs typeface="Times New Roman"/>
            </a:endParaRPr>
          </a:p>
        </p:txBody>
      </p:sp>
      <p:sp>
        <p:nvSpPr>
          <p:cNvPr id="1047901794" name="Text 7"/>
          <p:cNvSpPr/>
          <p:nvPr/>
        </p:nvSpPr>
        <p:spPr bwMode="auto">
          <a:xfrm>
            <a:off x="8915400" y="5545336"/>
            <a:ext cx="101600" cy="13716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p>
            <a:pPr marL="0" indent="0" algn="l">
              <a:lnSpc>
                <a:spcPct val="120000"/>
              </a:lnSpc>
              <a:buNone/>
              <a:defRPr/>
            </a:pPr>
            <a:r>
              <a:rPr lang="en-US" sz="850">
                <a:solidFill>
                  <a:srgbClr val="898989"/>
                </a:solidFill>
                <a:latin typeface="Calibri"/>
                <a:ea typeface="Calibri"/>
                <a:cs typeface="Calibri"/>
              </a:rPr>
              <a:t>19</a:t>
            </a:r>
            <a:endParaRPr lang="en-US" sz="85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8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968778234" name="Image 0" descr="preencoded.png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0" y="0"/>
            <a:ext cx="9144000" cy="5556219"/>
          </a:xfrm>
          <a:prstGeom prst="rect">
            <a:avLst/>
          </a:prstGeom>
        </p:spPr>
      </p:pic>
      <p:pic>
        <p:nvPicPr>
          <p:cNvPr id="594167097" name="Image 1" descr="preencoded.png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>
            <a:off x="0" y="0"/>
            <a:ext cx="9144000" cy="1071563"/>
          </a:xfrm>
          <a:prstGeom prst="rect">
            <a:avLst/>
          </a:prstGeom>
        </p:spPr>
      </p:pic>
      <p:sp>
        <p:nvSpPr>
          <p:cNvPr id="1317592352" name="Text 0"/>
          <p:cNvSpPr/>
          <p:nvPr/>
        </p:nvSpPr>
        <p:spPr bwMode="auto">
          <a:xfrm>
            <a:off x="628649" y="1157287"/>
            <a:ext cx="2752933" cy="346002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p>
            <a:pPr marL="0" indent="0" algn="l">
              <a:lnSpc>
                <a:spcPct val="84000"/>
              </a:lnSpc>
              <a:buNone/>
              <a:defRPr/>
            </a:pPr>
            <a:r>
              <a:rPr lang="en-US" sz="27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Module Description</a:t>
            </a:r>
            <a:endParaRPr sz="2700"/>
          </a:p>
        </p:txBody>
      </p:sp>
      <p:sp>
        <p:nvSpPr>
          <p:cNvPr id="476769725" name="Text 1"/>
          <p:cNvSpPr/>
          <p:nvPr/>
        </p:nvSpPr>
        <p:spPr bwMode="auto">
          <a:xfrm>
            <a:off x="628650" y="1611976"/>
            <a:ext cx="0" cy="22352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p>
            <a:pPr marL="0" indent="0" algn="l">
              <a:lnSpc>
                <a:spcPct val="110000"/>
              </a:lnSpc>
              <a:buNone/>
              <a:defRPr/>
            </a:pPr>
            <a:endParaRPr lang="en-US" sz="1450"/>
          </a:p>
        </p:txBody>
      </p:sp>
      <p:sp>
        <p:nvSpPr>
          <p:cNvPr id="1437104800" name="Text 2"/>
          <p:cNvSpPr/>
          <p:nvPr/>
        </p:nvSpPr>
        <p:spPr bwMode="auto">
          <a:xfrm>
            <a:off x="864393" y="2170080"/>
            <a:ext cx="2869922" cy="329543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p>
            <a:pPr marL="0" indent="0" algn="l">
              <a:lnSpc>
                <a:spcPct val="120000"/>
              </a:lnSpc>
              <a:buNone/>
              <a:defRPr/>
            </a:pPr>
            <a:r>
              <a:rPr lang="en-US" sz="1800" b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Governance Workflow Module</a:t>
            </a:r>
            <a:endParaRPr sz="1800" b="0"/>
          </a:p>
        </p:txBody>
      </p:sp>
      <p:sp>
        <p:nvSpPr>
          <p:cNvPr id="759285397" name="Text 3"/>
          <p:cNvSpPr/>
          <p:nvPr/>
        </p:nvSpPr>
        <p:spPr bwMode="auto">
          <a:xfrm>
            <a:off x="864393" y="2605374"/>
            <a:ext cx="88901" cy="24384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p>
            <a:pPr marL="0" indent="0" algn="l">
              <a:lnSpc>
                <a:spcPct val="120000"/>
              </a:lnSpc>
              <a:buNone/>
              <a:defRPr/>
            </a:pPr>
            <a:r>
              <a:rPr lang="en-US" sz="1400">
                <a:solidFill>
                  <a:srgbClr val="1E40AF"/>
                </a:solidFill>
                <a:latin typeface="Calibri"/>
                <a:ea typeface="Calibri"/>
                <a:cs typeface="Calibri"/>
              </a:rPr>
              <a:t>•</a:t>
            </a:r>
            <a:endParaRPr lang="en-US" sz="1400"/>
          </a:p>
        </p:txBody>
      </p:sp>
      <p:sp>
        <p:nvSpPr>
          <p:cNvPr id="791560788" name="Text 4"/>
          <p:cNvSpPr/>
          <p:nvPr/>
        </p:nvSpPr>
        <p:spPr bwMode="auto">
          <a:xfrm>
            <a:off x="1071562" y="2571750"/>
            <a:ext cx="7209483" cy="54900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marL="0" indent="0" algn="l">
              <a:lnSpc>
                <a:spcPct val="120000"/>
              </a:lnSpc>
              <a:buNone/>
              <a:defRPr/>
            </a:pPr>
            <a:r>
              <a:rPr lang="en-US" sz="15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Confidence-based routing:</a:t>
            </a:r>
            <a:r>
              <a:rPr lang="en-US" sz="15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Intelligently directs mapping results based on AI-calculated </a:t>
            </a:r>
            <a:r>
              <a:rPr lang="en-US" sz="15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similarity scores.</a:t>
            </a:r>
            <a:endParaRPr lang="en-US" sz="1300"/>
          </a:p>
        </p:txBody>
      </p:sp>
      <p:sp>
        <p:nvSpPr>
          <p:cNvPr id="1972438094" name="Text 5"/>
          <p:cNvSpPr/>
          <p:nvPr/>
        </p:nvSpPr>
        <p:spPr bwMode="auto">
          <a:xfrm>
            <a:off x="864393" y="3212114"/>
            <a:ext cx="88901" cy="24384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p>
            <a:pPr marL="0" indent="0" algn="l">
              <a:lnSpc>
                <a:spcPct val="120000"/>
              </a:lnSpc>
              <a:buNone/>
              <a:defRPr/>
            </a:pPr>
            <a:r>
              <a:rPr lang="en-US" sz="1400">
                <a:solidFill>
                  <a:srgbClr val="1E40AF"/>
                </a:solidFill>
                <a:latin typeface="Calibri"/>
                <a:ea typeface="Calibri"/>
                <a:cs typeface="Calibri"/>
              </a:rPr>
              <a:t>•</a:t>
            </a:r>
            <a:endParaRPr lang="en-US" sz="1400"/>
          </a:p>
        </p:txBody>
      </p:sp>
      <p:sp>
        <p:nvSpPr>
          <p:cNvPr id="1558247861" name="Text 6"/>
          <p:cNvSpPr/>
          <p:nvPr/>
        </p:nvSpPr>
        <p:spPr bwMode="auto">
          <a:xfrm>
            <a:off x="1070122" y="3181455"/>
            <a:ext cx="7209483" cy="54900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marL="0" indent="0" algn="l">
              <a:lnSpc>
                <a:spcPct val="120000"/>
              </a:lnSpc>
              <a:buNone/>
              <a:defRPr/>
            </a:pPr>
            <a:r>
              <a:rPr lang="en-US" sz="15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Auto-approval system:</a:t>
            </a:r>
            <a:r>
              <a:rPr lang="en-US" sz="15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Automatically validates mappings with high confidence scores to </a:t>
            </a:r>
            <a:r>
              <a:rPr lang="en-US" sz="15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maximize efficiency.</a:t>
            </a:r>
            <a:endParaRPr lang="en-US" sz="1300"/>
          </a:p>
        </p:txBody>
      </p:sp>
      <p:sp>
        <p:nvSpPr>
          <p:cNvPr id="1433439392" name="Text 7"/>
          <p:cNvSpPr/>
          <p:nvPr/>
        </p:nvSpPr>
        <p:spPr bwMode="auto">
          <a:xfrm>
            <a:off x="864393" y="3910118"/>
            <a:ext cx="88901" cy="24384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p>
            <a:pPr marL="0" indent="0" algn="l">
              <a:lnSpc>
                <a:spcPct val="120000"/>
              </a:lnSpc>
              <a:buNone/>
              <a:defRPr/>
            </a:pPr>
            <a:r>
              <a:rPr lang="en-US" sz="1400">
                <a:solidFill>
                  <a:srgbClr val="1E40AF"/>
                </a:solidFill>
                <a:latin typeface="Calibri"/>
                <a:ea typeface="Calibri"/>
                <a:cs typeface="Calibri"/>
              </a:rPr>
              <a:t>•</a:t>
            </a:r>
            <a:endParaRPr lang="en-US" sz="1400"/>
          </a:p>
        </p:txBody>
      </p:sp>
      <p:sp>
        <p:nvSpPr>
          <p:cNvPr id="254723366" name="Text 8"/>
          <p:cNvSpPr/>
          <p:nvPr/>
        </p:nvSpPr>
        <p:spPr bwMode="auto">
          <a:xfrm>
            <a:off x="1070122" y="3910118"/>
            <a:ext cx="7209483" cy="54900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marL="0" indent="0" algn="l">
              <a:lnSpc>
                <a:spcPct val="120000"/>
              </a:lnSpc>
              <a:buNone/>
              <a:defRPr/>
            </a:pPr>
            <a:r>
              <a:rPr lang="en-US" sz="15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Expert review workflow:</a:t>
            </a:r>
            <a:r>
              <a:rPr lang="en-US" sz="15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Routes medium-confidence mappings to clinical experts for manual </a:t>
            </a:r>
            <a:r>
              <a:rPr lang="en-US" sz="15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verification.</a:t>
            </a:r>
            <a:endParaRPr lang="en-US" sz="1300"/>
          </a:p>
        </p:txBody>
      </p:sp>
      <p:sp>
        <p:nvSpPr>
          <p:cNvPr id="54809447" name="Text 9"/>
          <p:cNvSpPr/>
          <p:nvPr/>
        </p:nvSpPr>
        <p:spPr bwMode="auto">
          <a:xfrm>
            <a:off x="864393" y="4578179"/>
            <a:ext cx="88901" cy="24384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p>
            <a:pPr marL="0" indent="0" algn="l">
              <a:lnSpc>
                <a:spcPct val="120000"/>
              </a:lnSpc>
              <a:buNone/>
              <a:defRPr/>
            </a:pPr>
            <a:r>
              <a:rPr lang="en-US" sz="1400">
                <a:solidFill>
                  <a:srgbClr val="1E40AF"/>
                </a:solidFill>
                <a:latin typeface="Calibri"/>
                <a:ea typeface="Calibri"/>
                <a:cs typeface="Calibri"/>
              </a:rPr>
              <a:t>•</a:t>
            </a:r>
            <a:endParaRPr lang="en-US" sz="1400"/>
          </a:p>
        </p:txBody>
      </p:sp>
      <p:sp>
        <p:nvSpPr>
          <p:cNvPr id="1454165776" name="Text 10"/>
          <p:cNvSpPr/>
          <p:nvPr/>
        </p:nvSpPr>
        <p:spPr bwMode="auto">
          <a:xfrm>
            <a:off x="1071562" y="4547520"/>
            <a:ext cx="7209483" cy="54900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marL="0" indent="0" algn="l">
              <a:lnSpc>
                <a:spcPct val="120000"/>
              </a:lnSpc>
              <a:buNone/>
              <a:defRPr/>
            </a:pPr>
            <a:r>
              <a:rPr lang="en-US" sz="15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Low-confidence flagging:</a:t>
            </a:r>
            <a:r>
              <a:rPr lang="en-US" sz="15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Identifies and flags ambiguous concepts for detailed investigation </a:t>
            </a:r>
            <a:r>
              <a:rPr lang="en-US" sz="15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and terminology refinement.</a:t>
            </a:r>
            <a:endParaRPr lang="en-US" sz="1300"/>
          </a:p>
        </p:txBody>
      </p:sp>
      <p:sp>
        <p:nvSpPr>
          <p:cNvPr id="1374246173" name="Text 11"/>
          <p:cNvSpPr/>
          <p:nvPr/>
        </p:nvSpPr>
        <p:spPr bwMode="auto">
          <a:xfrm>
            <a:off x="8915400" y="5291900"/>
            <a:ext cx="114300" cy="13716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p>
            <a:pPr marL="0" indent="0" algn="l">
              <a:lnSpc>
                <a:spcPct val="120000"/>
              </a:lnSpc>
              <a:buNone/>
              <a:defRPr/>
            </a:pPr>
            <a:r>
              <a:rPr lang="en-US" sz="850">
                <a:solidFill>
                  <a:srgbClr val="898989"/>
                </a:solidFill>
                <a:latin typeface="Calibri"/>
                <a:ea typeface="Calibri"/>
                <a:cs typeface="Calibri"/>
              </a:rPr>
              <a:t>20</a:t>
            </a:r>
            <a:endParaRPr lang="en-US" sz="85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9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608785546" name="Image 0" descr="preencoded.png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 flipH="0" flipV="0">
            <a:off x="719" y="0"/>
            <a:ext cx="9144000" cy="5073520"/>
          </a:xfrm>
          <a:prstGeom prst="rect">
            <a:avLst/>
          </a:prstGeom>
        </p:spPr>
      </p:pic>
      <p:pic>
        <p:nvPicPr>
          <p:cNvPr id="892563293" name="Image 1" descr="preencoded.png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>
            <a:off x="0" y="0"/>
            <a:ext cx="9144000" cy="1071563"/>
          </a:xfrm>
          <a:prstGeom prst="rect">
            <a:avLst/>
          </a:prstGeom>
        </p:spPr>
      </p:pic>
      <p:sp>
        <p:nvSpPr>
          <p:cNvPr id="1320121102" name="Text 0"/>
          <p:cNvSpPr/>
          <p:nvPr/>
        </p:nvSpPr>
        <p:spPr bwMode="auto">
          <a:xfrm>
            <a:off x="628649" y="1071562"/>
            <a:ext cx="2752933" cy="411839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p>
            <a:pPr marL="0" indent="0" algn="l">
              <a:lnSpc>
                <a:spcPct val="100000"/>
              </a:lnSpc>
              <a:buNone/>
              <a:defRPr/>
            </a:pPr>
            <a:r>
              <a:rPr lang="en-US" sz="27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Module Description</a:t>
            </a:r>
            <a:endParaRPr sz="2700"/>
          </a:p>
        </p:txBody>
      </p:sp>
      <p:sp>
        <p:nvSpPr>
          <p:cNvPr id="2054859471" name="Text 1"/>
          <p:cNvSpPr/>
          <p:nvPr/>
        </p:nvSpPr>
        <p:spPr bwMode="auto">
          <a:xfrm>
            <a:off x="921543" y="2066330"/>
            <a:ext cx="1" cy="211329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p>
            <a:pPr marL="0" indent="0" algn="l">
              <a:lnSpc>
                <a:spcPct val="104000"/>
              </a:lnSpc>
              <a:buNone/>
              <a:defRPr/>
            </a:pPr>
            <a:endParaRPr lang="en-US" sz="1450"/>
          </a:p>
        </p:txBody>
      </p:sp>
      <p:sp>
        <p:nvSpPr>
          <p:cNvPr id="867383256" name="Text 2"/>
          <p:cNvSpPr/>
          <p:nvPr/>
        </p:nvSpPr>
        <p:spPr bwMode="auto">
          <a:xfrm>
            <a:off x="853509" y="1842450"/>
            <a:ext cx="2375328" cy="329543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p>
            <a:pPr marL="0" indent="0" algn="l">
              <a:lnSpc>
                <a:spcPct val="120000"/>
              </a:lnSpc>
              <a:buNone/>
              <a:defRPr/>
            </a:pPr>
            <a:r>
              <a:rPr lang="en-US" sz="1800" b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FHIR Persistence Module</a:t>
            </a:r>
            <a:endParaRPr sz="1800" b="0">
              <a:solidFill>
                <a:schemeClr val="tx1"/>
              </a:solidFill>
            </a:endParaRPr>
          </a:p>
        </p:txBody>
      </p:sp>
      <p:sp>
        <p:nvSpPr>
          <p:cNvPr id="1095034009" name="Text 3"/>
          <p:cNvSpPr/>
          <p:nvPr/>
        </p:nvSpPr>
        <p:spPr bwMode="auto">
          <a:xfrm>
            <a:off x="1148703" y="2262260"/>
            <a:ext cx="7073752" cy="54900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marL="127000" indent="-127000" algn="l">
              <a:lnSpc>
                <a:spcPct val="120000"/>
              </a:lnSpc>
              <a:buSzPct val="100000"/>
              <a:buChar char="•"/>
              <a:defRPr/>
            </a:pPr>
            <a:r>
              <a:rPr lang="en-US" sz="15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Stores approved mappings:</a:t>
            </a:r>
            <a:r>
              <a:rPr lang="en-US" sz="15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Securely persists validated clinical concept mappings in a centralized repository.</a:t>
            </a:r>
            <a:endParaRPr lang="en-US" sz="1400"/>
          </a:p>
        </p:txBody>
      </p:sp>
      <p:sp>
        <p:nvSpPr>
          <p:cNvPr id="1170405813" name="Text 4"/>
          <p:cNvSpPr/>
          <p:nvPr/>
        </p:nvSpPr>
        <p:spPr bwMode="auto">
          <a:xfrm>
            <a:off x="1148703" y="2889189"/>
            <a:ext cx="7073752" cy="54900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marL="127000" indent="-127000" algn="l">
              <a:lnSpc>
                <a:spcPct val="120000"/>
              </a:lnSpc>
              <a:buSzPct val="100000"/>
              <a:buChar char="•"/>
              <a:defRPr/>
            </a:pPr>
            <a:r>
              <a:rPr lang="en-US" sz="15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Uses FHIR ConceptMap resources:</a:t>
            </a:r>
            <a:r>
              <a:rPr lang="en-US" sz="15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Adheres to HL7 FHIR standards for representing terminology mappings.</a:t>
            </a:r>
            <a:endParaRPr lang="en-US" sz="1400"/>
          </a:p>
        </p:txBody>
      </p:sp>
      <p:sp>
        <p:nvSpPr>
          <p:cNvPr id="991063134" name="Text 5"/>
          <p:cNvSpPr/>
          <p:nvPr/>
        </p:nvSpPr>
        <p:spPr bwMode="auto">
          <a:xfrm>
            <a:off x="1148703" y="3515944"/>
            <a:ext cx="7073752" cy="54900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marL="127000" indent="-127000" algn="l">
              <a:lnSpc>
                <a:spcPct val="120000"/>
              </a:lnSpc>
              <a:buSzPct val="100000"/>
              <a:buChar char="•"/>
              <a:defRPr/>
            </a:pPr>
            <a:r>
              <a:rPr lang="en-US" sz="15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Maintains version control:</a:t>
            </a:r>
            <a:r>
              <a:rPr lang="en-US" sz="15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Tracks historical changes and updates to mapping definitions over time.</a:t>
            </a:r>
            <a:endParaRPr lang="en-US" sz="1400"/>
          </a:p>
        </p:txBody>
      </p:sp>
      <p:sp>
        <p:nvSpPr>
          <p:cNvPr id="899595864" name="Text 6"/>
          <p:cNvSpPr/>
          <p:nvPr/>
        </p:nvSpPr>
        <p:spPr bwMode="auto">
          <a:xfrm>
            <a:off x="1148703" y="4123261"/>
            <a:ext cx="7073752" cy="54900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marL="127000" indent="-127000" algn="l">
              <a:lnSpc>
                <a:spcPct val="120000"/>
              </a:lnSpc>
              <a:buSzPct val="100000"/>
              <a:buChar char="•"/>
              <a:defRPr/>
            </a:pPr>
            <a:r>
              <a:rPr lang="en-US" sz="15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Supports audit logging:</a:t>
            </a:r>
            <a:r>
              <a:rPr lang="en-US" sz="15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Records all persistence operations to ensure full traceability and compliance.</a:t>
            </a:r>
            <a:endParaRPr lang="en-US" sz="14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10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105377015" name="Image 0" descr="preencoded.png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0" y="0"/>
            <a:ext cx="9144000" cy="6164693"/>
          </a:xfrm>
          <a:prstGeom prst="rect">
            <a:avLst/>
          </a:prstGeom>
        </p:spPr>
      </p:pic>
      <p:pic>
        <p:nvPicPr>
          <p:cNvPr id="509218852" name="Image 1" descr="preencoded.png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>
            <a:off x="0" y="0"/>
            <a:ext cx="9144000" cy="1071563"/>
          </a:xfrm>
          <a:prstGeom prst="rect">
            <a:avLst/>
          </a:prstGeom>
        </p:spPr>
      </p:pic>
      <p:sp>
        <p:nvSpPr>
          <p:cNvPr id="1406450861" name="Text 0"/>
          <p:cNvSpPr/>
          <p:nvPr/>
        </p:nvSpPr>
        <p:spPr bwMode="auto">
          <a:xfrm>
            <a:off x="628649" y="1185862"/>
            <a:ext cx="4448328" cy="346002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p>
            <a:pPr marL="0" indent="0" algn="l">
              <a:lnSpc>
                <a:spcPct val="84000"/>
              </a:lnSpc>
              <a:buNone/>
              <a:defRPr/>
            </a:pPr>
            <a:r>
              <a:rPr lang="en-US" sz="27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Output – Terminology Ingestion</a:t>
            </a:r>
            <a:endParaRPr sz="2700"/>
          </a:p>
        </p:txBody>
      </p:sp>
      <p:sp>
        <p:nvSpPr>
          <p:cNvPr id="1087431273" name="Shape 1"/>
          <p:cNvSpPr/>
          <p:nvPr/>
        </p:nvSpPr>
        <p:spPr bwMode="auto">
          <a:xfrm>
            <a:off x="628650" y="1742712"/>
            <a:ext cx="5107977" cy="3264694"/>
          </a:xfrm>
          <a:prstGeom prst="rect">
            <a:avLst/>
          </a:prstGeom>
          <a:solidFill>
            <a:srgbClr val="F3F4F6"/>
          </a:solidFill>
          <a:ln w="18288">
            <a:solidFill>
              <a:srgbClr val="D1D5DB"/>
            </a:solidFill>
            <a:prstDash val="solid"/>
          </a:ln>
        </p:spPr>
      </p:sp>
      <p:sp>
        <p:nvSpPr>
          <p:cNvPr id="477214100" name="Shape 2"/>
          <p:cNvSpPr/>
          <p:nvPr/>
        </p:nvSpPr>
        <p:spPr bwMode="auto">
          <a:xfrm>
            <a:off x="742950" y="1857012"/>
            <a:ext cx="4879070" cy="257175"/>
          </a:xfrm>
          <a:prstGeom prst="rect">
            <a:avLst/>
          </a:prstGeom>
          <a:solidFill>
            <a:srgbClr val="1E3A8A"/>
          </a:solidFill>
        </p:spPr>
      </p:sp>
      <p:sp>
        <p:nvSpPr>
          <p:cNvPr id="2013814896" name="Text 3"/>
          <p:cNvSpPr/>
          <p:nvPr/>
        </p:nvSpPr>
        <p:spPr bwMode="auto">
          <a:xfrm>
            <a:off x="742950" y="1857012"/>
            <a:ext cx="4879070" cy="257175"/>
          </a:xfrm>
          <a:prstGeom prst="rect">
            <a:avLst/>
          </a:prstGeom>
          <a:noFill/>
        </p:spPr>
        <p:txBody>
          <a:bodyPr wrap="square" lIns="68072" tIns="68072" rIns="68072" bIns="68072" rtlCol="0" anchor="t">
            <a:spAutoFit/>
          </a:bodyPr>
          <a:p>
            <a:pPr marL="0" indent="0" algn="l">
              <a:lnSpc>
                <a:spcPct val="114286"/>
              </a:lnSpc>
              <a:buNone/>
              <a:defRPr/>
            </a:pPr>
            <a:r>
              <a:rPr lang="en-US" sz="7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Ingestion Dashboard - NAMASTE v1.2</a:t>
            </a:r>
            <a:endParaRPr lang="en-US" sz="700"/>
          </a:p>
        </p:txBody>
      </p:sp>
      <p:sp>
        <p:nvSpPr>
          <p:cNvPr id="801914385" name="Shape 4"/>
          <p:cNvSpPr/>
          <p:nvPr/>
        </p:nvSpPr>
        <p:spPr bwMode="auto">
          <a:xfrm>
            <a:off x="746522" y="2174909"/>
            <a:ext cx="4871926" cy="264319"/>
          </a:xfrm>
          <a:prstGeom prst="rect">
            <a:avLst/>
          </a:prstGeom>
          <a:solidFill>
            <a:srgbClr val="E5E7EB"/>
          </a:solidFill>
        </p:spPr>
      </p:sp>
      <p:sp>
        <p:nvSpPr>
          <p:cNvPr id="1094159444" name="Text 5"/>
          <p:cNvSpPr/>
          <p:nvPr/>
        </p:nvSpPr>
        <p:spPr bwMode="auto">
          <a:xfrm>
            <a:off x="746522" y="2174909"/>
            <a:ext cx="816200" cy="264319"/>
          </a:xfrm>
          <a:prstGeom prst="rect">
            <a:avLst/>
          </a:prstGeom>
          <a:noFill/>
        </p:spPr>
        <p:txBody>
          <a:bodyPr wrap="square" lIns="68072" tIns="68072" rIns="68072" bIns="68072" rtlCol="0" anchor="ctr">
            <a:spAutoFit/>
          </a:bodyPr>
          <a:p>
            <a:pPr marL="0" indent="0" algn="l">
              <a:lnSpc>
                <a:spcPct val="114286"/>
              </a:lnSpc>
              <a:buNone/>
              <a:defRPr/>
            </a:pPr>
            <a:r>
              <a:rPr lang="en-US" sz="700" b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Concept ID</a:t>
            </a:r>
            <a:endParaRPr lang="en-US" sz="700"/>
          </a:p>
        </p:txBody>
      </p:sp>
      <p:sp>
        <p:nvSpPr>
          <p:cNvPr id="16046790" name="Text 6"/>
          <p:cNvSpPr/>
          <p:nvPr/>
        </p:nvSpPr>
        <p:spPr bwMode="auto">
          <a:xfrm>
            <a:off x="1562723" y="2174909"/>
            <a:ext cx="1785017" cy="264319"/>
          </a:xfrm>
          <a:prstGeom prst="rect">
            <a:avLst/>
          </a:prstGeom>
          <a:noFill/>
        </p:spPr>
        <p:txBody>
          <a:bodyPr wrap="square" lIns="68072" tIns="68072" rIns="68072" bIns="68072" rtlCol="0" anchor="ctr">
            <a:spAutoFit/>
          </a:bodyPr>
          <a:p>
            <a:pPr marL="0" indent="0" algn="l">
              <a:lnSpc>
                <a:spcPct val="114286"/>
              </a:lnSpc>
              <a:buNone/>
              <a:defRPr/>
            </a:pPr>
            <a:r>
              <a:rPr lang="en-US" sz="700" b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Clinical Term</a:t>
            </a:r>
            <a:endParaRPr lang="en-US" sz="700"/>
          </a:p>
        </p:txBody>
      </p:sp>
      <p:sp>
        <p:nvSpPr>
          <p:cNvPr id="464146646" name="Text 7"/>
          <p:cNvSpPr/>
          <p:nvPr/>
        </p:nvSpPr>
        <p:spPr bwMode="auto">
          <a:xfrm>
            <a:off x="3347740" y="2174909"/>
            <a:ext cx="798426" cy="264319"/>
          </a:xfrm>
          <a:prstGeom prst="rect">
            <a:avLst/>
          </a:prstGeom>
          <a:noFill/>
        </p:spPr>
        <p:txBody>
          <a:bodyPr wrap="square" lIns="68072" tIns="68072" rIns="68072" bIns="68072" rtlCol="0" anchor="ctr">
            <a:spAutoFit/>
          </a:bodyPr>
          <a:p>
            <a:pPr marL="0" indent="0" algn="l">
              <a:lnSpc>
                <a:spcPct val="114286"/>
              </a:lnSpc>
              <a:buNone/>
              <a:defRPr/>
            </a:pPr>
            <a:r>
              <a:rPr lang="en-US" sz="700" b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Status</a:t>
            </a:r>
            <a:endParaRPr lang="en-US" sz="700"/>
          </a:p>
        </p:txBody>
      </p:sp>
      <p:sp>
        <p:nvSpPr>
          <p:cNvPr id="570579625" name="Text 8"/>
          <p:cNvSpPr/>
          <p:nvPr/>
        </p:nvSpPr>
        <p:spPr bwMode="auto">
          <a:xfrm>
            <a:off x="4146166" y="2174909"/>
            <a:ext cx="1472282" cy="264319"/>
          </a:xfrm>
          <a:prstGeom prst="rect">
            <a:avLst/>
          </a:prstGeom>
          <a:noFill/>
        </p:spPr>
        <p:txBody>
          <a:bodyPr wrap="square" lIns="68072" tIns="68072" rIns="68072" bIns="68072" rtlCol="0" anchor="ctr">
            <a:spAutoFit/>
          </a:bodyPr>
          <a:p>
            <a:pPr marL="0" indent="0" algn="l">
              <a:lnSpc>
                <a:spcPct val="114286"/>
              </a:lnSpc>
              <a:buNone/>
              <a:defRPr/>
            </a:pPr>
            <a:r>
              <a:rPr lang="en-US" sz="700" b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FHIR Resource</a:t>
            </a:r>
            <a:endParaRPr lang="en-US" sz="700"/>
          </a:p>
        </p:txBody>
      </p:sp>
      <p:sp>
        <p:nvSpPr>
          <p:cNvPr id="794522261" name="Text 9"/>
          <p:cNvSpPr/>
          <p:nvPr/>
        </p:nvSpPr>
        <p:spPr bwMode="auto">
          <a:xfrm>
            <a:off x="746522" y="2439228"/>
            <a:ext cx="816200" cy="264319"/>
          </a:xfrm>
          <a:prstGeom prst="rect">
            <a:avLst/>
          </a:prstGeom>
          <a:noFill/>
        </p:spPr>
        <p:txBody>
          <a:bodyPr wrap="square" lIns="68072" tIns="68072" rIns="68072" bIns="68072" rtlCol="0" anchor="ctr">
            <a:spAutoFit/>
          </a:bodyPr>
          <a:p>
            <a:pPr marL="0" indent="0" algn="l">
              <a:lnSpc>
                <a:spcPct val="114286"/>
              </a:lnSpc>
              <a:buNone/>
              <a:defRPr/>
            </a:pPr>
            <a:r>
              <a:rPr lang="en-US" sz="75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N-1024</a:t>
            </a:r>
            <a:endParaRPr lang="en-US" sz="750"/>
          </a:p>
        </p:txBody>
      </p:sp>
      <p:sp>
        <p:nvSpPr>
          <p:cNvPr id="1893823122" name="Text 10"/>
          <p:cNvSpPr/>
          <p:nvPr/>
        </p:nvSpPr>
        <p:spPr bwMode="auto">
          <a:xfrm>
            <a:off x="1562723" y="2439228"/>
            <a:ext cx="1785017" cy="264319"/>
          </a:xfrm>
          <a:prstGeom prst="rect">
            <a:avLst/>
          </a:prstGeom>
          <a:noFill/>
        </p:spPr>
        <p:txBody>
          <a:bodyPr wrap="square" lIns="68072" tIns="68072" rIns="68072" bIns="68072" rtlCol="0" anchor="ctr">
            <a:spAutoFit/>
          </a:bodyPr>
          <a:p>
            <a:pPr marL="0" indent="0" algn="l">
              <a:lnSpc>
                <a:spcPct val="114286"/>
              </a:lnSpc>
              <a:buNone/>
              <a:defRPr/>
            </a:pPr>
            <a:r>
              <a:rPr lang="en-US" sz="75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Acute Myocardial Infarction</a:t>
            </a:r>
            <a:endParaRPr lang="en-US" sz="750"/>
          </a:p>
        </p:txBody>
      </p:sp>
      <p:sp>
        <p:nvSpPr>
          <p:cNvPr id="1526121176" name="Text 11"/>
          <p:cNvSpPr/>
          <p:nvPr/>
        </p:nvSpPr>
        <p:spPr bwMode="auto">
          <a:xfrm>
            <a:off x="3347740" y="2439228"/>
            <a:ext cx="798426" cy="264319"/>
          </a:xfrm>
          <a:prstGeom prst="rect">
            <a:avLst/>
          </a:prstGeom>
          <a:noFill/>
        </p:spPr>
        <p:txBody>
          <a:bodyPr wrap="square" lIns="68072" tIns="68072" rIns="68072" bIns="68072" rtlCol="0" anchor="ctr">
            <a:spAutoFit/>
          </a:bodyPr>
          <a:p>
            <a:pPr marL="0" indent="0" algn="l">
              <a:lnSpc>
                <a:spcPct val="114286"/>
              </a:lnSpc>
              <a:buNone/>
              <a:defRPr/>
            </a:pPr>
            <a:r>
              <a:rPr lang="en-US" sz="700" b="1">
                <a:solidFill>
                  <a:srgbClr val="16A34A"/>
                </a:solidFill>
                <a:latin typeface="Calibri"/>
                <a:ea typeface="Calibri"/>
                <a:cs typeface="Calibri"/>
              </a:rPr>
              <a:t>Loaded</a:t>
            </a:r>
            <a:endParaRPr lang="en-US" sz="700"/>
          </a:p>
        </p:txBody>
      </p:sp>
      <p:sp>
        <p:nvSpPr>
          <p:cNvPr id="540293211" name="Text 12"/>
          <p:cNvSpPr/>
          <p:nvPr/>
        </p:nvSpPr>
        <p:spPr bwMode="auto">
          <a:xfrm>
            <a:off x="4146166" y="2439228"/>
            <a:ext cx="1472282" cy="264319"/>
          </a:xfrm>
          <a:prstGeom prst="rect">
            <a:avLst/>
          </a:prstGeom>
          <a:noFill/>
        </p:spPr>
        <p:txBody>
          <a:bodyPr wrap="square" lIns="68072" tIns="68072" rIns="68072" bIns="68072" rtlCol="0" anchor="ctr">
            <a:spAutoFit/>
          </a:bodyPr>
          <a:p>
            <a:pPr marL="0" indent="0" algn="l">
              <a:lnSpc>
                <a:spcPct val="114286"/>
              </a:lnSpc>
              <a:buNone/>
              <a:defRPr/>
            </a:pPr>
            <a:r>
              <a:rPr lang="en-US" sz="75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CodeSystem/AMI-01</a:t>
            </a:r>
            <a:endParaRPr lang="en-US" sz="750"/>
          </a:p>
        </p:txBody>
      </p:sp>
      <p:sp>
        <p:nvSpPr>
          <p:cNvPr id="1613776202" name="Shape 13"/>
          <p:cNvSpPr/>
          <p:nvPr/>
        </p:nvSpPr>
        <p:spPr bwMode="auto">
          <a:xfrm>
            <a:off x="746522" y="2703547"/>
            <a:ext cx="4871926" cy="264319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803353844" name="Text 14"/>
          <p:cNvSpPr/>
          <p:nvPr/>
        </p:nvSpPr>
        <p:spPr bwMode="auto">
          <a:xfrm>
            <a:off x="746522" y="2703547"/>
            <a:ext cx="816200" cy="264319"/>
          </a:xfrm>
          <a:prstGeom prst="rect">
            <a:avLst/>
          </a:prstGeom>
          <a:noFill/>
        </p:spPr>
        <p:txBody>
          <a:bodyPr wrap="square" lIns="68072" tIns="68072" rIns="68072" bIns="68072" rtlCol="0" anchor="ctr">
            <a:spAutoFit/>
          </a:bodyPr>
          <a:p>
            <a:pPr marL="0" indent="0" algn="l">
              <a:lnSpc>
                <a:spcPct val="114286"/>
              </a:lnSpc>
              <a:buNone/>
              <a:defRPr/>
            </a:pPr>
            <a:r>
              <a:rPr lang="en-US" sz="75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N-1025</a:t>
            </a:r>
            <a:endParaRPr lang="en-US" sz="750"/>
          </a:p>
        </p:txBody>
      </p:sp>
      <p:sp>
        <p:nvSpPr>
          <p:cNvPr id="50101734" name="Text 15"/>
          <p:cNvSpPr/>
          <p:nvPr/>
        </p:nvSpPr>
        <p:spPr bwMode="auto">
          <a:xfrm>
            <a:off x="1562723" y="2703547"/>
            <a:ext cx="1785017" cy="264319"/>
          </a:xfrm>
          <a:prstGeom prst="rect">
            <a:avLst/>
          </a:prstGeom>
          <a:noFill/>
        </p:spPr>
        <p:txBody>
          <a:bodyPr wrap="square" lIns="68072" tIns="68072" rIns="68072" bIns="68072" rtlCol="0" anchor="ctr">
            <a:spAutoFit/>
          </a:bodyPr>
          <a:p>
            <a:pPr marL="0" indent="0" algn="l">
              <a:lnSpc>
                <a:spcPct val="114286"/>
              </a:lnSpc>
              <a:buNone/>
              <a:defRPr/>
            </a:pPr>
            <a:r>
              <a:rPr lang="en-US" sz="75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Type 2 Diabetes Mellitus</a:t>
            </a:r>
            <a:endParaRPr lang="en-US" sz="750"/>
          </a:p>
        </p:txBody>
      </p:sp>
      <p:sp>
        <p:nvSpPr>
          <p:cNvPr id="1897556079" name="Text 16"/>
          <p:cNvSpPr/>
          <p:nvPr/>
        </p:nvSpPr>
        <p:spPr bwMode="auto">
          <a:xfrm>
            <a:off x="3347740" y="2703547"/>
            <a:ext cx="798426" cy="264319"/>
          </a:xfrm>
          <a:prstGeom prst="rect">
            <a:avLst/>
          </a:prstGeom>
          <a:noFill/>
        </p:spPr>
        <p:txBody>
          <a:bodyPr wrap="square" lIns="68072" tIns="68072" rIns="68072" bIns="68072" rtlCol="0" anchor="ctr">
            <a:spAutoFit/>
          </a:bodyPr>
          <a:p>
            <a:pPr marL="0" indent="0" algn="l">
              <a:lnSpc>
                <a:spcPct val="114286"/>
              </a:lnSpc>
              <a:buNone/>
              <a:defRPr/>
            </a:pPr>
            <a:r>
              <a:rPr lang="en-US" sz="700" b="1">
                <a:solidFill>
                  <a:srgbClr val="16A34A"/>
                </a:solidFill>
                <a:latin typeface="Calibri"/>
                <a:ea typeface="Calibri"/>
                <a:cs typeface="Calibri"/>
              </a:rPr>
              <a:t>Loaded</a:t>
            </a:r>
            <a:endParaRPr lang="en-US" sz="700"/>
          </a:p>
        </p:txBody>
      </p:sp>
      <p:sp>
        <p:nvSpPr>
          <p:cNvPr id="2076232803" name="Text 17"/>
          <p:cNvSpPr/>
          <p:nvPr/>
        </p:nvSpPr>
        <p:spPr bwMode="auto">
          <a:xfrm>
            <a:off x="4146166" y="2703547"/>
            <a:ext cx="1472282" cy="264319"/>
          </a:xfrm>
          <a:prstGeom prst="rect">
            <a:avLst/>
          </a:prstGeom>
          <a:noFill/>
        </p:spPr>
        <p:txBody>
          <a:bodyPr wrap="square" lIns="68072" tIns="68072" rIns="68072" bIns="68072" rtlCol="0" anchor="ctr">
            <a:spAutoFit/>
          </a:bodyPr>
          <a:p>
            <a:pPr marL="0" indent="0" algn="l">
              <a:lnSpc>
                <a:spcPct val="114286"/>
              </a:lnSpc>
              <a:buNone/>
              <a:defRPr/>
            </a:pPr>
            <a:r>
              <a:rPr lang="en-US" sz="75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CodeSystem/T2DM-02</a:t>
            </a:r>
            <a:endParaRPr lang="en-US" sz="750"/>
          </a:p>
        </p:txBody>
      </p:sp>
      <p:sp>
        <p:nvSpPr>
          <p:cNvPr id="2054197468" name="Text 18"/>
          <p:cNvSpPr/>
          <p:nvPr/>
        </p:nvSpPr>
        <p:spPr bwMode="auto">
          <a:xfrm>
            <a:off x="746522" y="2967865"/>
            <a:ext cx="816200" cy="264319"/>
          </a:xfrm>
          <a:prstGeom prst="rect">
            <a:avLst/>
          </a:prstGeom>
          <a:noFill/>
        </p:spPr>
        <p:txBody>
          <a:bodyPr wrap="square" lIns="68072" tIns="68072" rIns="68072" bIns="68072" rtlCol="0" anchor="ctr">
            <a:spAutoFit/>
          </a:bodyPr>
          <a:p>
            <a:pPr marL="0" indent="0" algn="l">
              <a:lnSpc>
                <a:spcPct val="114286"/>
              </a:lnSpc>
              <a:buNone/>
              <a:defRPr/>
            </a:pPr>
            <a:r>
              <a:rPr lang="en-US" sz="75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N-1026</a:t>
            </a:r>
            <a:endParaRPr lang="en-US" sz="750"/>
          </a:p>
        </p:txBody>
      </p:sp>
      <p:sp>
        <p:nvSpPr>
          <p:cNvPr id="996851694" name="Text 19"/>
          <p:cNvSpPr/>
          <p:nvPr/>
        </p:nvSpPr>
        <p:spPr bwMode="auto">
          <a:xfrm>
            <a:off x="1562723" y="2967865"/>
            <a:ext cx="1785017" cy="264319"/>
          </a:xfrm>
          <a:prstGeom prst="rect">
            <a:avLst/>
          </a:prstGeom>
          <a:noFill/>
        </p:spPr>
        <p:txBody>
          <a:bodyPr wrap="square" lIns="68072" tIns="68072" rIns="68072" bIns="68072" rtlCol="0" anchor="ctr">
            <a:spAutoFit/>
          </a:bodyPr>
          <a:p>
            <a:pPr marL="0" indent="0" algn="l">
              <a:lnSpc>
                <a:spcPct val="114286"/>
              </a:lnSpc>
              <a:buNone/>
              <a:defRPr/>
            </a:pPr>
            <a:r>
              <a:rPr lang="en-US" sz="75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Chronic Kidney Disease</a:t>
            </a:r>
            <a:endParaRPr lang="en-US" sz="750"/>
          </a:p>
        </p:txBody>
      </p:sp>
      <p:sp>
        <p:nvSpPr>
          <p:cNvPr id="716864494" name="Text 20"/>
          <p:cNvSpPr/>
          <p:nvPr/>
        </p:nvSpPr>
        <p:spPr bwMode="auto">
          <a:xfrm>
            <a:off x="3347740" y="2967865"/>
            <a:ext cx="798426" cy="264319"/>
          </a:xfrm>
          <a:prstGeom prst="rect">
            <a:avLst/>
          </a:prstGeom>
          <a:noFill/>
        </p:spPr>
        <p:txBody>
          <a:bodyPr wrap="square" lIns="68072" tIns="68072" rIns="68072" bIns="68072" rtlCol="0" anchor="ctr">
            <a:spAutoFit/>
          </a:bodyPr>
          <a:p>
            <a:pPr marL="0" indent="0" algn="l">
              <a:lnSpc>
                <a:spcPct val="114286"/>
              </a:lnSpc>
              <a:buNone/>
              <a:defRPr/>
            </a:pPr>
            <a:r>
              <a:rPr lang="en-US" sz="700" b="1">
                <a:solidFill>
                  <a:srgbClr val="2563EB"/>
                </a:solidFill>
                <a:latin typeface="Calibri"/>
                <a:ea typeface="Calibri"/>
                <a:cs typeface="Calibri"/>
              </a:rPr>
              <a:t>Processing</a:t>
            </a:r>
            <a:endParaRPr lang="en-US" sz="700"/>
          </a:p>
        </p:txBody>
      </p:sp>
      <p:sp>
        <p:nvSpPr>
          <p:cNvPr id="1195922650" name="Text 21"/>
          <p:cNvSpPr/>
          <p:nvPr/>
        </p:nvSpPr>
        <p:spPr bwMode="auto">
          <a:xfrm>
            <a:off x="4146166" y="2967865"/>
            <a:ext cx="1472282" cy="264319"/>
          </a:xfrm>
          <a:prstGeom prst="rect">
            <a:avLst/>
          </a:prstGeom>
          <a:noFill/>
        </p:spPr>
        <p:txBody>
          <a:bodyPr wrap="square" lIns="68072" tIns="68072" rIns="68072" bIns="68072" rtlCol="0" anchor="ctr">
            <a:spAutoFit/>
          </a:bodyPr>
          <a:p>
            <a:pPr marL="0" indent="0" algn="l">
              <a:lnSpc>
                <a:spcPct val="114286"/>
              </a:lnSpc>
              <a:buNone/>
              <a:defRPr/>
            </a:pPr>
            <a:r>
              <a:rPr lang="en-US" sz="75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Pending...</a:t>
            </a:r>
            <a:endParaRPr lang="en-US" sz="750"/>
          </a:p>
        </p:txBody>
      </p:sp>
      <p:sp>
        <p:nvSpPr>
          <p:cNvPr id="389830148" name="Text 22"/>
          <p:cNvSpPr/>
          <p:nvPr/>
        </p:nvSpPr>
        <p:spPr bwMode="auto">
          <a:xfrm>
            <a:off x="742950" y="4778806"/>
            <a:ext cx="702816" cy="94827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p>
            <a:pPr marL="0" indent="0" algn="l">
              <a:lnSpc>
                <a:spcPct val="106667"/>
              </a:lnSpc>
              <a:buNone/>
              <a:defRPr/>
            </a:pPr>
            <a:r>
              <a:rPr lang="en-US" sz="600">
                <a:solidFill>
                  <a:srgbClr val="6B7280"/>
                </a:solidFill>
                <a:latin typeface="Calibri"/>
                <a:ea typeface="Calibri"/>
                <a:cs typeface="Calibri"/>
              </a:rPr>
              <a:t>Total Concepts: 1,240</a:t>
            </a:r>
            <a:endParaRPr lang="en-US" sz="600"/>
          </a:p>
        </p:txBody>
      </p:sp>
      <p:sp>
        <p:nvSpPr>
          <p:cNvPr id="1381712670" name="Text 23"/>
          <p:cNvSpPr/>
          <p:nvPr/>
        </p:nvSpPr>
        <p:spPr bwMode="auto">
          <a:xfrm>
            <a:off x="4739767" y="4778806"/>
            <a:ext cx="812800" cy="94827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p>
            <a:pPr marL="0" indent="0" algn="l">
              <a:lnSpc>
                <a:spcPct val="106667"/>
              </a:lnSpc>
              <a:buNone/>
              <a:defRPr/>
            </a:pPr>
            <a:r>
              <a:rPr lang="en-US" sz="600">
                <a:solidFill>
                  <a:srgbClr val="6B7280"/>
                </a:solidFill>
                <a:latin typeface="Calibri"/>
                <a:ea typeface="Calibri"/>
                <a:cs typeface="Calibri"/>
              </a:rPr>
              <a:t>WHO ICD API: Connected</a:t>
            </a:r>
            <a:endParaRPr lang="en-US" sz="600"/>
          </a:p>
        </p:txBody>
      </p:sp>
      <p:sp>
        <p:nvSpPr>
          <p:cNvPr id="1020878" name="Text 24"/>
          <p:cNvSpPr/>
          <p:nvPr/>
        </p:nvSpPr>
        <p:spPr bwMode="auto">
          <a:xfrm>
            <a:off x="5964919" y="2674896"/>
            <a:ext cx="756759" cy="292967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p>
            <a:pPr marL="0" indent="0" algn="l">
              <a:lnSpc>
                <a:spcPct val="120000"/>
              </a:lnSpc>
              <a:buNone/>
              <a:defRPr/>
            </a:pPr>
            <a:r>
              <a:rPr lang="en-US" sz="1600" b="1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Features</a:t>
            </a:r>
            <a:endParaRPr sz="1600">
              <a:solidFill>
                <a:schemeClr val="tx1"/>
              </a:solidFill>
            </a:endParaRPr>
          </a:p>
        </p:txBody>
      </p:sp>
      <p:sp>
        <p:nvSpPr>
          <p:cNvPr id="587629005" name="Text 25"/>
          <p:cNvSpPr/>
          <p:nvPr/>
        </p:nvSpPr>
        <p:spPr bwMode="auto">
          <a:xfrm>
            <a:off x="6250669" y="3075021"/>
            <a:ext cx="2180466" cy="274679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p>
            <a:pPr marL="0" indent="0" algn="l">
              <a:lnSpc>
                <a:spcPct val="120000"/>
              </a:lnSpc>
              <a:buNone/>
              <a:defRPr/>
            </a:pPr>
            <a:r>
              <a:rPr lang="en-US" sz="15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NAMASTE concept loading</a:t>
            </a:r>
            <a:endParaRPr sz="1500">
              <a:latin typeface="Times New Roman"/>
              <a:cs typeface="Times New Roman"/>
            </a:endParaRPr>
          </a:p>
        </p:txBody>
      </p:sp>
      <p:sp>
        <p:nvSpPr>
          <p:cNvPr id="887797074" name="Text 26"/>
          <p:cNvSpPr/>
          <p:nvPr/>
        </p:nvSpPr>
        <p:spPr bwMode="auto">
          <a:xfrm>
            <a:off x="6293531" y="3503646"/>
            <a:ext cx="1010967" cy="274679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p>
            <a:pPr marL="0" indent="0" algn="l">
              <a:lnSpc>
                <a:spcPct val="120000"/>
              </a:lnSpc>
              <a:buNone/>
              <a:defRPr/>
            </a:pPr>
            <a:r>
              <a:rPr lang="en-US" sz="15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ICD retrieval</a:t>
            </a:r>
            <a:endParaRPr sz="1500">
              <a:latin typeface="Times New Roman"/>
              <a:cs typeface="Times New Roman"/>
            </a:endParaRPr>
          </a:p>
        </p:txBody>
      </p:sp>
      <p:sp>
        <p:nvSpPr>
          <p:cNvPr id="1930453644" name="Text 27"/>
          <p:cNvSpPr/>
          <p:nvPr/>
        </p:nvSpPr>
        <p:spPr bwMode="auto">
          <a:xfrm>
            <a:off x="6250669" y="3932271"/>
            <a:ext cx="1318204" cy="274679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p>
            <a:pPr marL="0" indent="0" algn="l">
              <a:lnSpc>
                <a:spcPct val="120000"/>
              </a:lnSpc>
              <a:buNone/>
              <a:defRPr/>
            </a:pPr>
            <a:r>
              <a:rPr lang="en-US" sz="15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FHIR conversion</a:t>
            </a:r>
            <a:endParaRPr sz="1500">
              <a:latin typeface="Times New Roman"/>
              <a:cs typeface="Times New Roman"/>
            </a:endParaRPr>
          </a:p>
        </p:txBody>
      </p:sp>
      <p:sp>
        <p:nvSpPr>
          <p:cNvPr id="1497303930" name="Text 28"/>
          <p:cNvSpPr/>
          <p:nvPr/>
        </p:nvSpPr>
        <p:spPr bwMode="auto">
          <a:xfrm>
            <a:off x="8915400" y="5057412"/>
            <a:ext cx="101600" cy="13716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p>
            <a:pPr marL="0" indent="0" algn="l">
              <a:lnSpc>
                <a:spcPct val="120000"/>
              </a:lnSpc>
              <a:buNone/>
              <a:defRPr/>
            </a:pPr>
            <a:r>
              <a:rPr lang="en-US" sz="850">
                <a:solidFill>
                  <a:srgbClr val="898989"/>
                </a:solidFill>
                <a:latin typeface="Calibri"/>
                <a:ea typeface="Calibri"/>
                <a:cs typeface="Calibri"/>
              </a:rPr>
              <a:t>22</a:t>
            </a:r>
            <a:endParaRPr lang="en-US" sz="850"/>
          </a:p>
        </p:txBody>
      </p:sp>
      <p:pic>
        <p:nvPicPr>
          <p:cNvPr id="1368759760" name="Image 5" descr="preencoded.png"/>
          <p:cNvPicPr>
            <a:picLocks noChangeAspect="1"/>
          </p:cNvPicPr>
          <p:nvPr/>
        </p:nvPicPr>
        <p:blipFill rotWithShape="1">
          <a:blip r:embed="rId5"/>
          <a:stretch/>
        </p:blipFill>
        <p:spPr bwMode="auto">
          <a:xfrm>
            <a:off x="0" y="5278868"/>
            <a:ext cx="9144000" cy="885825"/>
          </a:xfrm>
          <a:prstGeom prst="rect">
            <a:avLst/>
          </a:prstGeom>
        </p:spPr>
      </p:pic>
      <p:sp>
        <p:nvSpPr>
          <p:cNvPr id="1566780910" name="Text 3"/>
          <p:cNvSpPr/>
          <p:nvPr/>
        </p:nvSpPr>
        <p:spPr bwMode="auto">
          <a:xfrm>
            <a:off x="6006008" y="3103987"/>
            <a:ext cx="89271" cy="25639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p>
            <a:pPr marL="0" indent="0" algn="l">
              <a:lnSpc>
                <a:spcPct val="120000"/>
              </a:lnSpc>
              <a:buNone/>
              <a:defRPr/>
            </a:pPr>
            <a:r>
              <a:rPr lang="en-US" sz="140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•</a:t>
            </a:r>
            <a:endParaRPr lang="en-US" sz="1400"/>
          </a:p>
        </p:txBody>
      </p:sp>
      <p:sp>
        <p:nvSpPr>
          <p:cNvPr id="1459120059" name="Text 3"/>
          <p:cNvSpPr/>
          <p:nvPr/>
        </p:nvSpPr>
        <p:spPr bwMode="auto">
          <a:xfrm>
            <a:off x="6006008" y="3512779"/>
            <a:ext cx="89271" cy="25639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p>
            <a:pPr marL="0" indent="0" algn="l">
              <a:lnSpc>
                <a:spcPct val="120000"/>
              </a:lnSpc>
              <a:buNone/>
              <a:defRPr/>
            </a:pPr>
            <a:r>
              <a:rPr lang="en-US" sz="140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•</a:t>
            </a:r>
            <a:endParaRPr lang="en-US" sz="1400"/>
          </a:p>
        </p:txBody>
      </p:sp>
      <p:sp>
        <p:nvSpPr>
          <p:cNvPr id="519709283" name="Text 3"/>
          <p:cNvSpPr/>
          <p:nvPr/>
        </p:nvSpPr>
        <p:spPr bwMode="auto">
          <a:xfrm>
            <a:off x="6006008" y="3950559"/>
            <a:ext cx="89271" cy="25639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p>
            <a:pPr marL="0" indent="0" algn="l">
              <a:lnSpc>
                <a:spcPct val="120000"/>
              </a:lnSpc>
              <a:buNone/>
              <a:defRPr/>
            </a:pPr>
            <a:r>
              <a:rPr lang="en-US" sz="140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•</a:t>
            </a:r>
            <a:endParaRPr lang="en-US" sz="14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11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716595009" name="Image 0" descr="preencoded.png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0" y="0"/>
            <a:ext cx="9144000" cy="6164693"/>
          </a:xfrm>
          <a:prstGeom prst="rect">
            <a:avLst/>
          </a:prstGeom>
        </p:spPr>
      </p:pic>
      <p:pic>
        <p:nvPicPr>
          <p:cNvPr id="1227866185" name="Image 1" descr="preencoded.png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>
            <a:off x="0" y="0"/>
            <a:ext cx="9144000" cy="1071563"/>
          </a:xfrm>
          <a:prstGeom prst="rect">
            <a:avLst/>
          </a:prstGeom>
        </p:spPr>
      </p:pic>
      <p:sp>
        <p:nvSpPr>
          <p:cNvPr id="1638024780" name="Text 0"/>
          <p:cNvSpPr/>
          <p:nvPr/>
        </p:nvSpPr>
        <p:spPr bwMode="auto">
          <a:xfrm>
            <a:off x="628649" y="1185862"/>
            <a:ext cx="4029415" cy="346002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p>
            <a:pPr marL="0" indent="0" algn="l">
              <a:lnSpc>
                <a:spcPct val="84000"/>
              </a:lnSpc>
              <a:buNone/>
              <a:defRPr/>
            </a:pPr>
            <a:r>
              <a:rPr lang="en-US" sz="27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Output – Semantic Similarity</a:t>
            </a:r>
            <a:endParaRPr sz="2700"/>
          </a:p>
        </p:txBody>
      </p:sp>
      <p:sp>
        <p:nvSpPr>
          <p:cNvPr id="846527321" name="Shape 1"/>
          <p:cNvSpPr/>
          <p:nvPr/>
        </p:nvSpPr>
        <p:spPr bwMode="auto">
          <a:xfrm>
            <a:off x="628650" y="1742712"/>
            <a:ext cx="5109177" cy="3264694"/>
          </a:xfrm>
          <a:prstGeom prst="rect">
            <a:avLst/>
          </a:prstGeom>
          <a:solidFill>
            <a:srgbClr val="F9FAFB"/>
          </a:solidFill>
          <a:ln w="18288">
            <a:solidFill>
              <a:srgbClr val="E5E7EB"/>
            </a:solidFill>
            <a:prstDash val="solid"/>
          </a:ln>
        </p:spPr>
      </p:sp>
      <p:sp>
        <p:nvSpPr>
          <p:cNvPr id="281115376" name="Shape 2"/>
          <p:cNvSpPr/>
          <p:nvPr/>
        </p:nvSpPr>
        <p:spPr bwMode="auto">
          <a:xfrm>
            <a:off x="800100" y="1914162"/>
            <a:ext cx="4765970" cy="357188"/>
          </a:xfrm>
          <a:prstGeom prst="rect">
            <a:avLst/>
          </a:prstGeom>
          <a:solidFill>
            <a:srgbClr val="FFFFFF"/>
          </a:solidFill>
          <a:ln w="9144">
            <a:solidFill>
              <a:srgbClr val="D1D5DB"/>
            </a:solidFill>
            <a:prstDash val="solid"/>
          </a:ln>
        </p:spPr>
      </p:sp>
      <p:pic>
        <p:nvPicPr>
          <p:cNvPr id="623793795" name="Image 2" descr="preencoded.png"/>
          <p:cNvPicPr>
            <a:picLocks noChangeAspect="1"/>
          </p:cNvPicPr>
          <p:nvPr/>
        </p:nvPicPr>
        <p:blipFill rotWithShape="1">
          <a:blip r:embed="rId5"/>
          <a:stretch/>
        </p:blipFill>
        <p:spPr bwMode="auto">
          <a:xfrm>
            <a:off x="885825" y="2028462"/>
            <a:ext cx="114300" cy="114300"/>
          </a:xfrm>
          <a:prstGeom prst="rect">
            <a:avLst/>
          </a:prstGeom>
        </p:spPr>
      </p:pic>
      <p:sp>
        <p:nvSpPr>
          <p:cNvPr id="2116859600" name="Text 3"/>
          <p:cNvSpPr/>
          <p:nvPr/>
        </p:nvSpPr>
        <p:spPr bwMode="auto">
          <a:xfrm>
            <a:off x="1085850" y="1999887"/>
            <a:ext cx="2563366" cy="13716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p>
            <a:pPr marL="0" indent="0" algn="l">
              <a:lnSpc>
                <a:spcPct val="120000"/>
              </a:lnSpc>
              <a:buNone/>
              <a:defRPr/>
            </a:pPr>
            <a:r>
              <a:rPr lang="en-US" sz="850" i="1">
                <a:solidFill>
                  <a:srgbClr val="4B5563"/>
                </a:solidFill>
                <a:latin typeface="Calibri"/>
                <a:ea typeface="Calibri"/>
                <a:cs typeface="Calibri"/>
              </a:rPr>
              <a:t>Search NAMASTE Concept: "Acute Myocardial Infarction"</a:t>
            </a:r>
            <a:endParaRPr lang="en-US" sz="850"/>
          </a:p>
        </p:txBody>
      </p:sp>
      <p:sp>
        <p:nvSpPr>
          <p:cNvPr id="207365666" name="Shape 4"/>
          <p:cNvSpPr/>
          <p:nvPr/>
        </p:nvSpPr>
        <p:spPr bwMode="auto">
          <a:xfrm>
            <a:off x="800100" y="2371362"/>
            <a:ext cx="4765970" cy="2464594"/>
          </a:xfrm>
          <a:prstGeom prst="rect">
            <a:avLst/>
          </a:prstGeom>
          <a:solidFill>
            <a:srgbClr val="FFFFFF"/>
          </a:solidFill>
          <a:ln w="9144">
            <a:solidFill>
              <a:srgbClr val="D1D5DB"/>
            </a:solidFill>
            <a:prstDash val="solid"/>
          </a:ln>
        </p:spPr>
      </p:sp>
      <p:sp>
        <p:nvSpPr>
          <p:cNvPr id="912614349" name="Shape 5"/>
          <p:cNvSpPr/>
          <p:nvPr/>
        </p:nvSpPr>
        <p:spPr bwMode="auto">
          <a:xfrm>
            <a:off x="800100" y="2371362"/>
            <a:ext cx="4765970" cy="257175"/>
          </a:xfrm>
          <a:prstGeom prst="rect">
            <a:avLst/>
          </a:prstGeom>
          <a:solidFill>
            <a:srgbClr val="1E3A8A"/>
          </a:solidFill>
        </p:spPr>
      </p:sp>
      <p:sp>
        <p:nvSpPr>
          <p:cNvPr id="427513594" name="Text 6"/>
          <p:cNvSpPr/>
          <p:nvPr/>
        </p:nvSpPr>
        <p:spPr bwMode="auto">
          <a:xfrm>
            <a:off x="800100" y="2371362"/>
            <a:ext cx="4765970" cy="257175"/>
          </a:xfrm>
          <a:prstGeom prst="rect">
            <a:avLst/>
          </a:prstGeom>
          <a:noFill/>
        </p:spPr>
        <p:txBody>
          <a:bodyPr wrap="square" lIns="68072" tIns="68072" rIns="68072" bIns="68072" rtlCol="0" anchor="t">
            <a:spAutoFit/>
          </a:bodyPr>
          <a:p>
            <a:pPr marL="0" indent="0" algn="l">
              <a:lnSpc>
                <a:spcPct val="114286"/>
              </a:lnSpc>
              <a:buNone/>
              <a:defRPr/>
            </a:pPr>
            <a:r>
              <a:rPr lang="en-US" sz="7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AI SUGGESTIONS (ICD-11)</a:t>
            </a:r>
            <a:endParaRPr lang="en-US" sz="700"/>
          </a:p>
        </p:txBody>
      </p:sp>
      <p:sp>
        <p:nvSpPr>
          <p:cNvPr id="532766421" name="Shape 7"/>
          <p:cNvSpPr/>
          <p:nvPr/>
        </p:nvSpPr>
        <p:spPr bwMode="auto">
          <a:xfrm>
            <a:off x="800100" y="2628537"/>
            <a:ext cx="4765970" cy="260747"/>
          </a:xfrm>
          <a:prstGeom prst="rect">
            <a:avLst/>
          </a:prstGeom>
          <a:solidFill>
            <a:srgbClr val="F3F4F6"/>
          </a:solidFill>
        </p:spPr>
      </p:sp>
      <p:sp>
        <p:nvSpPr>
          <p:cNvPr id="1499222465" name="Shape 8"/>
          <p:cNvSpPr/>
          <p:nvPr/>
        </p:nvSpPr>
        <p:spPr bwMode="auto">
          <a:xfrm>
            <a:off x="800100" y="2882139"/>
            <a:ext cx="4765970" cy="7144"/>
          </a:xfrm>
          <a:prstGeom prst="rect">
            <a:avLst/>
          </a:prstGeom>
          <a:solidFill>
            <a:srgbClr val="E5E7EB"/>
          </a:solidFill>
        </p:spPr>
      </p:sp>
      <p:sp>
        <p:nvSpPr>
          <p:cNvPr id="1312026376" name="Text 9"/>
          <p:cNvSpPr/>
          <p:nvPr/>
        </p:nvSpPr>
        <p:spPr bwMode="auto">
          <a:xfrm>
            <a:off x="800100" y="2628537"/>
            <a:ext cx="885016" cy="257175"/>
          </a:xfrm>
          <a:prstGeom prst="rect">
            <a:avLst/>
          </a:prstGeom>
          <a:noFill/>
        </p:spPr>
        <p:txBody>
          <a:bodyPr wrap="square" lIns="68072" tIns="68072" rIns="68072" bIns="68072" rtlCol="0" anchor="ctr">
            <a:spAutoFit/>
          </a:bodyPr>
          <a:p>
            <a:pPr marL="0" indent="0" algn="l">
              <a:lnSpc>
                <a:spcPct val="114286"/>
              </a:lnSpc>
              <a:buNone/>
              <a:defRPr/>
            </a:pPr>
            <a:r>
              <a:rPr lang="en-US" sz="700" b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ICD-11 Code</a:t>
            </a:r>
            <a:endParaRPr lang="en-US" sz="700"/>
          </a:p>
        </p:txBody>
      </p:sp>
      <p:sp>
        <p:nvSpPr>
          <p:cNvPr id="273320587" name="Text 10"/>
          <p:cNvSpPr/>
          <p:nvPr/>
        </p:nvSpPr>
        <p:spPr bwMode="auto">
          <a:xfrm>
            <a:off x="1685116" y="2628537"/>
            <a:ext cx="2797504" cy="257175"/>
          </a:xfrm>
          <a:prstGeom prst="rect">
            <a:avLst/>
          </a:prstGeom>
          <a:noFill/>
        </p:spPr>
        <p:txBody>
          <a:bodyPr wrap="square" lIns="68072" tIns="68072" rIns="68072" bIns="68072" rtlCol="0" anchor="ctr">
            <a:spAutoFit/>
          </a:bodyPr>
          <a:p>
            <a:pPr marL="0" indent="0" algn="l">
              <a:lnSpc>
                <a:spcPct val="114286"/>
              </a:lnSpc>
              <a:buNone/>
              <a:defRPr/>
            </a:pPr>
            <a:r>
              <a:rPr lang="en-US" sz="700" b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Description</a:t>
            </a:r>
            <a:endParaRPr lang="en-US" sz="700"/>
          </a:p>
        </p:txBody>
      </p:sp>
      <p:sp>
        <p:nvSpPr>
          <p:cNvPr id="808475165" name="Text 11"/>
          <p:cNvSpPr/>
          <p:nvPr/>
        </p:nvSpPr>
        <p:spPr bwMode="auto">
          <a:xfrm>
            <a:off x="4482619" y="2628537"/>
            <a:ext cx="1083450" cy="257175"/>
          </a:xfrm>
          <a:prstGeom prst="rect">
            <a:avLst/>
          </a:prstGeom>
          <a:noFill/>
        </p:spPr>
        <p:txBody>
          <a:bodyPr wrap="square" lIns="68072" tIns="68072" rIns="68072" bIns="68072" rtlCol="0" anchor="ctr">
            <a:spAutoFit/>
          </a:bodyPr>
          <a:p>
            <a:pPr marL="0" indent="0" algn="l">
              <a:lnSpc>
                <a:spcPct val="114286"/>
              </a:lnSpc>
              <a:buNone/>
              <a:defRPr/>
            </a:pPr>
            <a:r>
              <a:rPr lang="en-US" sz="700" b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Similarity Score</a:t>
            </a:r>
            <a:endParaRPr lang="en-US" sz="700"/>
          </a:p>
        </p:txBody>
      </p:sp>
      <p:sp>
        <p:nvSpPr>
          <p:cNvPr id="2075296391" name="Text 12"/>
          <p:cNvSpPr/>
          <p:nvPr/>
        </p:nvSpPr>
        <p:spPr bwMode="auto">
          <a:xfrm>
            <a:off x="800100" y="2869815"/>
            <a:ext cx="885735" cy="293258"/>
          </a:xfrm>
          <a:prstGeom prst="rect">
            <a:avLst/>
          </a:prstGeom>
          <a:noFill/>
        </p:spPr>
        <p:txBody>
          <a:bodyPr wrap="square" lIns="68072" tIns="68072" rIns="68072" bIns="68072" rtlCol="0" anchor="ctr">
            <a:spAutoFit/>
          </a:bodyPr>
          <a:p>
            <a:pPr marL="0" indent="0" algn="l">
              <a:lnSpc>
                <a:spcPct val="114286"/>
              </a:lnSpc>
              <a:buNone/>
              <a:defRPr/>
            </a:pPr>
            <a:r>
              <a:rPr lang="en-US" sz="900">
                <a:solidFill>
                  <a:srgbClr val="000000"/>
                </a:solidFill>
                <a:latin typeface="SFMono-Regular"/>
                <a:ea typeface="SFMono-Regular"/>
                <a:cs typeface="SFMono-Regular"/>
              </a:rPr>
              <a:t>BA41.1</a:t>
            </a:r>
            <a:endParaRPr sz="900"/>
          </a:p>
        </p:txBody>
      </p:sp>
      <p:sp>
        <p:nvSpPr>
          <p:cNvPr id="1301916378" name="Text 13"/>
          <p:cNvSpPr/>
          <p:nvPr/>
        </p:nvSpPr>
        <p:spPr bwMode="auto">
          <a:xfrm>
            <a:off x="1685115" y="2852578"/>
            <a:ext cx="2798583" cy="328092"/>
          </a:xfrm>
          <a:prstGeom prst="rect">
            <a:avLst/>
          </a:prstGeom>
          <a:noFill/>
        </p:spPr>
        <p:txBody>
          <a:bodyPr wrap="square" lIns="68072" tIns="68072" rIns="68072" bIns="68072" rtlCol="0" anchor="ctr">
            <a:spAutoFit/>
          </a:bodyPr>
          <a:p>
            <a:pPr marL="0" indent="0" algn="l">
              <a:lnSpc>
                <a:spcPct val="114286"/>
              </a:lnSpc>
              <a:buNone/>
              <a:defRPr/>
            </a:pPr>
            <a:r>
              <a:rPr lang="en-US" sz="11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Acute myocardial infarction, ST elevation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168487071" name="Text 14"/>
          <p:cNvSpPr/>
          <p:nvPr/>
        </p:nvSpPr>
        <p:spPr bwMode="auto">
          <a:xfrm>
            <a:off x="4482618" y="2860927"/>
            <a:ext cx="1083809" cy="310675"/>
          </a:xfrm>
          <a:prstGeom prst="rect">
            <a:avLst/>
          </a:prstGeom>
          <a:noFill/>
        </p:spPr>
        <p:txBody>
          <a:bodyPr wrap="square" lIns="68072" tIns="68072" rIns="68072" bIns="68072" rtlCol="0" anchor="ctr">
            <a:spAutoFit/>
          </a:bodyPr>
          <a:p>
            <a:pPr marL="0" indent="0" algn="l">
              <a:lnSpc>
                <a:spcPct val="114286"/>
              </a:lnSpc>
              <a:buNone/>
              <a:defRPr/>
            </a:pPr>
            <a:r>
              <a:rPr lang="en-US" sz="1000" b="1">
                <a:solidFill>
                  <a:srgbClr val="16A34A"/>
                </a:solidFill>
                <a:latin typeface="Calibri"/>
                <a:ea typeface="Calibri"/>
                <a:cs typeface="Calibri"/>
              </a:rPr>
              <a:t>0.9842</a:t>
            </a:r>
            <a:endParaRPr sz="1000"/>
          </a:p>
        </p:txBody>
      </p:sp>
      <p:sp>
        <p:nvSpPr>
          <p:cNvPr id="247572071" name="Text 15"/>
          <p:cNvSpPr/>
          <p:nvPr/>
        </p:nvSpPr>
        <p:spPr bwMode="auto">
          <a:xfrm>
            <a:off x="800100" y="3132168"/>
            <a:ext cx="885375" cy="293258"/>
          </a:xfrm>
          <a:prstGeom prst="rect">
            <a:avLst/>
          </a:prstGeom>
          <a:noFill/>
        </p:spPr>
        <p:txBody>
          <a:bodyPr wrap="square" lIns="68072" tIns="68072" rIns="68072" bIns="68072" rtlCol="0" anchor="ctr">
            <a:spAutoFit/>
          </a:bodyPr>
          <a:p>
            <a:pPr marL="0" indent="0" algn="l">
              <a:lnSpc>
                <a:spcPct val="114286"/>
              </a:lnSpc>
              <a:buNone/>
              <a:defRPr/>
            </a:pPr>
            <a:r>
              <a:rPr lang="en-US" sz="900">
                <a:solidFill>
                  <a:srgbClr val="000000"/>
                </a:solidFill>
                <a:latin typeface="SFMono-Regular"/>
                <a:ea typeface="SFMono-Regular"/>
                <a:cs typeface="SFMono-Regular"/>
              </a:rPr>
              <a:t>BA41.2</a:t>
            </a:r>
            <a:endParaRPr sz="900"/>
          </a:p>
        </p:txBody>
      </p:sp>
      <p:sp>
        <p:nvSpPr>
          <p:cNvPr id="573525547" name="Text 16"/>
          <p:cNvSpPr/>
          <p:nvPr/>
        </p:nvSpPr>
        <p:spPr bwMode="auto">
          <a:xfrm>
            <a:off x="1685115" y="3114931"/>
            <a:ext cx="2798223" cy="328092"/>
          </a:xfrm>
          <a:prstGeom prst="rect">
            <a:avLst/>
          </a:prstGeom>
          <a:noFill/>
        </p:spPr>
        <p:txBody>
          <a:bodyPr wrap="square" lIns="68072" tIns="68072" rIns="68072" bIns="68072" rtlCol="0" anchor="ctr">
            <a:spAutoFit/>
          </a:bodyPr>
          <a:p>
            <a:pPr marL="0" indent="0" algn="l">
              <a:lnSpc>
                <a:spcPct val="114286"/>
              </a:lnSpc>
              <a:buNone/>
              <a:defRPr/>
            </a:pPr>
            <a:r>
              <a:rPr lang="en-US" sz="11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Acute myocardial infarction, non-ST elevation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1232907255" name="Text 17"/>
          <p:cNvSpPr/>
          <p:nvPr/>
        </p:nvSpPr>
        <p:spPr bwMode="auto">
          <a:xfrm>
            <a:off x="4482618" y="3123460"/>
            <a:ext cx="1083809" cy="310675"/>
          </a:xfrm>
          <a:prstGeom prst="rect">
            <a:avLst/>
          </a:prstGeom>
          <a:noFill/>
        </p:spPr>
        <p:txBody>
          <a:bodyPr wrap="square" lIns="68072" tIns="68072" rIns="68072" bIns="68072" rtlCol="0" anchor="ctr">
            <a:spAutoFit/>
          </a:bodyPr>
          <a:p>
            <a:pPr marL="0" indent="0" algn="l">
              <a:lnSpc>
                <a:spcPct val="114286"/>
              </a:lnSpc>
              <a:buNone/>
              <a:defRPr/>
            </a:pPr>
            <a:r>
              <a:rPr lang="en-US" sz="1000" b="1">
                <a:solidFill>
                  <a:srgbClr val="2563EB"/>
                </a:solidFill>
                <a:latin typeface="Calibri"/>
                <a:ea typeface="Calibri"/>
                <a:cs typeface="Calibri"/>
              </a:rPr>
              <a:t>0.8519</a:t>
            </a:r>
            <a:endParaRPr sz="1000"/>
          </a:p>
        </p:txBody>
      </p:sp>
      <p:sp>
        <p:nvSpPr>
          <p:cNvPr id="701639800" name="Text 18"/>
          <p:cNvSpPr/>
          <p:nvPr/>
        </p:nvSpPr>
        <p:spPr bwMode="auto">
          <a:xfrm>
            <a:off x="800100" y="3396488"/>
            <a:ext cx="885375" cy="293258"/>
          </a:xfrm>
          <a:prstGeom prst="rect">
            <a:avLst/>
          </a:prstGeom>
          <a:noFill/>
        </p:spPr>
        <p:txBody>
          <a:bodyPr wrap="square" lIns="68072" tIns="68072" rIns="68072" bIns="68072" rtlCol="0" anchor="ctr">
            <a:spAutoFit/>
          </a:bodyPr>
          <a:p>
            <a:pPr marL="0" indent="0" algn="l">
              <a:lnSpc>
                <a:spcPct val="114286"/>
              </a:lnSpc>
              <a:buNone/>
              <a:defRPr/>
            </a:pPr>
            <a:r>
              <a:rPr lang="en-US" sz="900">
                <a:solidFill>
                  <a:srgbClr val="000000"/>
                </a:solidFill>
                <a:latin typeface="SFMono-Regular"/>
                <a:ea typeface="SFMono-Regular"/>
                <a:cs typeface="SFMono-Regular"/>
              </a:rPr>
              <a:t>BA41.Z</a:t>
            </a:r>
            <a:endParaRPr sz="900"/>
          </a:p>
        </p:txBody>
      </p:sp>
      <p:sp>
        <p:nvSpPr>
          <p:cNvPr id="1695868288" name="Text 19"/>
          <p:cNvSpPr/>
          <p:nvPr/>
        </p:nvSpPr>
        <p:spPr bwMode="auto">
          <a:xfrm>
            <a:off x="1685115" y="3379250"/>
            <a:ext cx="2798223" cy="328092"/>
          </a:xfrm>
          <a:prstGeom prst="rect">
            <a:avLst/>
          </a:prstGeom>
          <a:noFill/>
        </p:spPr>
        <p:txBody>
          <a:bodyPr wrap="square" lIns="68072" tIns="68072" rIns="68072" bIns="68072" rtlCol="0" anchor="ctr">
            <a:spAutoFit/>
          </a:bodyPr>
          <a:p>
            <a:pPr marL="0" indent="0" algn="l">
              <a:lnSpc>
                <a:spcPct val="114286"/>
              </a:lnSpc>
              <a:buNone/>
              <a:defRPr/>
            </a:pPr>
            <a:r>
              <a:rPr lang="en-US" sz="11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Acute myocardial infarction, unspecified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1279845684" name="Text 20"/>
          <p:cNvSpPr/>
          <p:nvPr/>
        </p:nvSpPr>
        <p:spPr bwMode="auto">
          <a:xfrm>
            <a:off x="4482618" y="3387779"/>
            <a:ext cx="1083809" cy="310675"/>
          </a:xfrm>
          <a:prstGeom prst="rect">
            <a:avLst/>
          </a:prstGeom>
          <a:noFill/>
        </p:spPr>
        <p:txBody>
          <a:bodyPr wrap="square" lIns="68072" tIns="68072" rIns="68072" bIns="68072" rtlCol="0" anchor="ctr">
            <a:spAutoFit/>
          </a:bodyPr>
          <a:p>
            <a:pPr marL="0" indent="0" algn="l">
              <a:lnSpc>
                <a:spcPct val="114286"/>
              </a:lnSpc>
              <a:buNone/>
              <a:defRPr/>
            </a:pPr>
            <a:r>
              <a:rPr lang="en-US" sz="1000" b="1">
                <a:solidFill>
                  <a:srgbClr val="EA580C"/>
                </a:solidFill>
                <a:latin typeface="Calibri"/>
                <a:ea typeface="Calibri"/>
                <a:cs typeface="Calibri"/>
              </a:rPr>
              <a:t>0.7231</a:t>
            </a:r>
            <a:endParaRPr sz="1000"/>
          </a:p>
        </p:txBody>
      </p:sp>
      <p:sp>
        <p:nvSpPr>
          <p:cNvPr id="1421829044" name="Text 21"/>
          <p:cNvSpPr/>
          <p:nvPr/>
        </p:nvSpPr>
        <p:spPr bwMode="auto">
          <a:xfrm>
            <a:off x="5966119" y="2628536"/>
            <a:ext cx="756759" cy="292967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p>
            <a:pPr marL="0" indent="0" algn="l">
              <a:lnSpc>
                <a:spcPct val="120000"/>
              </a:lnSpc>
              <a:buNone/>
              <a:defRPr/>
            </a:pPr>
            <a:r>
              <a:rPr lang="en-US" sz="1600" b="1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Features</a:t>
            </a:r>
            <a:endParaRPr sz="1600">
              <a:solidFill>
                <a:schemeClr val="tx1"/>
              </a:solidFill>
            </a:endParaRPr>
          </a:p>
        </p:txBody>
      </p:sp>
      <p:sp>
        <p:nvSpPr>
          <p:cNvPr id="1632398848" name="Text 22"/>
          <p:cNvSpPr/>
          <p:nvPr/>
        </p:nvSpPr>
        <p:spPr bwMode="auto">
          <a:xfrm>
            <a:off x="6273300" y="3075021"/>
            <a:ext cx="1259786" cy="274679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p>
            <a:pPr marL="0" indent="0" algn="l">
              <a:lnSpc>
                <a:spcPct val="120000"/>
              </a:lnSpc>
              <a:buNone/>
              <a:defRPr/>
            </a:pPr>
            <a:r>
              <a:rPr lang="en-US" sz="15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User input panel</a:t>
            </a:r>
            <a:endParaRPr sz="1500">
              <a:latin typeface="Times New Roman"/>
              <a:cs typeface="Times New Roman"/>
            </a:endParaRPr>
          </a:p>
        </p:txBody>
      </p:sp>
      <p:sp>
        <p:nvSpPr>
          <p:cNvPr id="1851122462" name="Text 23"/>
          <p:cNvSpPr/>
          <p:nvPr/>
        </p:nvSpPr>
        <p:spPr bwMode="auto">
          <a:xfrm>
            <a:off x="6251869" y="3503646"/>
            <a:ext cx="1942153" cy="274679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p>
            <a:pPr marL="0" indent="0" algn="l">
              <a:lnSpc>
                <a:spcPct val="120000"/>
              </a:lnSpc>
              <a:buNone/>
              <a:defRPr/>
            </a:pPr>
            <a:r>
              <a:rPr lang="en-US" sz="15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AI-generated suggestions</a:t>
            </a:r>
            <a:endParaRPr sz="1500">
              <a:latin typeface="Times New Roman"/>
              <a:cs typeface="Times New Roman"/>
            </a:endParaRPr>
          </a:p>
        </p:txBody>
      </p:sp>
      <p:sp>
        <p:nvSpPr>
          <p:cNvPr id="1435334602" name="Text 24"/>
          <p:cNvSpPr/>
          <p:nvPr/>
        </p:nvSpPr>
        <p:spPr bwMode="auto">
          <a:xfrm>
            <a:off x="6251869" y="3932271"/>
            <a:ext cx="1286384" cy="274679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p>
            <a:pPr marL="0" indent="0" algn="l">
              <a:lnSpc>
                <a:spcPct val="120000"/>
              </a:lnSpc>
              <a:buNone/>
              <a:defRPr/>
            </a:pPr>
            <a:r>
              <a:rPr lang="en-US" sz="15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Similarity scores</a:t>
            </a:r>
            <a:endParaRPr sz="1500">
              <a:latin typeface="Times New Roman"/>
              <a:cs typeface="Times New Roman"/>
            </a:endParaRPr>
          </a:p>
        </p:txBody>
      </p:sp>
      <p:sp>
        <p:nvSpPr>
          <p:cNvPr id="971764203" name="Text 25"/>
          <p:cNvSpPr/>
          <p:nvPr/>
        </p:nvSpPr>
        <p:spPr bwMode="auto">
          <a:xfrm>
            <a:off x="8915400" y="5057412"/>
            <a:ext cx="114300" cy="13716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p>
            <a:pPr marL="0" indent="0" algn="l">
              <a:lnSpc>
                <a:spcPct val="120000"/>
              </a:lnSpc>
              <a:buNone/>
              <a:defRPr/>
            </a:pPr>
            <a:r>
              <a:rPr lang="en-US" sz="850">
                <a:solidFill>
                  <a:srgbClr val="898989"/>
                </a:solidFill>
                <a:latin typeface="Calibri"/>
                <a:ea typeface="Calibri"/>
                <a:cs typeface="Calibri"/>
              </a:rPr>
              <a:t>23</a:t>
            </a:r>
            <a:endParaRPr lang="en-US" sz="850"/>
          </a:p>
        </p:txBody>
      </p:sp>
      <p:pic>
        <p:nvPicPr>
          <p:cNvPr id="1866775765" name="Image 6" descr="preencoded.png"/>
          <p:cNvPicPr>
            <a:picLocks noChangeAspect="1"/>
          </p:cNvPicPr>
          <p:nvPr/>
        </p:nvPicPr>
        <p:blipFill rotWithShape="1">
          <a:blip r:embed="rId6"/>
          <a:stretch/>
        </p:blipFill>
        <p:spPr bwMode="auto">
          <a:xfrm>
            <a:off x="0" y="5278868"/>
            <a:ext cx="9144000" cy="885825"/>
          </a:xfrm>
          <a:prstGeom prst="rect">
            <a:avLst/>
          </a:prstGeom>
        </p:spPr>
      </p:pic>
      <p:sp>
        <p:nvSpPr>
          <p:cNvPr id="592810351" name="Text 3"/>
          <p:cNvSpPr/>
          <p:nvPr/>
        </p:nvSpPr>
        <p:spPr bwMode="auto">
          <a:xfrm>
            <a:off x="6050643" y="3103987"/>
            <a:ext cx="89271" cy="25639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p>
            <a:pPr marL="0" indent="0" algn="l">
              <a:lnSpc>
                <a:spcPct val="120000"/>
              </a:lnSpc>
              <a:buNone/>
              <a:defRPr/>
            </a:pPr>
            <a:r>
              <a:rPr lang="en-US" sz="140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•</a:t>
            </a:r>
            <a:endParaRPr lang="en-US" sz="1400"/>
          </a:p>
        </p:txBody>
      </p:sp>
      <p:sp>
        <p:nvSpPr>
          <p:cNvPr id="310966609" name=""/>
          <p:cNvSpPr txBox="1"/>
          <p:nvPr/>
        </p:nvSpPr>
        <p:spPr bwMode="auto">
          <a:xfrm rot="0" flipH="0" flipV="0">
            <a:off x="5946913" y="3443024"/>
            <a:ext cx="297453" cy="347831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marL="0" indent="0" algn="l">
              <a:lnSpc>
                <a:spcPct val="120000"/>
              </a:lnSpc>
              <a:buNone/>
              <a:defRPr/>
            </a:pPr>
            <a:r>
              <a:rPr lang="en-US" sz="140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•</a:t>
            </a:r>
            <a:endParaRPr lang="en-US" sz="1400"/>
          </a:p>
        </p:txBody>
      </p:sp>
      <p:sp>
        <p:nvSpPr>
          <p:cNvPr id="1134534507" name=""/>
          <p:cNvSpPr txBox="1"/>
          <p:nvPr/>
        </p:nvSpPr>
        <p:spPr bwMode="auto">
          <a:xfrm rot="0" flipH="0" flipV="0">
            <a:off x="5946913" y="3859299"/>
            <a:ext cx="297093" cy="347831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marL="0" indent="0" algn="l">
              <a:lnSpc>
                <a:spcPct val="120000"/>
              </a:lnSpc>
              <a:buNone/>
              <a:defRPr/>
            </a:pPr>
            <a:r>
              <a:rPr lang="en-US" sz="140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•</a:t>
            </a:r>
            <a:endParaRPr lang="en-US" sz="14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12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48501723" name="Image 0" descr="preencoded.png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0" y="0"/>
            <a:ext cx="9144000" cy="6164693"/>
          </a:xfrm>
          <a:prstGeom prst="rect">
            <a:avLst/>
          </a:prstGeom>
        </p:spPr>
      </p:pic>
      <p:pic>
        <p:nvPicPr>
          <p:cNvPr id="757452818" name="Image 1" descr="preencoded.png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>
            <a:off x="0" y="0"/>
            <a:ext cx="9144000" cy="1071563"/>
          </a:xfrm>
          <a:prstGeom prst="rect">
            <a:avLst/>
          </a:prstGeom>
        </p:spPr>
      </p:pic>
      <p:sp>
        <p:nvSpPr>
          <p:cNvPr id="1746149988" name="Text 0"/>
          <p:cNvSpPr/>
          <p:nvPr/>
        </p:nvSpPr>
        <p:spPr bwMode="auto">
          <a:xfrm>
            <a:off x="628649" y="1185862"/>
            <a:ext cx="4972551" cy="346002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p>
            <a:pPr marL="0" indent="0" algn="l">
              <a:lnSpc>
                <a:spcPct val="84000"/>
              </a:lnSpc>
              <a:buNone/>
              <a:defRPr/>
            </a:pPr>
            <a:r>
              <a:rPr lang="en-US" sz="27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Output – Mapping Suggestion View</a:t>
            </a:r>
            <a:endParaRPr sz="2700"/>
          </a:p>
        </p:txBody>
      </p:sp>
      <p:sp>
        <p:nvSpPr>
          <p:cNvPr id="570468018" name="Shape 1"/>
          <p:cNvSpPr/>
          <p:nvPr/>
        </p:nvSpPr>
        <p:spPr bwMode="auto">
          <a:xfrm>
            <a:off x="628650" y="1742712"/>
            <a:ext cx="7886700" cy="3264694"/>
          </a:xfrm>
          <a:prstGeom prst="rect">
            <a:avLst/>
          </a:prstGeom>
          <a:solidFill>
            <a:srgbClr val="F9FAFB"/>
          </a:solidFill>
          <a:ln w="9144">
            <a:solidFill>
              <a:srgbClr val="D1D5DB"/>
            </a:solidFill>
            <a:prstDash val="solid"/>
          </a:ln>
        </p:spPr>
      </p:sp>
      <p:sp>
        <p:nvSpPr>
          <p:cNvPr id="1382534179" name="Text 2"/>
          <p:cNvSpPr/>
          <p:nvPr/>
        </p:nvSpPr>
        <p:spPr bwMode="auto">
          <a:xfrm>
            <a:off x="800100" y="1914162"/>
            <a:ext cx="2133600" cy="24384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p>
            <a:pPr marL="0" indent="0" algn="l">
              <a:lnSpc>
                <a:spcPct val="120000"/>
              </a:lnSpc>
              <a:buNone/>
              <a:defRPr/>
            </a:pPr>
            <a:r>
              <a:rPr lang="en-US" sz="1400" b="1">
                <a:solidFill>
                  <a:srgbClr val="1E3A8A"/>
                </a:solidFill>
                <a:latin typeface="Calibri"/>
                <a:ea typeface="Calibri"/>
                <a:cs typeface="Calibri"/>
              </a:rPr>
              <a:t>Final Mapping Suggestions</a:t>
            </a:r>
            <a:endParaRPr lang="en-US" sz="1400"/>
          </a:p>
        </p:txBody>
      </p:sp>
      <p:sp>
        <p:nvSpPr>
          <p:cNvPr id="1217517259" name="Shape 3"/>
          <p:cNvSpPr/>
          <p:nvPr/>
        </p:nvSpPr>
        <p:spPr bwMode="auto">
          <a:xfrm>
            <a:off x="6790134" y="1935593"/>
            <a:ext cx="1553766" cy="257175"/>
          </a:xfrm>
          <a:prstGeom prst="roundRect">
            <a:avLst>
              <a:gd name="adj" fmla="val 16667"/>
            </a:avLst>
          </a:prstGeom>
          <a:solidFill>
            <a:srgbClr val="DCFCE7"/>
          </a:solidFill>
        </p:spPr>
      </p:sp>
      <p:sp>
        <p:nvSpPr>
          <p:cNvPr id="816914776" name="Text 4"/>
          <p:cNvSpPr/>
          <p:nvPr/>
        </p:nvSpPr>
        <p:spPr bwMode="auto">
          <a:xfrm>
            <a:off x="6790134" y="1935593"/>
            <a:ext cx="1535288" cy="226116"/>
          </a:xfrm>
          <a:prstGeom prst="rect">
            <a:avLst/>
          </a:prstGeom>
          <a:noFill/>
        </p:spPr>
        <p:txBody>
          <a:bodyPr wrap="none" lIns="136017" tIns="34036" rIns="136017" bIns="34036" rtlCol="0" anchor="t">
            <a:spAutoFit/>
          </a:bodyPr>
          <a:p>
            <a:pPr marL="0" indent="0" algn="l">
              <a:lnSpc>
                <a:spcPct val="124444"/>
              </a:lnSpc>
              <a:buNone/>
              <a:defRPr/>
            </a:pPr>
            <a:r>
              <a:rPr lang="en-US" sz="900">
                <a:solidFill>
                  <a:srgbClr val="166534"/>
                </a:solidFill>
                <a:latin typeface="Calibri"/>
                <a:ea typeface="Calibri"/>
                <a:cs typeface="Calibri"/>
              </a:rPr>
              <a:t>Status: Ready for Review</a:t>
            </a:r>
            <a:endParaRPr lang="en-US" sz="900"/>
          </a:p>
        </p:txBody>
      </p:sp>
      <p:sp>
        <p:nvSpPr>
          <p:cNvPr id="14374954" name="Shape 5"/>
          <p:cNvSpPr/>
          <p:nvPr/>
        </p:nvSpPr>
        <p:spPr bwMode="auto">
          <a:xfrm>
            <a:off x="800100" y="2507093"/>
            <a:ext cx="7543800" cy="814388"/>
          </a:xfrm>
          <a:prstGeom prst="rect">
            <a:avLst/>
          </a:prstGeom>
          <a:solidFill>
            <a:srgbClr val="FFFFFF"/>
          </a:solidFill>
          <a:ln w="9144">
            <a:solidFill>
              <a:srgbClr val="BFDBFE"/>
            </a:solidFill>
            <a:prstDash val="solid"/>
          </a:ln>
        </p:spPr>
      </p:sp>
      <p:sp>
        <p:nvSpPr>
          <p:cNvPr id="1425649473" name="Text 6"/>
          <p:cNvSpPr/>
          <p:nvPr/>
        </p:nvSpPr>
        <p:spPr bwMode="auto">
          <a:xfrm>
            <a:off x="914400" y="2621393"/>
            <a:ext cx="914400" cy="116115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p>
            <a:pPr marL="0" indent="0" algn="l">
              <a:lnSpc>
                <a:spcPct val="114286"/>
              </a:lnSpc>
              <a:buNone/>
              <a:defRPr/>
            </a:pPr>
            <a:r>
              <a:rPr lang="en-US" sz="700" b="1">
                <a:solidFill>
                  <a:srgbClr val="6B7280"/>
                </a:solidFill>
                <a:latin typeface="Calibri"/>
                <a:ea typeface="Calibri"/>
                <a:cs typeface="Calibri"/>
              </a:rPr>
              <a:t>RANK 1 - ICD-11 CODE</a:t>
            </a:r>
            <a:endParaRPr lang="en-US" sz="700"/>
          </a:p>
        </p:txBody>
      </p:sp>
      <p:sp>
        <p:nvSpPr>
          <p:cNvPr id="684862515" name="Text 7"/>
          <p:cNvSpPr/>
          <p:nvPr/>
        </p:nvSpPr>
        <p:spPr bwMode="auto">
          <a:xfrm>
            <a:off x="914400" y="2764268"/>
            <a:ext cx="2083742" cy="189654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p>
            <a:pPr marL="0" indent="0" algn="l">
              <a:lnSpc>
                <a:spcPct val="106667"/>
              </a:lnSpc>
              <a:buNone/>
              <a:defRPr/>
            </a:pPr>
            <a:r>
              <a:rPr lang="en-US" sz="1200" b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BA41.1 - Essential Hypertension</a:t>
            </a:r>
            <a:endParaRPr lang="en-US" sz="1200"/>
          </a:p>
        </p:txBody>
      </p:sp>
      <p:sp>
        <p:nvSpPr>
          <p:cNvPr id="982479086" name="Text 8"/>
          <p:cNvSpPr/>
          <p:nvPr/>
        </p:nvSpPr>
        <p:spPr bwMode="auto">
          <a:xfrm>
            <a:off x="914400" y="3050018"/>
            <a:ext cx="3040658" cy="116115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p>
            <a:pPr marL="0" indent="0" algn="l">
              <a:lnSpc>
                <a:spcPct val="114286"/>
              </a:lnSpc>
              <a:buNone/>
              <a:defRPr/>
            </a:pPr>
            <a:r>
              <a:rPr lang="en-US" sz="750" i="1">
                <a:solidFill>
                  <a:srgbClr val="1D4ED8"/>
                </a:solidFill>
                <a:latin typeface="Calibri"/>
                <a:ea typeface="Calibri"/>
                <a:cs typeface="Calibri"/>
              </a:rPr>
              <a:t>XAI Highlight: "High correlation with clinical history of elevated blood pressure"</a:t>
            </a:r>
            <a:endParaRPr lang="en-US" sz="750"/>
          </a:p>
        </p:txBody>
      </p:sp>
      <p:sp>
        <p:nvSpPr>
          <p:cNvPr id="542804126" name="Text 9"/>
          <p:cNvSpPr/>
          <p:nvPr/>
        </p:nvSpPr>
        <p:spPr bwMode="auto">
          <a:xfrm>
            <a:off x="6400800" y="2764268"/>
            <a:ext cx="469900" cy="116115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p>
            <a:pPr marL="0" indent="0" algn="l">
              <a:lnSpc>
                <a:spcPct val="114286"/>
              </a:lnSpc>
              <a:buNone/>
              <a:defRPr/>
            </a:pPr>
            <a:r>
              <a:rPr lang="en-US" sz="750">
                <a:solidFill>
                  <a:srgbClr val="1D4ED8"/>
                </a:solidFill>
                <a:latin typeface="Calibri"/>
                <a:ea typeface="Calibri"/>
                <a:cs typeface="Calibri"/>
              </a:rPr>
              <a:t>Confidence</a:t>
            </a:r>
            <a:endParaRPr lang="en-US" sz="750"/>
          </a:p>
        </p:txBody>
      </p:sp>
      <p:sp>
        <p:nvSpPr>
          <p:cNvPr id="86114700" name="Text 10"/>
          <p:cNvSpPr/>
          <p:nvPr/>
        </p:nvSpPr>
        <p:spPr bwMode="auto">
          <a:xfrm>
            <a:off x="8058150" y="2764268"/>
            <a:ext cx="177800" cy="116115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p>
            <a:pPr marL="0" indent="0" algn="l">
              <a:lnSpc>
                <a:spcPct val="114286"/>
              </a:lnSpc>
              <a:buNone/>
              <a:defRPr/>
            </a:pPr>
            <a:r>
              <a:rPr lang="en-US" sz="750">
                <a:solidFill>
                  <a:srgbClr val="1D4ED8"/>
                </a:solidFill>
                <a:latin typeface="Calibri"/>
                <a:ea typeface="Calibri"/>
                <a:cs typeface="Calibri"/>
              </a:rPr>
              <a:t>98%</a:t>
            </a:r>
            <a:endParaRPr lang="en-US" sz="750"/>
          </a:p>
        </p:txBody>
      </p:sp>
      <p:sp>
        <p:nvSpPr>
          <p:cNvPr id="1184883324" name="Shape 11"/>
          <p:cNvSpPr/>
          <p:nvPr/>
        </p:nvSpPr>
        <p:spPr bwMode="auto">
          <a:xfrm>
            <a:off x="6400800" y="2935718"/>
            <a:ext cx="1828800" cy="114300"/>
          </a:xfrm>
          <a:prstGeom prst="rect">
            <a:avLst/>
          </a:prstGeom>
          <a:solidFill>
            <a:srgbClr val="E5E7EB"/>
          </a:solidFill>
        </p:spPr>
      </p:sp>
      <p:sp>
        <p:nvSpPr>
          <p:cNvPr id="903577517" name="Shape 12"/>
          <p:cNvSpPr/>
          <p:nvPr/>
        </p:nvSpPr>
        <p:spPr bwMode="auto">
          <a:xfrm>
            <a:off x="800100" y="3421493"/>
            <a:ext cx="7543800" cy="614363"/>
          </a:xfrm>
          <a:prstGeom prst="rect">
            <a:avLst/>
          </a:prstGeom>
          <a:solidFill>
            <a:srgbClr val="FFFFFF">
              <a:alpha val="80000"/>
            </a:srgbClr>
          </a:solidFill>
          <a:ln w="9144">
            <a:solidFill>
              <a:srgbClr val="E5E7EB">
                <a:alpha val="80000"/>
              </a:srgbClr>
            </a:solidFill>
            <a:prstDash val="solid"/>
          </a:ln>
        </p:spPr>
      </p:sp>
      <p:sp>
        <p:nvSpPr>
          <p:cNvPr id="38116487" name="Text 13"/>
          <p:cNvSpPr/>
          <p:nvPr/>
        </p:nvSpPr>
        <p:spPr bwMode="auto">
          <a:xfrm>
            <a:off x="914400" y="3535793"/>
            <a:ext cx="927100" cy="116115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p>
            <a:pPr marL="0" indent="0" algn="l">
              <a:lnSpc>
                <a:spcPct val="114286"/>
              </a:lnSpc>
              <a:buNone/>
              <a:defRPr/>
            </a:pPr>
            <a:r>
              <a:rPr lang="en-US" sz="700" b="1">
                <a:solidFill>
                  <a:srgbClr val="6B7280"/>
                </a:solidFill>
                <a:latin typeface="Calibri"/>
                <a:ea typeface="Calibri"/>
                <a:cs typeface="Calibri"/>
              </a:rPr>
              <a:t>RANK 2 - ICD-11 CODE</a:t>
            </a:r>
            <a:endParaRPr lang="en-US" sz="700"/>
          </a:p>
        </p:txBody>
      </p:sp>
      <p:sp>
        <p:nvSpPr>
          <p:cNvPr id="1110746228" name="Text 14"/>
          <p:cNvSpPr/>
          <p:nvPr/>
        </p:nvSpPr>
        <p:spPr bwMode="auto">
          <a:xfrm>
            <a:off x="914400" y="3678668"/>
            <a:ext cx="2346276" cy="189654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p>
            <a:pPr marL="0" indent="0" algn="l">
              <a:lnSpc>
                <a:spcPct val="106667"/>
              </a:lnSpc>
              <a:buNone/>
              <a:defRPr/>
            </a:pPr>
            <a:r>
              <a:rPr lang="en-US" sz="1200" b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BA41.Z - Hypertension, unspecified</a:t>
            </a:r>
            <a:endParaRPr lang="en-US" sz="1200"/>
          </a:p>
        </p:txBody>
      </p:sp>
      <p:sp>
        <p:nvSpPr>
          <p:cNvPr id="309830015" name="Text 15"/>
          <p:cNvSpPr/>
          <p:nvPr/>
        </p:nvSpPr>
        <p:spPr bwMode="auto">
          <a:xfrm>
            <a:off x="6400800" y="3578656"/>
            <a:ext cx="469900" cy="116115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p>
            <a:pPr marL="0" indent="0" algn="l">
              <a:lnSpc>
                <a:spcPct val="114286"/>
              </a:lnSpc>
              <a:buNone/>
              <a:defRPr/>
            </a:pPr>
            <a:r>
              <a:rPr lang="en-US" sz="750">
                <a:solidFill>
                  <a:srgbClr val="374151"/>
                </a:solidFill>
                <a:latin typeface="Calibri"/>
                <a:ea typeface="Calibri"/>
                <a:cs typeface="Calibri"/>
              </a:rPr>
              <a:t>Confidence</a:t>
            </a:r>
            <a:endParaRPr lang="en-US" sz="750"/>
          </a:p>
        </p:txBody>
      </p:sp>
      <p:sp>
        <p:nvSpPr>
          <p:cNvPr id="1667778462" name="Text 16"/>
          <p:cNvSpPr/>
          <p:nvPr/>
        </p:nvSpPr>
        <p:spPr bwMode="auto">
          <a:xfrm>
            <a:off x="8058150" y="3578656"/>
            <a:ext cx="177800" cy="116115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p>
            <a:pPr marL="0" indent="0" algn="l">
              <a:lnSpc>
                <a:spcPct val="114286"/>
              </a:lnSpc>
              <a:buNone/>
              <a:defRPr/>
            </a:pPr>
            <a:r>
              <a:rPr lang="en-US" sz="750">
                <a:solidFill>
                  <a:srgbClr val="374151"/>
                </a:solidFill>
                <a:latin typeface="Calibri"/>
                <a:ea typeface="Calibri"/>
                <a:cs typeface="Calibri"/>
              </a:rPr>
              <a:t>85%</a:t>
            </a:r>
            <a:endParaRPr lang="en-US" sz="750"/>
          </a:p>
        </p:txBody>
      </p:sp>
      <p:sp>
        <p:nvSpPr>
          <p:cNvPr id="1689834793" name="Shape 17"/>
          <p:cNvSpPr/>
          <p:nvPr/>
        </p:nvSpPr>
        <p:spPr bwMode="auto">
          <a:xfrm>
            <a:off x="6400800" y="3750106"/>
            <a:ext cx="1828800" cy="114300"/>
          </a:xfrm>
          <a:prstGeom prst="rect">
            <a:avLst/>
          </a:prstGeom>
          <a:solidFill>
            <a:srgbClr val="E5E7EB"/>
          </a:solidFill>
        </p:spPr>
      </p:sp>
      <p:sp>
        <p:nvSpPr>
          <p:cNvPr id="498744495" name="Shape 18"/>
          <p:cNvSpPr/>
          <p:nvPr/>
        </p:nvSpPr>
        <p:spPr bwMode="auto">
          <a:xfrm>
            <a:off x="800100" y="4135868"/>
            <a:ext cx="7543800" cy="614363"/>
          </a:xfrm>
          <a:prstGeom prst="rect">
            <a:avLst/>
          </a:prstGeom>
          <a:solidFill>
            <a:srgbClr val="FFFFFF">
              <a:alpha val="60000"/>
            </a:srgbClr>
          </a:solidFill>
          <a:ln w="9144">
            <a:solidFill>
              <a:srgbClr val="E5E7EB">
                <a:alpha val="60000"/>
              </a:srgbClr>
            </a:solidFill>
            <a:prstDash val="solid"/>
          </a:ln>
        </p:spPr>
      </p:sp>
      <p:sp>
        <p:nvSpPr>
          <p:cNvPr id="68543105" name="Text 19"/>
          <p:cNvSpPr/>
          <p:nvPr/>
        </p:nvSpPr>
        <p:spPr bwMode="auto">
          <a:xfrm>
            <a:off x="914400" y="4250168"/>
            <a:ext cx="927100" cy="116115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p>
            <a:pPr marL="0" indent="0" algn="l">
              <a:lnSpc>
                <a:spcPct val="114286"/>
              </a:lnSpc>
              <a:buNone/>
              <a:defRPr/>
            </a:pPr>
            <a:r>
              <a:rPr lang="en-US" sz="700" b="1">
                <a:solidFill>
                  <a:srgbClr val="6B7280"/>
                </a:solidFill>
                <a:latin typeface="Calibri"/>
                <a:ea typeface="Calibri"/>
                <a:cs typeface="Calibri"/>
              </a:rPr>
              <a:t>RANK 3 - ICD-11 CODE</a:t>
            </a:r>
            <a:endParaRPr lang="en-US" sz="700"/>
          </a:p>
        </p:txBody>
      </p:sp>
      <p:sp>
        <p:nvSpPr>
          <p:cNvPr id="1029431689" name="Text 20"/>
          <p:cNvSpPr/>
          <p:nvPr/>
        </p:nvSpPr>
        <p:spPr bwMode="auto">
          <a:xfrm>
            <a:off x="914400" y="4393043"/>
            <a:ext cx="2304703" cy="189654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p>
            <a:pPr marL="0" indent="0" algn="l">
              <a:lnSpc>
                <a:spcPct val="106667"/>
              </a:lnSpc>
              <a:buNone/>
              <a:defRPr/>
            </a:pPr>
            <a:r>
              <a:rPr lang="en-US" sz="1200" b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BC40.0 - Secondary Hypertension</a:t>
            </a:r>
            <a:endParaRPr lang="en-US" sz="1200"/>
          </a:p>
        </p:txBody>
      </p:sp>
      <p:sp>
        <p:nvSpPr>
          <p:cNvPr id="1516383734" name="Text 21"/>
          <p:cNvSpPr/>
          <p:nvPr/>
        </p:nvSpPr>
        <p:spPr bwMode="auto">
          <a:xfrm>
            <a:off x="6400800" y="4293031"/>
            <a:ext cx="469900" cy="116115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p>
            <a:pPr marL="0" indent="0" algn="l">
              <a:lnSpc>
                <a:spcPct val="114286"/>
              </a:lnSpc>
              <a:buNone/>
              <a:defRPr/>
            </a:pPr>
            <a:r>
              <a:rPr lang="en-US" sz="750">
                <a:solidFill>
                  <a:srgbClr val="374151"/>
                </a:solidFill>
                <a:latin typeface="Calibri"/>
                <a:ea typeface="Calibri"/>
                <a:cs typeface="Calibri"/>
              </a:rPr>
              <a:t>Confidence</a:t>
            </a:r>
            <a:endParaRPr lang="en-US" sz="750"/>
          </a:p>
        </p:txBody>
      </p:sp>
      <p:sp>
        <p:nvSpPr>
          <p:cNvPr id="1324172729" name="Text 22"/>
          <p:cNvSpPr/>
          <p:nvPr/>
        </p:nvSpPr>
        <p:spPr bwMode="auto">
          <a:xfrm>
            <a:off x="8058150" y="4293031"/>
            <a:ext cx="177452" cy="116115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p>
            <a:pPr marL="0" indent="0" algn="l">
              <a:lnSpc>
                <a:spcPct val="114286"/>
              </a:lnSpc>
              <a:buNone/>
              <a:defRPr/>
            </a:pPr>
            <a:r>
              <a:rPr lang="en-US" sz="750">
                <a:solidFill>
                  <a:srgbClr val="374151"/>
                </a:solidFill>
                <a:latin typeface="Calibri"/>
                <a:ea typeface="Calibri"/>
                <a:cs typeface="Calibri"/>
              </a:rPr>
              <a:t>72%</a:t>
            </a:r>
            <a:endParaRPr lang="en-US" sz="750"/>
          </a:p>
        </p:txBody>
      </p:sp>
      <p:sp>
        <p:nvSpPr>
          <p:cNvPr id="401291799" name="Shape 23"/>
          <p:cNvSpPr/>
          <p:nvPr/>
        </p:nvSpPr>
        <p:spPr bwMode="auto">
          <a:xfrm>
            <a:off x="6400800" y="4464481"/>
            <a:ext cx="1828800" cy="114300"/>
          </a:xfrm>
          <a:prstGeom prst="rect">
            <a:avLst/>
          </a:prstGeom>
          <a:solidFill>
            <a:srgbClr val="E5E7EB"/>
          </a:solidFill>
        </p:spPr>
      </p:sp>
      <p:sp>
        <p:nvSpPr>
          <p:cNvPr id="1367545464" name="Text 24"/>
          <p:cNvSpPr/>
          <p:nvPr/>
        </p:nvSpPr>
        <p:spPr bwMode="auto">
          <a:xfrm>
            <a:off x="8915400" y="5057412"/>
            <a:ext cx="113408" cy="13716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p>
            <a:pPr marL="0" indent="0" algn="l">
              <a:lnSpc>
                <a:spcPct val="120000"/>
              </a:lnSpc>
              <a:buNone/>
              <a:defRPr/>
            </a:pPr>
            <a:r>
              <a:rPr lang="en-US" sz="850">
                <a:solidFill>
                  <a:srgbClr val="898989"/>
                </a:solidFill>
                <a:latin typeface="Calibri"/>
                <a:ea typeface="Calibri"/>
                <a:cs typeface="Calibri"/>
              </a:rPr>
              <a:t>24</a:t>
            </a:r>
            <a:endParaRPr lang="en-US" sz="850"/>
          </a:p>
        </p:txBody>
      </p:sp>
      <p:pic>
        <p:nvPicPr>
          <p:cNvPr id="1987661346" name="Image 2" descr="preencoded.png"/>
          <p:cNvPicPr>
            <a:picLocks noChangeAspect="1"/>
          </p:cNvPicPr>
          <p:nvPr/>
        </p:nvPicPr>
        <p:blipFill rotWithShape="1">
          <a:blip r:embed="rId5"/>
          <a:stretch/>
        </p:blipFill>
        <p:spPr bwMode="auto">
          <a:xfrm>
            <a:off x="0" y="5278868"/>
            <a:ext cx="9144000" cy="88582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1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412854850" name="Image 0" descr="preencoded.png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0" y="0"/>
            <a:ext cx="9144000" cy="5561409"/>
          </a:xfrm>
          <a:prstGeom prst="rect">
            <a:avLst/>
          </a:prstGeom>
        </p:spPr>
      </p:pic>
      <p:pic>
        <p:nvPicPr>
          <p:cNvPr id="524962503" name="Image 1" descr="preencoded.png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>
            <a:off x="160734" y="0"/>
            <a:ext cx="8822531" cy="978694"/>
          </a:xfrm>
          <a:prstGeom prst="rect">
            <a:avLst/>
          </a:prstGeom>
        </p:spPr>
      </p:pic>
      <p:sp>
        <p:nvSpPr>
          <p:cNvPr id="702262955" name="Text 0"/>
          <p:cNvSpPr/>
          <p:nvPr/>
        </p:nvSpPr>
        <p:spPr bwMode="auto">
          <a:xfrm>
            <a:off x="628649" y="1264443"/>
            <a:ext cx="5181338" cy="494135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p>
            <a:pPr marL="0" indent="0" algn="l">
              <a:lnSpc>
                <a:spcPct val="120000"/>
              </a:lnSpc>
              <a:buNone/>
              <a:defRPr/>
            </a:pPr>
            <a:r>
              <a:rPr lang="en-US" sz="27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Output – Clinician Review Workflow</a:t>
            </a:r>
            <a:endParaRPr sz="2700" b="0"/>
          </a:p>
        </p:txBody>
      </p:sp>
      <p:sp>
        <p:nvSpPr>
          <p:cNvPr id="611621230" name="Text 1"/>
          <p:cNvSpPr/>
          <p:nvPr/>
        </p:nvSpPr>
        <p:spPr bwMode="auto">
          <a:xfrm>
            <a:off x="1257299" y="2275283"/>
            <a:ext cx="2000610" cy="58557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marL="127000" indent="-127000" algn="l">
              <a:lnSpc>
                <a:spcPct val="128000"/>
              </a:lnSpc>
              <a:buSzPct val="100000"/>
              <a:buChar char="•"/>
              <a:defRPr/>
            </a:pPr>
            <a:r>
              <a:rPr lang="en-US" sz="1500">
                <a:solidFill>
                  <a:srgbClr val="333333"/>
                </a:solidFill>
                <a:latin typeface="Times New Roman"/>
                <a:ea typeface="Times New Roman"/>
                <a:cs typeface="Times New Roman"/>
              </a:rPr>
              <a:t>Approval/rejection system</a:t>
            </a:r>
            <a:endParaRPr sz="1500">
              <a:latin typeface="Times New Roman"/>
              <a:cs typeface="Times New Roman"/>
            </a:endParaRPr>
          </a:p>
        </p:txBody>
      </p:sp>
      <p:sp>
        <p:nvSpPr>
          <p:cNvPr id="1863638255" name="Text 2"/>
          <p:cNvSpPr/>
          <p:nvPr/>
        </p:nvSpPr>
        <p:spPr bwMode="auto">
          <a:xfrm>
            <a:off x="1257299" y="2915319"/>
            <a:ext cx="1836247" cy="292968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p>
            <a:pPr marL="127000" indent="-127000" algn="l">
              <a:lnSpc>
                <a:spcPct val="128000"/>
              </a:lnSpc>
              <a:buSzPct val="100000"/>
              <a:buChar char="•"/>
              <a:defRPr/>
            </a:pPr>
            <a:r>
              <a:rPr lang="en-US" sz="1500">
                <a:solidFill>
                  <a:srgbClr val="333333"/>
                </a:solidFill>
                <a:latin typeface="Times New Roman"/>
                <a:ea typeface="Times New Roman"/>
                <a:cs typeface="Times New Roman"/>
              </a:rPr>
              <a:t>Governance workflow</a:t>
            </a:r>
            <a:endParaRPr sz="1500">
              <a:latin typeface="Times New Roman"/>
              <a:cs typeface="Times New Roman"/>
            </a:endParaRPr>
          </a:p>
        </p:txBody>
      </p:sp>
      <p:sp>
        <p:nvSpPr>
          <p:cNvPr id="543977344" name="Text 3"/>
          <p:cNvSpPr/>
          <p:nvPr/>
        </p:nvSpPr>
        <p:spPr bwMode="auto">
          <a:xfrm>
            <a:off x="1257299" y="3235336"/>
            <a:ext cx="1233403" cy="292968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p>
            <a:pPr marL="127000" indent="-127000" algn="l">
              <a:lnSpc>
                <a:spcPct val="128000"/>
              </a:lnSpc>
              <a:buSzPct val="100000"/>
              <a:buChar char="•"/>
              <a:defRPr/>
            </a:pPr>
            <a:r>
              <a:rPr lang="en-US" sz="1500">
                <a:solidFill>
                  <a:srgbClr val="333333"/>
                </a:solidFill>
                <a:latin typeface="Times New Roman"/>
                <a:ea typeface="Times New Roman"/>
                <a:cs typeface="Times New Roman"/>
              </a:rPr>
              <a:t>Audit tracking</a:t>
            </a:r>
            <a:endParaRPr sz="1500">
              <a:latin typeface="Times New Roman"/>
              <a:cs typeface="Times New Roman"/>
            </a:endParaRPr>
          </a:p>
        </p:txBody>
      </p:sp>
      <p:sp>
        <p:nvSpPr>
          <p:cNvPr id="1480727485" name="Shape 4"/>
          <p:cNvSpPr/>
          <p:nvPr/>
        </p:nvSpPr>
        <p:spPr bwMode="auto">
          <a:xfrm>
            <a:off x="3749079" y="1905237"/>
            <a:ext cx="4286250" cy="2500313"/>
          </a:xfrm>
          <a:prstGeom prst="rect">
            <a:avLst/>
          </a:prstGeom>
          <a:solidFill>
            <a:srgbClr val="F9F9F9"/>
          </a:solidFill>
          <a:ln w="18288">
            <a:solidFill>
              <a:srgbClr val="CCCCCC"/>
            </a:solidFill>
            <a:prstDash val="solid"/>
          </a:ln>
        </p:spPr>
      </p:sp>
      <p:sp>
        <p:nvSpPr>
          <p:cNvPr id="167445636" name="Shape 5"/>
          <p:cNvSpPr/>
          <p:nvPr/>
        </p:nvSpPr>
        <p:spPr bwMode="auto">
          <a:xfrm>
            <a:off x="3743325" y="2060972"/>
            <a:ext cx="4286250" cy="335756"/>
          </a:xfrm>
          <a:prstGeom prst="rect">
            <a:avLst/>
          </a:prstGeom>
          <a:solidFill>
            <a:srgbClr val="333333"/>
          </a:solidFill>
        </p:spPr>
      </p:sp>
      <p:sp>
        <p:nvSpPr>
          <p:cNvPr id="1045550880" name="Text 6"/>
          <p:cNvSpPr/>
          <p:nvPr/>
        </p:nvSpPr>
        <p:spPr bwMode="auto">
          <a:xfrm>
            <a:off x="3814763" y="2132409"/>
            <a:ext cx="1403747" cy="15240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p>
            <a:pPr marL="0" indent="0" algn="l">
              <a:lnSpc>
                <a:spcPct val="120000"/>
              </a:lnSpc>
              <a:buNone/>
              <a:defRPr/>
            </a:pPr>
            <a:r>
              <a:rPr lang="en-US" sz="95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Clinician Review Dashboard</a:t>
            </a:r>
            <a:endParaRPr lang="en-US" sz="950"/>
          </a:p>
        </p:txBody>
      </p:sp>
      <p:sp>
        <p:nvSpPr>
          <p:cNvPr id="1661469119" name="Text 7"/>
          <p:cNvSpPr/>
          <p:nvPr/>
        </p:nvSpPr>
        <p:spPr bwMode="auto">
          <a:xfrm>
            <a:off x="3886200" y="2539603"/>
            <a:ext cx="1160413" cy="224536"/>
          </a:xfrm>
          <a:prstGeom prst="rect">
            <a:avLst/>
          </a:prstGeom>
          <a:noFill/>
        </p:spPr>
        <p:txBody>
          <a:bodyPr wrap="none" lIns="0" tIns="0" rIns="0" bIns="68072" rtlCol="0" anchor="t">
            <a:spAutoFit/>
          </a:bodyPr>
          <a:p>
            <a:pPr marL="0" indent="0" algn="l">
              <a:lnSpc>
                <a:spcPct val="112000"/>
              </a:lnSpc>
              <a:buNone/>
              <a:defRPr/>
            </a:pPr>
            <a:r>
              <a:rPr lang="en-US" sz="1000" b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Mapping Verification</a:t>
            </a:r>
            <a:endParaRPr lang="en-US" sz="1000"/>
          </a:p>
        </p:txBody>
      </p:sp>
      <p:sp>
        <p:nvSpPr>
          <p:cNvPr id="247398872" name="Shape 8"/>
          <p:cNvSpPr/>
          <p:nvPr/>
        </p:nvSpPr>
        <p:spPr bwMode="auto">
          <a:xfrm>
            <a:off x="3886200" y="2918221"/>
            <a:ext cx="4000500" cy="385762"/>
          </a:xfrm>
          <a:prstGeom prst="rect">
            <a:avLst/>
          </a:prstGeom>
          <a:solidFill>
            <a:srgbClr val="FFFFFF"/>
          </a:solidFill>
          <a:ln w="9144">
            <a:solidFill>
              <a:srgbClr val="E5E7EB"/>
            </a:solidFill>
            <a:prstDash val="solid"/>
          </a:ln>
        </p:spPr>
      </p:sp>
      <p:sp>
        <p:nvSpPr>
          <p:cNvPr id="150875336" name="Text 9"/>
          <p:cNvSpPr/>
          <p:nvPr/>
        </p:nvSpPr>
        <p:spPr bwMode="auto">
          <a:xfrm>
            <a:off x="3971925" y="3018234"/>
            <a:ext cx="936029" cy="13716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p>
            <a:pPr marL="0" indent="0" algn="l">
              <a:lnSpc>
                <a:spcPct val="120000"/>
              </a:lnSpc>
              <a:buNone/>
              <a:defRPr/>
            </a:pPr>
            <a:r>
              <a:rPr lang="en-US" sz="85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NAMASTE: </a:t>
            </a:r>
            <a:r>
              <a:rPr lang="en-US" sz="850" i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Amavata</a:t>
            </a:r>
            <a:endParaRPr lang="en-US" sz="850"/>
          </a:p>
        </p:txBody>
      </p:sp>
      <p:sp>
        <p:nvSpPr>
          <p:cNvPr id="1251275366" name="Text 10"/>
          <p:cNvSpPr/>
          <p:nvPr/>
        </p:nvSpPr>
        <p:spPr bwMode="auto">
          <a:xfrm>
            <a:off x="5049431" y="3018234"/>
            <a:ext cx="101600" cy="13716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p>
            <a:pPr marL="0" indent="0" algn="l">
              <a:lnSpc>
                <a:spcPct val="120000"/>
              </a:lnSpc>
              <a:buNone/>
              <a:defRPr/>
            </a:pPr>
            <a:r>
              <a:rPr lang="en-US" sz="850">
                <a:solidFill>
                  <a:srgbClr val="2563EB"/>
                </a:solidFill>
                <a:latin typeface="Calibri"/>
                <a:ea typeface="Calibri"/>
                <a:cs typeface="Calibri"/>
              </a:rPr>
              <a:t>→</a:t>
            </a:r>
            <a:endParaRPr lang="en-US" sz="850"/>
          </a:p>
        </p:txBody>
      </p:sp>
      <p:sp>
        <p:nvSpPr>
          <p:cNvPr id="1597345698" name="Text 11"/>
          <p:cNvSpPr/>
          <p:nvPr/>
        </p:nvSpPr>
        <p:spPr bwMode="auto">
          <a:xfrm>
            <a:off x="5314336" y="3018234"/>
            <a:ext cx="1283097" cy="13716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p>
            <a:pPr marL="0" indent="0" algn="l">
              <a:lnSpc>
                <a:spcPct val="120000"/>
              </a:lnSpc>
              <a:buNone/>
              <a:defRPr/>
            </a:pPr>
            <a:r>
              <a:rPr lang="en-US" sz="85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ICD-11: Rheumatoid Arthritis</a:t>
            </a:r>
            <a:endParaRPr lang="en-US" sz="850"/>
          </a:p>
        </p:txBody>
      </p:sp>
      <p:sp>
        <p:nvSpPr>
          <p:cNvPr id="429254697" name="Shape 12"/>
          <p:cNvSpPr/>
          <p:nvPr/>
        </p:nvSpPr>
        <p:spPr bwMode="auto">
          <a:xfrm>
            <a:off x="6804394" y="3003947"/>
            <a:ext cx="514350" cy="200025"/>
          </a:xfrm>
          <a:prstGeom prst="rect">
            <a:avLst/>
          </a:prstGeom>
          <a:solidFill>
            <a:srgbClr val="16A34A"/>
          </a:solidFill>
        </p:spPr>
      </p:sp>
      <p:sp>
        <p:nvSpPr>
          <p:cNvPr id="1868031050" name="Text 13"/>
          <p:cNvSpPr/>
          <p:nvPr/>
        </p:nvSpPr>
        <p:spPr bwMode="auto">
          <a:xfrm>
            <a:off x="6804394" y="3003947"/>
            <a:ext cx="541907" cy="184187"/>
          </a:xfrm>
          <a:prstGeom prst="rect">
            <a:avLst/>
          </a:prstGeom>
          <a:noFill/>
        </p:spPr>
        <p:txBody>
          <a:bodyPr wrap="none" lIns="102108" tIns="34036" rIns="102108" bIns="34036" rtlCol="0" anchor="t">
            <a:spAutoFit/>
          </a:bodyPr>
          <a:p>
            <a:pPr marL="0" indent="0" algn="ctr">
              <a:lnSpc>
                <a:spcPct val="114286"/>
              </a:lnSpc>
              <a:buNone/>
              <a:defRPr/>
            </a:pPr>
            <a:r>
              <a:rPr lang="en-US" sz="75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Approve</a:t>
            </a:r>
            <a:endParaRPr lang="en-US" sz="750"/>
          </a:p>
        </p:txBody>
      </p:sp>
      <p:sp>
        <p:nvSpPr>
          <p:cNvPr id="1840203673" name="Shape 14"/>
          <p:cNvSpPr/>
          <p:nvPr/>
        </p:nvSpPr>
        <p:spPr bwMode="auto">
          <a:xfrm>
            <a:off x="7375894" y="3003947"/>
            <a:ext cx="425053" cy="200025"/>
          </a:xfrm>
          <a:prstGeom prst="rect">
            <a:avLst/>
          </a:prstGeom>
          <a:solidFill>
            <a:srgbClr val="DC2626"/>
          </a:solidFill>
        </p:spPr>
      </p:sp>
      <p:sp>
        <p:nvSpPr>
          <p:cNvPr id="1950436149" name="Text 15"/>
          <p:cNvSpPr/>
          <p:nvPr/>
        </p:nvSpPr>
        <p:spPr bwMode="auto">
          <a:xfrm>
            <a:off x="7375894" y="3003947"/>
            <a:ext cx="425053" cy="200025"/>
          </a:xfrm>
          <a:prstGeom prst="rect">
            <a:avLst/>
          </a:prstGeom>
          <a:noFill/>
        </p:spPr>
        <p:txBody>
          <a:bodyPr wrap="none" lIns="102108" tIns="34036" rIns="102108" bIns="34036" rtlCol="0" anchor="t">
            <a:spAutoFit/>
          </a:bodyPr>
          <a:p>
            <a:pPr marL="0" indent="0" algn="ctr">
              <a:lnSpc>
                <a:spcPct val="114286"/>
              </a:lnSpc>
              <a:buNone/>
              <a:defRPr/>
            </a:pPr>
            <a:r>
              <a:rPr lang="en-US" sz="75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Reject</a:t>
            </a:r>
            <a:endParaRPr lang="en-US" sz="750"/>
          </a:p>
        </p:txBody>
      </p:sp>
      <p:sp>
        <p:nvSpPr>
          <p:cNvPr id="1360376657" name="Shape 16"/>
          <p:cNvSpPr/>
          <p:nvPr/>
        </p:nvSpPr>
        <p:spPr bwMode="auto">
          <a:xfrm>
            <a:off x="3886200" y="3403997"/>
            <a:ext cx="4000500" cy="385762"/>
          </a:xfrm>
          <a:prstGeom prst="rect">
            <a:avLst/>
          </a:prstGeom>
          <a:solidFill>
            <a:srgbClr val="FFFFFF"/>
          </a:solidFill>
          <a:ln w="9144">
            <a:solidFill>
              <a:srgbClr val="E5E7EB"/>
            </a:solidFill>
            <a:prstDash val="solid"/>
          </a:ln>
        </p:spPr>
      </p:sp>
      <p:sp>
        <p:nvSpPr>
          <p:cNvPr id="1494627632" name="Text 17"/>
          <p:cNvSpPr/>
          <p:nvPr/>
        </p:nvSpPr>
        <p:spPr bwMode="auto">
          <a:xfrm>
            <a:off x="3971925" y="3504009"/>
            <a:ext cx="809773" cy="13716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p>
            <a:pPr marL="0" indent="0" algn="l">
              <a:lnSpc>
                <a:spcPct val="120000"/>
              </a:lnSpc>
              <a:buNone/>
              <a:defRPr/>
            </a:pPr>
            <a:r>
              <a:rPr lang="en-US" sz="85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NAMASTE: </a:t>
            </a:r>
            <a:r>
              <a:rPr lang="en-US" sz="850" i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Jwara</a:t>
            </a:r>
            <a:endParaRPr lang="en-US" sz="850"/>
          </a:p>
        </p:txBody>
      </p:sp>
      <p:sp>
        <p:nvSpPr>
          <p:cNvPr id="1324746603" name="Text 18"/>
          <p:cNvSpPr/>
          <p:nvPr/>
        </p:nvSpPr>
        <p:spPr bwMode="auto">
          <a:xfrm>
            <a:off x="5001211" y="3504009"/>
            <a:ext cx="101600" cy="13716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p>
            <a:pPr marL="0" indent="0" algn="l">
              <a:lnSpc>
                <a:spcPct val="120000"/>
              </a:lnSpc>
              <a:buNone/>
              <a:defRPr/>
            </a:pPr>
            <a:r>
              <a:rPr lang="en-US" sz="850">
                <a:solidFill>
                  <a:srgbClr val="2563EB"/>
                </a:solidFill>
                <a:latin typeface="Calibri"/>
                <a:ea typeface="Calibri"/>
                <a:cs typeface="Calibri"/>
              </a:rPr>
              <a:t>→</a:t>
            </a:r>
            <a:endParaRPr lang="en-US" sz="850"/>
          </a:p>
        </p:txBody>
      </p:sp>
      <p:sp>
        <p:nvSpPr>
          <p:cNvPr id="1171999755" name="Text 19"/>
          <p:cNvSpPr/>
          <p:nvPr/>
        </p:nvSpPr>
        <p:spPr bwMode="auto">
          <a:xfrm>
            <a:off x="5358985" y="3504009"/>
            <a:ext cx="1143397" cy="13716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p>
            <a:pPr marL="0" indent="0" algn="l">
              <a:lnSpc>
                <a:spcPct val="120000"/>
              </a:lnSpc>
              <a:buNone/>
              <a:defRPr/>
            </a:pPr>
            <a:r>
              <a:rPr lang="en-US" sz="85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ICD-11: Fever, unspecified</a:t>
            </a:r>
            <a:endParaRPr lang="en-US" sz="850"/>
          </a:p>
        </p:txBody>
      </p:sp>
      <p:sp>
        <p:nvSpPr>
          <p:cNvPr id="364245732" name="Shape 20"/>
          <p:cNvSpPr/>
          <p:nvPr/>
        </p:nvSpPr>
        <p:spPr bwMode="auto">
          <a:xfrm>
            <a:off x="6804394" y="3489721"/>
            <a:ext cx="514350" cy="200025"/>
          </a:xfrm>
          <a:prstGeom prst="rect">
            <a:avLst/>
          </a:prstGeom>
          <a:solidFill>
            <a:srgbClr val="16A34A"/>
          </a:solidFill>
        </p:spPr>
      </p:sp>
      <p:sp>
        <p:nvSpPr>
          <p:cNvPr id="725778472" name="Text 21"/>
          <p:cNvSpPr/>
          <p:nvPr/>
        </p:nvSpPr>
        <p:spPr bwMode="auto">
          <a:xfrm>
            <a:off x="6804394" y="3489721"/>
            <a:ext cx="541907" cy="184187"/>
          </a:xfrm>
          <a:prstGeom prst="rect">
            <a:avLst/>
          </a:prstGeom>
          <a:noFill/>
        </p:spPr>
        <p:txBody>
          <a:bodyPr wrap="none" lIns="102108" tIns="34036" rIns="102108" bIns="34036" rtlCol="0" anchor="t">
            <a:spAutoFit/>
          </a:bodyPr>
          <a:p>
            <a:pPr marL="0" indent="0" algn="ctr">
              <a:lnSpc>
                <a:spcPct val="114286"/>
              </a:lnSpc>
              <a:buNone/>
              <a:defRPr/>
            </a:pPr>
            <a:r>
              <a:rPr lang="en-US" sz="75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Approve</a:t>
            </a:r>
            <a:endParaRPr lang="en-US" sz="750"/>
          </a:p>
        </p:txBody>
      </p:sp>
      <p:sp>
        <p:nvSpPr>
          <p:cNvPr id="471190971" name="Shape 22"/>
          <p:cNvSpPr/>
          <p:nvPr/>
        </p:nvSpPr>
        <p:spPr bwMode="auto">
          <a:xfrm>
            <a:off x="7375894" y="3489721"/>
            <a:ext cx="425053" cy="200025"/>
          </a:xfrm>
          <a:prstGeom prst="rect">
            <a:avLst/>
          </a:prstGeom>
          <a:solidFill>
            <a:srgbClr val="DC2626"/>
          </a:solidFill>
        </p:spPr>
      </p:sp>
      <p:sp>
        <p:nvSpPr>
          <p:cNvPr id="1833130897" name="Text 23"/>
          <p:cNvSpPr/>
          <p:nvPr/>
        </p:nvSpPr>
        <p:spPr bwMode="auto">
          <a:xfrm>
            <a:off x="7375894" y="3489721"/>
            <a:ext cx="425053" cy="200025"/>
          </a:xfrm>
          <a:prstGeom prst="rect">
            <a:avLst/>
          </a:prstGeom>
          <a:noFill/>
        </p:spPr>
        <p:txBody>
          <a:bodyPr wrap="none" lIns="102108" tIns="34036" rIns="102108" bIns="34036" rtlCol="0" anchor="t">
            <a:spAutoFit/>
          </a:bodyPr>
          <a:p>
            <a:pPr marL="0" indent="0" algn="ctr">
              <a:lnSpc>
                <a:spcPct val="114286"/>
              </a:lnSpc>
              <a:buNone/>
              <a:defRPr/>
            </a:pPr>
            <a:r>
              <a:rPr lang="en-US" sz="75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Reject</a:t>
            </a:r>
            <a:endParaRPr lang="en-US" sz="750"/>
          </a:p>
        </p:txBody>
      </p:sp>
      <p:sp>
        <p:nvSpPr>
          <p:cNvPr id="2114317790" name="Text 24"/>
          <p:cNvSpPr/>
          <p:nvPr/>
        </p:nvSpPr>
        <p:spPr bwMode="auto">
          <a:xfrm>
            <a:off x="3886200" y="3889772"/>
            <a:ext cx="2006005" cy="116115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p>
            <a:pPr marL="0" indent="0" algn="l">
              <a:lnSpc>
                <a:spcPct val="114286"/>
              </a:lnSpc>
              <a:buNone/>
              <a:defRPr/>
            </a:pPr>
            <a:r>
              <a:rPr lang="en-US" sz="750" i="1">
                <a:solidFill>
                  <a:srgbClr val="6B7280"/>
                </a:solidFill>
                <a:latin typeface="Calibri"/>
                <a:ea typeface="Calibri"/>
                <a:cs typeface="Calibri"/>
              </a:rPr>
              <a:t>* Audit Log: User Dr. Sharma logged in at 10:45 AM</a:t>
            </a:r>
            <a:endParaRPr lang="en-US" sz="750"/>
          </a:p>
        </p:txBody>
      </p:sp>
      <p:pic>
        <p:nvPicPr>
          <p:cNvPr id="977113102" name="Image 2" descr="preencoded.png"/>
          <p:cNvPicPr>
            <a:picLocks noChangeAspect="1"/>
          </p:cNvPicPr>
          <p:nvPr/>
        </p:nvPicPr>
        <p:blipFill rotWithShape="1">
          <a:blip r:embed="rId5"/>
          <a:stretch/>
        </p:blipFill>
        <p:spPr bwMode="auto">
          <a:xfrm flipH="0" flipV="0">
            <a:off x="0" y="4561284"/>
            <a:ext cx="9101137" cy="59970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2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617758470" name="Image 0" descr="preencoded.png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0" y="0"/>
            <a:ext cx="9144000" cy="5609853"/>
          </a:xfrm>
          <a:prstGeom prst="rect">
            <a:avLst/>
          </a:prstGeom>
        </p:spPr>
      </p:pic>
      <p:pic>
        <p:nvPicPr>
          <p:cNvPr id="2117944826" name="Image 1" descr="preencoded.png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>
            <a:off x="160734" y="0"/>
            <a:ext cx="8822531" cy="978694"/>
          </a:xfrm>
          <a:prstGeom prst="rect">
            <a:avLst/>
          </a:prstGeom>
        </p:spPr>
      </p:pic>
      <p:sp>
        <p:nvSpPr>
          <p:cNvPr id="552324027" name="Text 0"/>
          <p:cNvSpPr/>
          <p:nvPr/>
        </p:nvSpPr>
        <p:spPr bwMode="auto">
          <a:xfrm>
            <a:off x="628649" y="1264443"/>
            <a:ext cx="1562841" cy="494135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p>
            <a:pPr marL="0" indent="0" algn="l">
              <a:lnSpc>
                <a:spcPct val="120000"/>
              </a:lnSpc>
              <a:buNone/>
              <a:defRPr/>
            </a:pPr>
            <a:r>
              <a:rPr lang="en-US" sz="27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Conclusion</a:t>
            </a:r>
            <a:endParaRPr sz="2700" b="0"/>
          </a:p>
        </p:txBody>
      </p:sp>
      <p:sp>
        <p:nvSpPr>
          <p:cNvPr id="1489498136" name="Text 1"/>
          <p:cNvSpPr/>
          <p:nvPr/>
        </p:nvSpPr>
        <p:spPr bwMode="auto">
          <a:xfrm>
            <a:off x="857250" y="1904443"/>
            <a:ext cx="4516438" cy="28448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p>
            <a:pPr marL="127000" indent="-127000" algn="l">
              <a:lnSpc>
                <a:spcPct val="112000"/>
              </a:lnSpc>
              <a:buSzPct val="100000"/>
              <a:buChar char="•"/>
              <a:defRPr/>
            </a:pPr>
            <a:r>
              <a:rPr lang="en-US" sz="17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Successfully integrated NAMASTE with ICD-11</a:t>
            </a:r>
            <a:endParaRPr lang="en-US" sz="1700"/>
          </a:p>
        </p:txBody>
      </p:sp>
      <p:sp>
        <p:nvSpPr>
          <p:cNvPr id="1950459591" name="Text 2"/>
          <p:cNvSpPr/>
          <p:nvPr/>
        </p:nvSpPr>
        <p:spPr bwMode="auto">
          <a:xfrm>
            <a:off x="857250" y="2331617"/>
            <a:ext cx="4546600" cy="28448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p>
            <a:pPr marL="127000" indent="-127000" algn="l">
              <a:lnSpc>
                <a:spcPct val="112000"/>
              </a:lnSpc>
              <a:buSzPct val="100000"/>
              <a:buChar char="•"/>
              <a:defRPr/>
            </a:pPr>
            <a:r>
              <a:rPr lang="en-US" sz="17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Implemented Explainable AI semantic mapping</a:t>
            </a:r>
            <a:endParaRPr lang="en-US" sz="1700"/>
          </a:p>
        </p:txBody>
      </p:sp>
      <p:sp>
        <p:nvSpPr>
          <p:cNvPr id="2137566617" name="Text 3"/>
          <p:cNvSpPr/>
          <p:nvPr/>
        </p:nvSpPr>
        <p:spPr bwMode="auto">
          <a:xfrm>
            <a:off x="857250" y="2804926"/>
            <a:ext cx="3260874" cy="28448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p>
            <a:pPr marL="127000" indent="-127000" algn="l">
              <a:lnSpc>
                <a:spcPct val="112000"/>
              </a:lnSpc>
              <a:buSzPct val="100000"/>
              <a:buChar char="•"/>
              <a:defRPr/>
            </a:pPr>
            <a:r>
              <a:rPr lang="en-US" sz="17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Achieved high mapping accuracy</a:t>
            </a:r>
            <a:endParaRPr lang="en-US" sz="1700"/>
          </a:p>
        </p:txBody>
      </p:sp>
      <p:sp>
        <p:nvSpPr>
          <p:cNvPr id="510175585" name="Text 4"/>
          <p:cNvSpPr/>
          <p:nvPr/>
        </p:nvSpPr>
        <p:spPr bwMode="auto">
          <a:xfrm>
            <a:off x="857250" y="3185965"/>
            <a:ext cx="3502571" cy="28448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p>
            <a:pPr marL="127000" indent="-127000" algn="l">
              <a:lnSpc>
                <a:spcPct val="112000"/>
              </a:lnSpc>
              <a:buSzPct val="100000"/>
              <a:buChar char="•"/>
              <a:defRPr/>
            </a:pPr>
            <a:r>
              <a:rPr lang="en-US" sz="17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Reduced manual coding complexity</a:t>
            </a:r>
            <a:endParaRPr lang="en-US" sz="1700"/>
          </a:p>
        </p:txBody>
      </p:sp>
      <p:sp>
        <p:nvSpPr>
          <p:cNvPr id="857554279" name="Text 5"/>
          <p:cNvSpPr/>
          <p:nvPr/>
        </p:nvSpPr>
        <p:spPr bwMode="auto">
          <a:xfrm>
            <a:off x="857250" y="3613140"/>
            <a:ext cx="4392414" cy="28448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p>
            <a:pPr marL="127000" indent="-127000" algn="l">
              <a:lnSpc>
                <a:spcPct val="112000"/>
              </a:lnSpc>
              <a:buSzPct val="100000"/>
              <a:buChar char="•"/>
              <a:defRPr/>
            </a:pPr>
            <a:r>
              <a:rPr lang="en-US" sz="17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Ensured secure and governed interoperability</a:t>
            </a:r>
            <a:endParaRPr lang="en-US" sz="1700"/>
          </a:p>
        </p:txBody>
      </p:sp>
      <p:sp>
        <p:nvSpPr>
          <p:cNvPr id="309822298" name="Text 6"/>
          <p:cNvSpPr/>
          <p:nvPr/>
        </p:nvSpPr>
        <p:spPr bwMode="auto">
          <a:xfrm>
            <a:off x="857250" y="3968727"/>
            <a:ext cx="4045149" cy="28448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p>
            <a:pPr marL="127000" indent="-127000" algn="l">
              <a:lnSpc>
                <a:spcPct val="112000"/>
              </a:lnSpc>
              <a:buSzPct val="100000"/>
              <a:buChar char="•"/>
              <a:defRPr/>
            </a:pPr>
            <a:r>
              <a:rPr lang="en-US" sz="17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Supports India’s digital healthcare mission</a:t>
            </a:r>
            <a:endParaRPr lang="en-US" sz="1700"/>
          </a:p>
        </p:txBody>
      </p:sp>
      <p:pic>
        <p:nvPicPr>
          <p:cNvPr id="1351716733" name="Image 2" descr="preencoded.png"/>
          <p:cNvPicPr>
            <a:picLocks noChangeAspect="1"/>
          </p:cNvPicPr>
          <p:nvPr/>
        </p:nvPicPr>
        <p:blipFill rotWithShape="1">
          <a:blip r:embed="rId5"/>
          <a:stretch/>
        </p:blipFill>
        <p:spPr bwMode="auto">
          <a:xfrm flipH="0" flipV="0">
            <a:off x="21430" y="4340681"/>
            <a:ext cx="9101137" cy="82031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3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555728263" name="Image 0" descr="preencoded.png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0" y="0"/>
            <a:ext cx="9144000" cy="5609853"/>
          </a:xfrm>
          <a:prstGeom prst="rect">
            <a:avLst/>
          </a:prstGeom>
        </p:spPr>
      </p:pic>
      <p:pic>
        <p:nvPicPr>
          <p:cNvPr id="811336707" name="Image 1" descr="preencoded.png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>
            <a:off x="160734" y="0"/>
            <a:ext cx="8822531" cy="978694"/>
          </a:xfrm>
          <a:prstGeom prst="rect">
            <a:avLst/>
          </a:prstGeom>
        </p:spPr>
      </p:pic>
      <p:sp>
        <p:nvSpPr>
          <p:cNvPr id="1404222591" name="Text 0"/>
          <p:cNvSpPr/>
          <p:nvPr/>
        </p:nvSpPr>
        <p:spPr bwMode="auto">
          <a:xfrm>
            <a:off x="628649" y="1264443"/>
            <a:ext cx="2847699" cy="494135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p>
            <a:pPr marL="0" indent="0" algn="l">
              <a:lnSpc>
                <a:spcPct val="120000"/>
              </a:lnSpc>
              <a:buNone/>
              <a:defRPr/>
            </a:pPr>
            <a:r>
              <a:rPr lang="en-US" sz="27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Future Enhancement</a:t>
            </a:r>
            <a:endParaRPr sz="2700" b="0"/>
          </a:p>
        </p:txBody>
      </p:sp>
      <p:sp>
        <p:nvSpPr>
          <p:cNvPr id="1872923084" name="Text 1"/>
          <p:cNvSpPr/>
          <p:nvPr/>
        </p:nvSpPr>
        <p:spPr bwMode="auto">
          <a:xfrm>
            <a:off x="857249" y="1900892"/>
            <a:ext cx="3458468" cy="28448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p>
            <a:pPr marL="127000" indent="-127000" algn="l">
              <a:lnSpc>
                <a:spcPct val="112000"/>
              </a:lnSpc>
              <a:buSzPct val="100000"/>
              <a:buChar char="•"/>
              <a:defRPr/>
            </a:pPr>
            <a:r>
              <a:rPr lang="en-US" sz="17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Integration with live ABHA systems</a:t>
            </a:r>
            <a:endParaRPr lang="en-US" sz="1700"/>
          </a:p>
        </p:txBody>
      </p:sp>
      <p:sp>
        <p:nvSpPr>
          <p:cNvPr id="786278705" name="Text 2"/>
          <p:cNvSpPr/>
          <p:nvPr/>
        </p:nvSpPr>
        <p:spPr bwMode="auto">
          <a:xfrm>
            <a:off x="857249" y="2287269"/>
            <a:ext cx="2781300" cy="28448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p>
            <a:pPr marL="127000" indent="-127000" algn="l">
              <a:lnSpc>
                <a:spcPct val="112000"/>
              </a:lnSpc>
              <a:buSzPct val="100000"/>
              <a:buChar char="•"/>
              <a:defRPr/>
            </a:pPr>
            <a:r>
              <a:rPr lang="en-US" sz="17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Multi-institution deployment</a:t>
            </a:r>
            <a:endParaRPr lang="en-US" sz="1700"/>
          </a:p>
        </p:txBody>
      </p:sp>
      <p:sp>
        <p:nvSpPr>
          <p:cNvPr id="288838725" name="Text 3"/>
          <p:cNvSpPr/>
          <p:nvPr/>
        </p:nvSpPr>
        <p:spPr bwMode="auto">
          <a:xfrm>
            <a:off x="857249" y="2662686"/>
            <a:ext cx="3573612" cy="28448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p>
            <a:pPr marL="127000" indent="-127000" algn="l">
              <a:lnSpc>
                <a:spcPct val="112000"/>
              </a:lnSpc>
              <a:buSzPct val="100000"/>
              <a:buChar char="•"/>
              <a:defRPr/>
            </a:pPr>
            <a:r>
              <a:rPr lang="en-US" sz="17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Fine-tuned AYUSH language models</a:t>
            </a:r>
            <a:endParaRPr lang="en-US" sz="1700"/>
          </a:p>
        </p:txBody>
      </p:sp>
      <p:sp>
        <p:nvSpPr>
          <p:cNvPr id="605299344" name="Text 4"/>
          <p:cNvSpPr/>
          <p:nvPr/>
        </p:nvSpPr>
        <p:spPr bwMode="auto">
          <a:xfrm>
            <a:off x="857249" y="3043724"/>
            <a:ext cx="2696022" cy="28448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p>
            <a:pPr marL="127000" indent="-127000" algn="l">
              <a:lnSpc>
                <a:spcPct val="112000"/>
              </a:lnSpc>
              <a:buSzPct val="100000"/>
              <a:buChar char="•"/>
              <a:defRPr/>
            </a:pPr>
            <a:r>
              <a:rPr lang="en-US" sz="17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Federated learning support</a:t>
            </a:r>
            <a:endParaRPr lang="en-US" sz="1700"/>
          </a:p>
        </p:txBody>
      </p:sp>
      <p:sp>
        <p:nvSpPr>
          <p:cNvPr id="1711331743" name="Text 5"/>
          <p:cNvSpPr/>
          <p:nvPr/>
        </p:nvSpPr>
        <p:spPr bwMode="auto">
          <a:xfrm>
            <a:off x="857250" y="3415201"/>
            <a:ext cx="2804517" cy="28448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p>
            <a:pPr marL="127000" indent="-127000" algn="l">
              <a:lnSpc>
                <a:spcPct val="112000"/>
              </a:lnSpc>
              <a:buSzPct val="100000"/>
              <a:buChar char="•"/>
              <a:defRPr/>
            </a:pPr>
            <a:r>
              <a:rPr lang="en-US" sz="17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Expanded validation dataset</a:t>
            </a:r>
            <a:endParaRPr lang="en-US" sz="1700"/>
          </a:p>
        </p:txBody>
      </p:sp>
      <p:sp>
        <p:nvSpPr>
          <p:cNvPr id="138031782" name="Text 6"/>
          <p:cNvSpPr/>
          <p:nvPr/>
        </p:nvSpPr>
        <p:spPr bwMode="auto">
          <a:xfrm>
            <a:off x="857250" y="3820318"/>
            <a:ext cx="3517801" cy="28448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p>
            <a:pPr marL="127000" indent="-127000" algn="l">
              <a:lnSpc>
                <a:spcPct val="112000"/>
              </a:lnSpc>
              <a:buSzPct val="100000"/>
              <a:buChar char="•"/>
              <a:defRPr/>
            </a:pPr>
            <a:r>
              <a:rPr lang="en-US" sz="17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Advanced explainability dashboards</a:t>
            </a:r>
            <a:endParaRPr lang="en-US" sz="1700"/>
          </a:p>
        </p:txBody>
      </p:sp>
      <p:pic>
        <p:nvPicPr>
          <p:cNvPr id="2017598756" name="Image 2" descr="preencoded.png"/>
          <p:cNvPicPr>
            <a:picLocks noChangeAspect="1"/>
          </p:cNvPicPr>
          <p:nvPr/>
        </p:nvPicPr>
        <p:blipFill rotWithShape="1">
          <a:blip r:embed="rId5"/>
          <a:stretch/>
        </p:blipFill>
        <p:spPr bwMode="auto">
          <a:xfrm flipH="0" flipV="0">
            <a:off x="21430" y="4301804"/>
            <a:ext cx="9101137" cy="85919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4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776073505" name="Image 0" descr="preencoded.png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0" y="0"/>
            <a:ext cx="9144000" cy="5446998"/>
          </a:xfrm>
          <a:prstGeom prst="rect">
            <a:avLst/>
          </a:prstGeom>
        </p:spPr>
      </p:pic>
      <p:pic>
        <p:nvPicPr>
          <p:cNvPr id="253285238" name="Image 1" descr="preencoded.png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>
            <a:off x="160734" y="0"/>
            <a:ext cx="8822531" cy="978694"/>
          </a:xfrm>
          <a:prstGeom prst="rect">
            <a:avLst/>
          </a:prstGeom>
        </p:spPr>
      </p:pic>
      <p:sp>
        <p:nvSpPr>
          <p:cNvPr id="671518573" name="Text 0"/>
          <p:cNvSpPr/>
          <p:nvPr/>
        </p:nvSpPr>
        <p:spPr bwMode="auto">
          <a:xfrm>
            <a:off x="628649" y="978693"/>
            <a:ext cx="1523664" cy="494135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p>
            <a:pPr marL="0" indent="0" algn="l">
              <a:lnSpc>
                <a:spcPct val="120000"/>
              </a:lnSpc>
              <a:buNone/>
              <a:defRPr/>
            </a:pPr>
            <a:r>
              <a:rPr lang="en-US" sz="27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References</a:t>
            </a:r>
            <a:endParaRPr lang="en-US" sz="2700"/>
          </a:p>
        </p:txBody>
      </p:sp>
      <p:sp>
        <p:nvSpPr>
          <p:cNvPr id="873176519" name="Text 1"/>
          <p:cNvSpPr/>
          <p:nvPr/>
        </p:nvSpPr>
        <p:spPr bwMode="auto">
          <a:xfrm flipH="0" flipV="0">
            <a:off x="857249" y="1466373"/>
            <a:ext cx="8339725" cy="58557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marL="0" indent="0" algn="l">
              <a:lnSpc>
                <a:spcPct val="128000"/>
              </a:lnSpc>
              <a:buNone/>
              <a:defRPr/>
            </a:pPr>
            <a:r>
              <a:rPr lang="en-US" sz="15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[1] </a:t>
            </a:r>
            <a:r>
              <a:rPr sz="15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M. Li et al., "Automated ICD-9 Coding via a Deep Learning Approach," IEEE/ACM Trans. Comput. Biol. Bioinf., vol. 16, no. 4, pp. 1331–1341, 2019</a:t>
            </a:r>
            <a:endParaRPr sz="1500"/>
          </a:p>
        </p:txBody>
      </p:sp>
      <p:sp>
        <p:nvSpPr>
          <p:cNvPr id="1573374731" name="Text 2"/>
          <p:cNvSpPr/>
          <p:nvPr/>
        </p:nvSpPr>
        <p:spPr bwMode="auto">
          <a:xfrm flipH="0" flipV="0">
            <a:off x="856170" y="2051949"/>
            <a:ext cx="7979748" cy="58557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marL="0" indent="0" algn="l">
              <a:lnSpc>
                <a:spcPct val="128000"/>
              </a:lnSpc>
              <a:buNone/>
              <a:defRPr/>
            </a:pPr>
            <a:r>
              <a:rPr lang="en-US" sz="15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[2] </a:t>
            </a:r>
            <a:r>
              <a:rPr sz="15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J. Carberry and H. Xu, "A Hierarchical Fine-Grained Deep Learning Model for Automated Medical Coding," in Proc. IEEE ICHI, 2024</a:t>
            </a:r>
            <a:r>
              <a:rPr sz="12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.</a:t>
            </a:r>
            <a:endParaRPr lang="en-US" sz="1500"/>
          </a:p>
        </p:txBody>
      </p:sp>
      <p:sp>
        <p:nvSpPr>
          <p:cNvPr id="185743923" name="Text 3"/>
          <p:cNvSpPr/>
          <p:nvPr/>
        </p:nvSpPr>
        <p:spPr bwMode="auto">
          <a:xfrm flipH="0" flipV="0">
            <a:off x="857969" y="2637525"/>
            <a:ext cx="7980828" cy="58557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marL="0" indent="0" algn="l">
              <a:lnSpc>
                <a:spcPct val="128000"/>
              </a:lnSpc>
              <a:buNone/>
              <a:defRPr/>
            </a:pPr>
            <a:r>
              <a:rPr lang="en-US" sz="15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[3] </a:t>
            </a:r>
            <a:r>
              <a:rPr sz="15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S. Bhat et al., "Automated Medical Coding Using a Hybrid Decision Tree with Deep Learning Nodes," in Proc. IEEE BigDataService, 2025.</a:t>
            </a:r>
            <a:endParaRPr lang="en-US" sz="1500"/>
          </a:p>
        </p:txBody>
      </p:sp>
      <p:sp>
        <p:nvSpPr>
          <p:cNvPr id="1716075688" name="Text 4"/>
          <p:cNvSpPr/>
          <p:nvPr/>
        </p:nvSpPr>
        <p:spPr bwMode="auto">
          <a:xfrm flipH="0" flipV="0">
            <a:off x="857250" y="3223101"/>
            <a:ext cx="7981548" cy="58557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marL="0" indent="0" algn="l">
              <a:lnSpc>
                <a:spcPct val="128000"/>
              </a:lnSpc>
              <a:buNone/>
              <a:defRPr/>
            </a:pPr>
            <a:r>
              <a:rPr lang="en-US" sz="15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[4] </a:t>
            </a:r>
            <a:r>
              <a:rPr sz="15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H. Dhayne et al., "In Search of Big Medical Data Integration Solutions — A Comprehensive Survey," IEEE Access, vol. 7, pp. 91265–91290, 2019.</a:t>
            </a:r>
            <a:endParaRPr sz="1500"/>
          </a:p>
        </p:txBody>
      </p:sp>
      <p:sp>
        <p:nvSpPr>
          <p:cNvPr id="624500786" name="Text 5"/>
          <p:cNvSpPr/>
          <p:nvPr/>
        </p:nvSpPr>
        <p:spPr bwMode="auto">
          <a:xfrm flipH="0" flipV="0">
            <a:off x="857969" y="3808677"/>
            <a:ext cx="7980468" cy="58557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marL="0" indent="0" algn="l">
              <a:lnSpc>
                <a:spcPct val="128000"/>
              </a:lnSpc>
              <a:buNone/>
              <a:defRPr/>
            </a:pPr>
            <a:r>
              <a:rPr lang="en-US" sz="15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[5] </a:t>
            </a:r>
            <a:r>
              <a:rPr sz="15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N. Chemini et al., "Standardized Semantic Mapping and Legacy Data Integration in Blockchain-Based EHR Systems: A Survey," IEEE J. Biomed. Health Inform., 2025.</a:t>
            </a:r>
            <a:r>
              <a:rPr sz="12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</a:t>
            </a:r>
            <a:endParaRPr lang="en-US" sz="1500"/>
          </a:p>
        </p:txBody>
      </p:sp>
      <p:sp>
        <p:nvSpPr>
          <p:cNvPr id="2017883300" name="Text 6"/>
          <p:cNvSpPr/>
          <p:nvPr/>
        </p:nvSpPr>
        <p:spPr bwMode="auto">
          <a:xfrm>
            <a:off x="7836651" y="4198794"/>
            <a:ext cx="761974" cy="281432"/>
          </a:xfrm>
          <a:prstGeom prst="rect">
            <a:avLst/>
          </a:prstGeom>
          <a:noFill/>
        </p:spPr>
        <p:txBody>
          <a:bodyPr wrap="none" lIns="102108" tIns="34036" rIns="102108" bIns="34036" rtlCol="0" anchor="t">
            <a:spAutoFit/>
          </a:bodyPr>
          <a:p>
            <a:pPr marL="0" indent="0" algn="l">
              <a:lnSpc>
                <a:spcPct val="120000"/>
              </a:lnSpc>
              <a:buNone/>
              <a:defRPr/>
            </a:pPr>
            <a:r>
              <a:rPr lang="en-US" sz="1250">
                <a:solidFill>
                  <a:srgbClr val="000000"/>
                </a:solidFill>
                <a:latin typeface="Arial"/>
                <a:ea typeface="Arial"/>
                <a:cs typeface="Arial"/>
              </a:rPr>
              <a:t>Page 28</a:t>
            </a:r>
            <a:endParaRPr lang="en-US" sz="1250"/>
          </a:p>
        </p:txBody>
      </p:sp>
      <p:pic>
        <p:nvPicPr>
          <p:cNvPr id="287545209" name="Image 2" descr="preencoded.png"/>
          <p:cNvPicPr>
            <a:picLocks noChangeAspect="1"/>
          </p:cNvPicPr>
          <p:nvPr/>
        </p:nvPicPr>
        <p:blipFill rotWithShape="1">
          <a:blip r:embed="rId5"/>
          <a:stretch/>
        </p:blipFill>
        <p:spPr bwMode="auto">
          <a:xfrm flipH="0" flipV="0">
            <a:off x="21430" y="4394253"/>
            <a:ext cx="9101137" cy="727863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5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76190389" name="Image 0" descr="preencoded.png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1505244831" name="Image 1" descr="preencoded.png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>
            <a:off x="160734" y="0"/>
            <a:ext cx="8822531" cy="978694"/>
          </a:xfrm>
          <a:prstGeom prst="rect">
            <a:avLst/>
          </a:prstGeom>
        </p:spPr>
      </p:pic>
      <p:sp>
        <p:nvSpPr>
          <p:cNvPr id="1042475388" name="Text 0"/>
          <p:cNvSpPr/>
          <p:nvPr/>
        </p:nvSpPr>
        <p:spPr bwMode="auto">
          <a:xfrm>
            <a:off x="628649" y="1020603"/>
            <a:ext cx="1523664" cy="494135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p>
            <a:pPr marL="0" indent="0" algn="l">
              <a:lnSpc>
                <a:spcPct val="120000"/>
              </a:lnSpc>
              <a:buNone/>
              <a:defRPr/>
            </a:pPr>
            <a:r>
              <a:rPr lang="en-US" sz="27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References</a:t>
            </a:r>
            <a:endParaRPr sz="2700" b="0"/>
          </a:p>
        </p:txBody>
      </p:sp>
      <p:sp>
        <p:nvSpPr>
          <p:cNvPr id="523017644" name="Text 1"/>
          <p:cNvSpPr/>
          <p:nvPr/>
        </p:nvSpPr>
        <p:spPr bwMode="auto">
          <a:xfrm flipH="0" flipV="0">
            <a:off x="856170" y="1508283"/>
            <a:ext cx="8002079" cy="54900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marL="0" indent="0" algn="l">
              <a:lnSpc>
                <a:spcPct val="120000"/>
              </a:lnSpc>
              <a:buNone/>
              <a:defRPr/>
            </a:pPr>
            <a:r>
              <a:rPr lang="en-US" sz="15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[6] </a:t>
            </a:r>
            <a:r>
              <a:rPr sz="15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E. N. Volkov and A. N. Averkin, "Explainable Artificial Intelligence in Clinical Decision Support Systems," in Proc. IEEE NeuroNT, 2023.</a:t>
            </a:r>
            <a:endParaRPr sz="1500"/>
          </a:p>
        </p:txBody>
      </p:sp>
      <p:sp>
        <p:nvSpPr>
          <p:cNvPr id="1378593443" name="Text 2"/>
          <p:cNvSpPr/>
          <p:nvPr/>
        </p:nvSpPr>
        <p:spPr bwMode="auto">
          <a:xfrm flipH="0" flipV="0">
            <a:off x="856170" y="2096594"/>
            <a:ext cx="7814518" cy="54900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marL="0" indent="0" algn="l">
              <a:lnSpc>
                <a:spcPct val="120000"/>
              </a:lnSpc>
              <a:buNone/>
              <a:defRPr/>
            </a:pPr>
            <a:r>
              <a:rPr lang="en-US" sz="15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[7] </a:t>
            </a:r>
            <a:r>
              <a:rPr sz="15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S. Ghanvatkar and V. Rajan, "Evaluating Explanations From AI Algorithms for Clinical Decision-Making," IEEE J. Biomed. Health Inform., vol. 28, no. 3, 2024</a:t>
            </a:r>
            <a:r>
              <a:rPr sz="12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. </a:t>
            </a:r>
            <a:endParaRPr lang="en-US" sz="1250"/>
          </a:p>
        </p:txBody>
      </p:sp>
      <p:sp>
        <p:nvSpPr>
          <p:cNvPr id="1390207841" name="Text 3"/>
          <p:cNvSpPr/>
          <p:nvPr/>
        </p:nvSpPr>
        <p:spPr bwMode="auto">
          <a:xfrm flipH="0" flipV="0">
            <a:off x="856170" y="2645594"/>
            <a:ext cx="6853379" cy="54900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marL="0" indent="0" algn="l">
              <a:lnSpc>
                <a:spcPct val="120000"/>
              </a:lnSpc>
              <a:buNone/>
              <a:defRPr/>
            </a:pPr>
            <a:r>
              <a:rPr lang="en-US" sz="15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[8]</a:t>
            </a:r>
            <a:r>
              <a:rPr sz="15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Y.-K. Liu et al., "Explainable AI for Trustworthy Clinical Decision Support," in Proc. IEEE Big Data, 2024. </a:t>
            </a:r>
            <a:endParaRPr sz="1500"/>
          </a:p>
        </p:txBody>
      </p:sp>
      <p:sp>
        <p:nvSpPr>
          <p:cNvPr id="1238669888" name="Text 4"/>
          <p:cNvSpPr/>
          <p:nvPr/>
        </p:nvSpPr>
        <p:spPr bwMode="auto">
          <a:xfrm flipH="0" flipV="0">
            <a:off x="905846" y="3194594"/>
            <a:ext cx="7765921" cy="54900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marL="0" indent="0" algn="l">
              <a:lnSpc>
                <a:spcPct val="120000"/>
              </a:lnSpc>
              <a:buNone/>
              <a:defRPr/>
            </a:pPr>
            <a:r>
              <a:rPr lang="en-US" sz="15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[9] </a:t>
            </a:r>
            <a:r>
              <a:rPr sz="15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J. Cleland-Huang et al., "A Machine Learning Approach for Tracing Regulatory Codes to Product-Specific Requirements," in Proc. IEEE ICSE, 2010.</a:t>
            </a:r>
            <a:endParaRPr lang="en-US" sz="1250"/>
          </a:p>
        </p:txBody>
      </p:sp>
      <p:pic>
        <p:nvPicPr>
          <p:cNvPr id="50218873" name="Image 2" descr="preencoded.png"/>
          <p:cNvPicPr>
            <a:picLocks noChangeAspect="1"/>
          </p:cNvPicPr>
          <p:nvPr/>
        </p:nvPicPr>
        <p:blipFill rotWithShape="1">
          <a:blip r:embed="rId5"/>
          <a:stretch/>
        </p:blipFill>
        <p:spPr bwMode="auto">
          <a:xfrm flipH="0" flipV="0">
            <a:off x="0" y="3809999"/>
            <a:ext cx="9101137" cy="1173479"/>
          </a:xfrm>
          <a:prstGeom prst="rect">
            <a:avLst/>
          </a:prstGeom>
        </p:spPr>
      </p:pic>
      <p:sp>
        <p:nvSpPr>
          <p:cNvPr id="166326401" name="Text 6"/>
          <p:cNvSpPr/>
          <p:nvPr/>
        </p:nvSpPr>
        <p:spPr bwMode="auto">
          <a:xfrm>
            <a:off x="8858250" y="4914900"/>
            <a:ext cx="114300" cy="13716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p>
            <a:pPr marL="0" indent="0" algn="l">
              <a:lnSpc>
                <a:spcPct val="120000"/>
              </a:lnSpc>
              <a:buNone/>
              <a:defRPr/>
            </a:pPr>
            <a:r>
              <a:rPr lang="en-US" sz="850">
                <a:solidFill>
                  <a:srgbClr val="898989"/>
                </a:solidFill>
                <a:latin typeface="Calibri"/>
                <a:ea typeface="Calibri"/>
                <a:cs typeface="Calibri"/>
              </a:rPr>
              <a:t>29</a:t>
            </a:r>
            <a:endParaRPr lang="en-US" sz="85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_rels/theme2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ONLYOFFICE/9.3.0.140</Application>
  <PresentationFormat>On-screen Show (4:3)</PresentationFormat>
  <Paragraphs>0</Paragraphs>
  <Slides>29</Slides>
  <Notes>29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0" baseType="lpstr">
      <vt:lpstr>Theme 1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</vt:vector>
  </TitlesOfParts>
  <Company>PptxGenJS</Company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creator>PptxGenJS</dc:creator>
  <cp:lastModifiedBy/>
  <cp:revision>1</cp:revision>
  <dcterms:created xsi:type="dcterms:W3CDTF">2026-05-14T23:02:57Z</dcterms:created>
  <dcterms:modified xsi:type="dcterms:W3CDTF">2026-05-15T15:05:48Z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f57c93836f62433d930202a0b2cb514b</vt:lpwstr>
  </property>
</Properties>
</file>